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A11AAC2-A7CE-4588-8191-665CEFB64C56}">
  <a:tblStyle styleId="{BA11AAC2-A7CE-4588-8191-665CEFB64C56}"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 name="Shape 16"/>
        <p:cNvGrpSpPr/>
        <p:nvPr/>
      </p:nvGrpSpPr>
      <p:grpSpPr>
        <a:xfrm>
          <a:off x="0" y="0"/>
          <a:ext cx="0" cy="0"/>
          <a:chOff x="0" y="0"/>
          <a:chExt cx="0" cy="0"/>
        </a:xfrm>
      </p:grpSpPr>
      <p:sp>
        <p:nvSpPr>
          <p:cNvPr id="17" name="Google Shape;1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 name="Google Shape;18;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Welcome back. Last meeting we reviewed Boolean algebra and gates. Today we put those gates to work: first circuits with no memory (combinational), then circuits that remember (sequential). Aim for about 25 minutes, roughly one minute per slide.</a:t>
            </a:r>
            <a:endParaRPr/>
          </a:p>
        </p:txBody>
      </p:sp>
      <p:sp>
        <p:nvSpPr>
          <p:cNvPr id="19" name="Google Shape;19;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 name="Shape 28"/>
        <p:cNvGrpSpPr/>
        <p:nvPr/>
      </p:nvGrpSpPr>
      <p:grpSpPr>
        <a:xfrm>
          <a:off x="0" y="0"/>
          <a:ext cx="0" cy="0"/>
          <a:chOff x="0" y="0"/>
          <a:chExt cx="0" cy="0"/>
        </a:xfrm>
      </p:grpSpPr>
      <p:sp>
        <p:nvSpPr>
          <p:cNvPr id="29" name="Google Shape;2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 name="Google Shape;30;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an introduction, not a deep dive. Each block gets about a minute: what it does, what it looks like in SystemVerilog, and where you will use it. Later workshops go hands-on in Vivado.</a:t>
            </a:r>
            <a:endParaRPr/>
          </a:p>
        </p:txBody>
      </p:sp>
      <p:sp>
        <p:nvSpPr>
          <p:cNvPr id="31" name="Google Shape;31;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 name="Google Shape;4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one question to ask about any circuit: does it remember anything? If the output is purely a function of what is on the inputs right now, it is combinational. If it depends on what happened before, it is sequential. Note the sequential diagram still contains combinational logic: real designs are combinational logic feeding flip-flops, with the state fed back around.</a:t>
            </a:r>
            <a:endParaRPr/>
          </a:p>
        </p:txBody>
      </p:sp>
      <p:sp>
        <p:nvSpPr>
          <p:cNvPr id="46" name="Google Shape;46;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 name="Google Shape;7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Part 1: the blocks you build from gates alone, and the two classic mistakes that sneak memory into code that was supposed to be combinational.</a:t>
            </a:r>
            <a:endParaRPr/>
          </a:p>
        </p:txBody>
      </p:sp>
      <p:sp>
        <p:nvSpPr>
          <p:cNvPr id="77" name="Google Shape;7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 name="Google Shape;90;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exactly last week's Boolean algebra, written in an HDL. always_comb means "re-evaluate whenever any input changes," which is what makes it behave like gates, and it also tells the tools you intend pure combinational logic so they can warn you if you accidentally create memory. Both versions synthesize to the same LUT in Vivado.</a:t>
            </a:r>
            <a:endParaRPr/>
          </a:p>
        </p:txBody>
      </p:sp>
      <p:sp>
        <p:nvSpPr>
          <p:cNvPr id="91" name="Google Shape;91;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 name="Google Shape;10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mux is the most common block in all of digital design. Every if/else and case statement you write turns into muxes. On a Basys 3, picking which switch drives an LED is a mux. Point out the default branch: we will come back to why it matters.</a:t>
            </a:r>
            <a:endParaRPr/>
          </a:p>
        </p:txBody>
      </p:sp>
      <p:sp>
        <p:nvSpPr>
          <p:cNvPr id="102" name="Google Shape;10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 name="Google Shape;115;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 decoder is the opposite of a mux's select logic: given a number, light up exactly one wire. The Basys 3 four-digit display uses this idea, since only one digit's anode is enabled at a time. Note the default assignment at the top of the always block; that habit will save you from latches later.</a:t>
            </a:r>
            <a:endParaRPr/>
          </a:p>
        </p:txBody>
      </p:sp>
      <p:sp>
        <p:nvSpPr>
          <p:cNvPr id="116" name="Google Shape;116;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 name="Google Shape;129;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Connect this to last week: the half adder is just XOR and AND. In practice you write a + b and let Vivado build it; on AMD FPGAs it uses dedicated carry-chain hardware (CARRY4/CARRY8) that is much faster than a hand-built ripple adder. Knowing the gate version still matters for understanding overflow and carry.</a:t>
            </a:r>
            <a:endParaRPr/>
          </a:p>
        </p:txBody>
      </p:sp>
      <p:sp>
        <p:nvSpPr>
          <p:cNvPr id="130" name="Google Shape;130;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 name="Google Shape;146;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Comparators show up everywhere: "has the counter reached 50 million yet?", "is this score higher than the high score?". The hand-built equality line is a nice Boolean-algebra callback: a bit pair is equal when XOR is 0, so invert and AND-reduce. The signed warning is a very common bug when students start doing arithmetic.</a:t>
            </a:r>
            <a:endParaRPr/>
          </a:p>
        </p:txBody>
      </p:sp>
      <p:sp>
        <p:nvSpPr>
          <p:cNvPr id="147" name="Google Shape;147;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 name="Google Shape;162;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 plain encoder assumes exactly one input is high; a priority encoder handles several at once by ranking them. The if/else chain naturally encodes priority because the first true condition wins. Note the final else: every path assigns idx, which keeps this purely combinational.</a:t>
            </a:r>
            <a:endParaRPr/>
          </a:p>
        </p:txBody>
      </p:sp>
      <p:sp>
        <p:nvSpPr>
          <p:cNvPr id="163" name="Google Shape;163;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 name="Google Shape;176;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An ALU is a great "aha" slide: it is nothing new, just adders, gates and a comparator computed in parallel, with a big mux choosing one answer based on the opcode. Every result is computed all the time; the mux just selects. The zero flag is what a CPU uses for branch-if-equal. This is a good future club project.</a:t>
            </a:r>
            <a:endParaRPr/>
          </a:p>
        </p:txBody>
      </p:sp>
      <p:sp>
        <p:nvSpPr>
          <p:cNvPr id="177" name="Google Shape;177;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5" name="Google Shape;195;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assign x = ~x looks like a toggle, but with no clock it is an inverter wired to itself: a ring oscillator whose speed depends on temperature and routing. Loops are usually accidental, spread across two assigns in different parts of the file. The good version is a real toggle flip-flop, a preview of Part 2.</a:t>
            </a:r>
            <a:endParaRPr/>
          </a:p>
        </p:txBody>
      </p:sp>
      <p:sp>
        <p:nvSpPr>
          <p:cNvPr id="196" name="Google Shape;196;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1" name="Google Shape;211;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Ask the room: in the left version, what is y when en is 0? The code never says, so the only way hardware can satisfy it is to keep the old value. Keeping an old value means memory, and memory in combinational code is a latch. Because the block says always_comb, the tools know you did not want that and will flag it. The right version is a clean 2:1 mux.</a:t>
            </a:r>
            <a:endParaRPr/>
          </a:p>
        </p:txBody>
      </p:sp>
      <p:sp>
        <p:nvSpPr>
          <p:cNvPr id="212" name="Google Shape;212;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9" name="Google Shape;229;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Latches are level-sensitive memory. They are hard to time on an FPGA and usually a sign of a bug. The default-first pattern is the easiest habit: assign every output at the top, then let later lines override. Note that in sel = 00 the code only sets y, yet z is still defined thanks to the default. Tie back to the Vivado intro: check the synthesis warnings tab after every run.</a:t>
            </a:r>
            <a:endParaRPr/>
          </a:p>
        </p:txBody>
      </p:sp>
      <p:sp>
        <p:nvSpPr>
          <p:cNvPr id="230" name="Google Shape;230;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1" name="Google Shape;251;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Part 2: adding memory. Everything interesting a digital system does over time (counting, blinking, playing a game, running a CPU) needs state.</a:t>
            </a:r>
            <a:endParaRPr/>
          </a:p>
        </p:txBody>
      </p:sp>
      <p:sp>
        <p:nvSpPr>
          <p:cNvPr id="252" name="Google Shape;252;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5" name="Google Shape;265;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 button press on a vending machine does different things depending on how much money is already in it: that stored amount is the state. Every sequential design is the same recipe: combinational logic computes the next state from the current state and inputs, and flip-flops store it on each clock edge. This recipe is what finite state machines formalize, which is a great next-meeting topic.</a:t>
            </a:r>
            <a:endParaRPr/>
          </a:p>
        </p:txBody>
      </p:sp>
      <p:sp>
        <p:nvSpPr>
          <p:cNvPr id="266" name="Google Shape;266;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0" name="Google Shape;290;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flip-flop is the one new primitive in Part 2; everything else is flip-flops plus the combinational blocks from Part 1. Contrast with the latch from the previous section: a latch passes D through the whole time enable is high, a flip-flop only takes a snapshot at the edge. Rule of thumb for code: = in always_comb, &lt;= in always_ff. always_ff also tells the tools you intend flip-flops, so they complain if the block would not build one.</a:t>
            </a:r>
            <a:endParaRPr/>
          </a:p>
        </p:txBody>
      </p:sp>
      <p:sp>
        <p:nvSpPr>
          <p:cNvPr id="291" name="Google Shape;291;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4" name="Google Shape;304;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the diagram left to right. At the first edge d is 0, so q stays 0. By the second edge d is 1, so q becomes 1. d glitches low briefly, but no edge happens during the glitch, so q ignores it. At the fourth edge d is 0 again and q follows. This is why synchronous design works: combinational logic can be messy while it settles, as long as it is stable by the next edge. That settling time is what Vivado's timing report checks.</a:t>
            </a:r>
            <a:endParaRPr/>
          </a:p>
        </p:txBody>
      </p:sp>
      <p:sp>
        <p:nvSpPr>
          <p:cNvPr id="305" name="Google Shape;305;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0" name="Google Shape;320;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rule: blocking = in always_comb blocks, nonblocking &lt;= in always_ff blocks, and never mix them in one block. With blocking assignments the second line sees the already-updated a, so both end up 2. Real flip-flops all sample at the same instant, which is what nonblocking models.</a:t>
            </a:r>
            <a:endParaRPr/>
          </a:p>
        </p:txBody>
      </p:sp>
      <p:sp>
        <p:nvSpPr>
          <p:cNvPr id="321" name="Google Shape;321;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8" name="Google Shape;338;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 register is not a new idea, just a bundle of flip-flops. In the HDL it is literally the flip-flop code with a bus width. If you open the synthesized design in Vivado you will see one FDRE or FDCE cell per bit; the letters hint at the reset style, which is coming up in two slides.</a:t>
            </a:r>
            <a:endParaRPr/>
          </a:p>
        </p:txBody>
      </p:sp>
      <p:sp>
        <p:nvSpPr>
          <p:cNvPr id="339" name="Google Shape;339;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9" name="Google Shape;359;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Contrast with the latch slide: a missing else in combinational code creates a latch, but a missing else in a clocked block just means "hold," which is exactly what flip-flops do. Common beginner move: dividing the 100 MHz Basys 3 clock (125 MHz on the Zybo) to blink an LED by making a new slow clock. Instead keep everything on the board clock and generate a one-cycle enable "tick" once per second. This ties back to the "using the wrong clock" mistake from the Vivado intro.</a:t>
            </a:r>
            <a:endParaRPr/>
          </a:p>
        </p:txBody>
      </p:sp>
      <p:sp>
        <p:nvSpPr>
          <p:cNvPr id="360" name="Google Shape;360;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5" name="Google Shape;375;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Without a reset, flip-flops start at whatever value the bitstream configured (often 0), which can make simulation and hardware disagree. Synchronous reset is the simplest: it is just a mux in front of the D input that picks 0 when rst is high. On a Basys 3 you would typically wire rst to the center button.</a:t>
            </a:r>
            <a:endParaRPr/>
          </a:p>
        </p:txBody>
      </p:sp>
      <p:sp>
        <p:nvSpPr>
          <p:cNvPr id="376" name="Google Shape;376;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7" name="Google Shape;387;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only code difference is "or posedge rst" in the sensitivity list. Async reset is useful when the clock might not be running, for example during power-up. The catch is reset release: if rst drops right next to a clock edge, flip-flops can go metastable. Common pattern is "assert asynchronously, release synchronously." For club projects, synchronous reset is the safe default.</a:t>
            </a:r>
            <a:endParaRPr/>
          </a:p>
        </p:txBody>
      </p:sp>
      <p:sp>
        <p:nvSpPr>
          <p:cNvPr id="388" name="Google Shape;388;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1" name="Google Shape;401;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counter is where Part 1 and Part 2 meet: an adder (combinational) feeding a register (sequential), with feedback that is legal because it goes through flip-flops. Compare with the combinational loop slide. Note it also uses the reset and the enable we just covered. A 4-bit counter wraps from 15 back to 0 automatically because the extra carry bit is dropped.</a:t>
            </a:r>
            <a:endParaRPr/>
          </a:p>
        </p:txBody>
      </p:sp>
      <p:sp>
        <p:nvSpPr>
          <p:cNvPr id="402" name="Google Shape;402;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2" name="Google Shape;422;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Read the table top to bottom: after four edges the serial input stream 1, 0, 1, 1 is sitting in the register in parallel. That is exactly how a UART or SPI receiver works. The concatenation operator {} does the shifting in one line, and because it is a nonblocking assignment, every bit moves simultaneously.</a:t>
            </a:r>
            <a:endParaRPr/>
          </a:p>
        </p:txBody>
      </p:sp>
      <p:sp>
        <p:nvSpPr>
          <p:cNvPr id="423" name="Google Shape;423;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6" name="Google Shape;436;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If people remember one slide, this is it. Next steps: finite state machines combine everything here, and a good hands-on follow-up is a 1 Hz counter on the Basys 3 or Zybo LEDs using an enable tick.</a:t>
            </a:r>
            <a:endParaRPr/>
          </a:p>
        </p:txBody>
      </p:sp>
      <p:sp>
        <p:nvSpPr>
          <p:cNvPr id="437" name="Google Shape;437;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8" name="Google Shape;448;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Open the floor. Good prompts if it is quiet: "Is a counter combinational or sequential, and why?" and "What happens if you forget the else in an always_comb block?"</a:t>
            </a:r>
            <a:endParaRPr/>
          </a:p>
        </p:txBody>
      </p:sp>
      <p:sp>
        <p:nvSpPr>
          <p:cNvPr id="449" name="Google Shape;449;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bg>
      <p:bgPr>
        <a:solidFill>
          <a:srgbClr val="FDF0DC"/>
        </a:solidFill>
      </p:bgPr>
    </p:bg>
    <p:spTree>
      <p:nvGrpSpPr>
        <p:cNvPr id="12" name="Shape 12"/>
        <p:cNvGrpSpPr/>
        <p:nvPr/>
      </p:nvGrpSpPr>
      <p:grpSpPr>
        <a:xfrm>
          <a:off x="0" y="0"/>
          <a:ext cx="0" cy="0"/>
          <a:chOff x="0" y="0"/>
          <a:chExt cx="0" cy="0"/>
        </a:xfrm>
      </p:grpSpPr>
      <p:sp>
        <p:nvSpPr>
          <p:cNvPr id="13" name="Google Shape;13;p2"/>
          <p:cNvSpPr txBox="1"/>
          <p:nvPr>
            <p:ph type="title"/>
          </p:nvPr>
        </p:nvSpPr>
        <p:spPr>
          <a:xfrm>
            <a:off x="736600" y="762000"/>
            <a:ext cx="10642600" cy="5588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3C4043"/>
              </a:buClr>
              <a:buSzPts val="4000"/>
              <a:buFont typeface="Arial"/>
              <a:buNone/>
              <a:defRPr sz="4000">
                <a:solidFill>
                  <a:srgbClr val="3C4043"/>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2"/>
          <p:cNvSpPr txBox="1"/>
          <p:nvPr>
            <p:ph idx="1" type="body"/>
          </p:nvPr>
        </p:nvSpPr>
        <p:spPr>
          <a:xfrm>
            <a:off x="736600" y="1625600"/>
            <a:ext cx="10642600" cy="4419600"/>
          </a:xfrm>
          <a:prstGeom prst="rect">
            <a:avLst/>
          </a:prstGeom>
          <a:noFill/>
          <a:ln>
            <a:noFill/>
          </a:ln>
        </p:spPr>
        <p:txBody>
          <a:bodyPr anchorCtr="0" anchor="t" bIns="0" lIns="0" spcFirstLastPara="1" rIns="0" wrap="square" tIns="0">
            <a:noAutofit/>
          </a:bodyPr>
          <a:lstStyle>
            <a:lvl1pPr indent="-228600" lvl="0" marL="457200" algn="l">
              <a:lnSpc>
                <a:spcPct val="140000"/>
              </a:lnSpc>
              <a:spcBef>
                <a:spcPts val="320"/>
              </a:spcBef>
              <a:spcAft>
                <a:spcPts val="0"/>
              </a:spcAft>
              <a:buClr>
                <a:srgbClr val="3C4043"/>
              </a:buClr>
              <a:buSzPts val="1600"/>
              <a:buNone/>
              <a:defRPr sz="1600">
                <a:solidFill>
                  <a:srgbClr val="3C4043"/>
                </a:solidFill>
                <a:latin typeface="Arial"/>
                <a:ea typeface="Arial"/>
                <a:cs typeface="Arial"/>
                <a:sym typeface="Arial"/>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5" name="Shape 1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0DC"/>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736600" y="762000"/>
            <a:ext cx="10642600" cy="558800"/>
          </a:xfrm>
          <a:prstGeom prst="rect">
            <a:avLst/>
          </a:prstGeom>
          <a:noFill/>
          <a:ln>
            <a:noFill/>
          </a:ln>
        </p:spPr>
        <p:txBody>
          <a:bodyPr anchorCtr="0" anchor="t" bIns="0" lIns="0" spcFirstLastPara="1" rIns="0" wrap="square" tIns="0">
            <a:noAutofit/>
          </a:bodyPr>
          <a:lstStyle>
            <a:lvl1pPr lvl="0" marR="0" rtl="0" algn="l">
              <a:lnSpc>
                <a:spcPct val="115000"/>
              </a:lnSpc>
              <a:spcBef>
                <a:spcPts val="0"/>
              </a:spcBef>
              <a:spcAft>
                <a:spcPts val="0"/>
              </a:spcAft>
              <a:buClr>
                <a:srgbClr val="3C4043"/>
              </a:buClr>
              <a:buSzPts val="4000"/>
              <a:buFont typeface="Arial"/>
              <a:buNone/>
              <a:defRPr b="0" i="0" sz="4000" u="none" cap="none" strike="noStrike">
                <a:solidFill>
                  <a:srgbClr val="3C4043"/>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736600" y="1625600"/>
            <a:ext cx="10642600" cy="4419600"/>
          </a:xfrm>
          <a:prstGeom prst="rect">
            <a:avLst/>
          </a:prstGeom>
          <a:noFill/>
          <a:ln>
            <a:noFill/>
          </a:ln>
        </p:spPr>
        <p:txBody>
          <a:bodyPr anchorCtr="0" anchor="t" bIns="0" lIns="0" spcFirstLastPara="1" rIns="0" wrap="square" tIns="0">
            <a:noAutofit/>
          </a:bodyPr>
          <a:lstStyle>
            <a:lvl1pPr indent="-228600" lvl="0" marL="457200" marR="0" rtl="0" algn="l">
              <a:lnSpc>
                <a:spcPct val="140000"/>
              </a:lnSpc>
              <a:spcBef>
                <a:spcPts val="320"/>
              </a:spcBef>
              <a:spcAft>
                <a:spcPts val="0"/>
              </a:spcAft>
              <a:buClr>
                <a:srgbClr val="3C4043"/>
              </a:buClr>
              <a:buSzPts val="1600"/>
              <a:buFont typeface="Arial"/>
              <a:buNone/>
              <a:defRPr b="0" i="0" sz="1600" u="none" cap="none" strike="noStrike">
                <a:solidFill>
                  <a:srgbClr val="3C4043"/>
                </a:solidFill>
                <a:latin typeface="Arial"/>
                <a:ea typeface="Arial"/>
                <a:cs typeface="Arial"/>
                <a:sym typeface="Arial"/>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8.png"/><Relationship Id="rId4" Type="http://schemas.openxmlformats.org/officeDocument/2006/relationships/image" Target="../media/image3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5.png"/><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8.png"/><Relationship Id="rId4" Type="http://schemas.openxmlformats.org/officeDocument/2006/relationships/image" Target="../media/image4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8.png"/><Relationship Id="rId4" Type="http://schemas.openxmlformats.org/officeDocument/2006/relationships/image" Target="../media/image3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5.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0DC"/>
        </a:solidFill>
      </p:bgPr>
    </p:bg>
    <p:spTree>
      <p:nvGrpSpPr>
        <p:cNvPr id="20" name="Shape 20"/>
        <p:cNvGrpSpPr/>
        <p:nvPr/>
      </p:nvGrpSpPr>
      <p:grpSpPr>
        <a:xfrm>
          <a:off x="0" y="0"/>
          <a:ext cx="0" cy="0"/>
          <a:chOff x="0" y="0"/>
          <a:chExt cx="0" cy="0"/>
        </a:xfrm>
      </p:grpSpPr>
      <p:sp>
        <p:nvSpPr>
          <p:cNvPr id="21" name="Google Shape;21;p4"/>
          <p:cNvSpPr/>
          <p:nvPr/>
        </p:nvSpPr>
        <p:spPr>
          <a:xfrm>
            <a:off x="368300" y="368300"/>
            <a:ext cx="11455400" cy="6134100"/>
          </a:xfrm>
          <a:prstGeom prst="roundRect">
            <a:avLst>
              <a:gd fmla="val 9110" name="adj"/>
            </a:avLst>
          </a:prstGeom>
          <a:solidFill>
            <a:srgbClr val="FFF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RIEEE logo" id="22" name="Google Shape;22;p4"/>
          <p:cNvPicPr preferRelativeResize="0"/>
          <p:nvPr/>
        </p:nvPicPr>
        <p:blipFill rotWithShape="1">
          <a:blip r:embed="rId3">
            <a:alphaModFix/>
          </a:blip>
          <a:srcRect b="0" l="-531" r="-531" t="0"/>
          <a:stretch/>
        </p:blipFill>
        <p:spPr>
          <a:xfrm>
            <a:off x="76200" y="50800"/>
            <a:ext cx="1244600" cy="317500"/>
          </a:xfrm>
          <a:prstGeom prst="rect">
            <a:avLst/>
          </a:prstGeom>
          <a:noFill/>
          <a:ln>
            <a:noFill/>
          </a:ln>
        </p:spPr>
      </p:pic>
      <p:sp>
        <p:nvSpPr>
          <p:cNvPr id="23" name="Google Shape;23;p4"/>
          <p:cNvSpPr/>
          <p:nvPr/>
        </p:nvSpPr>
        <p:spPr>
          <a:xfrm>
            <a:off x="8496300" y="749300"/>
            <a:ext cx="2616200" cy="256514"/>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3C4043"/>
              </a:buClr>
              <a:buSzPts val="1300"/>
              <a:buFont typeface="Courier New"/>
              <a:buNone/>
            </a:pPr>
            <a:r>
              <a:rPr b="0" i="0" lang="en-US" sz="1300" u="none" cap="none" strike="noStrike">
                <a:solidFill>
                  <a:srgbClr val="3C4043"/>
                </a:solidFill>
                <a:latin typeface="Courier New"/>
                <a:ea typeface="Courier New"/>
                <a:cs typeface="Courier New"/>
                <a:sym typeface="Courier New"/>
              </a:rPr>
              <a:t>10/12/2026</a:t>
            </a:r>
            <a:endParaRPr b="0" i="0" sz="1300" u="none" cap="none" strike="noStrike">
              <a:solidFill>
                <a:schemeClr val="dk1"/>
              </a:solidFill>
              <a:latin typeface="Arial"/>
              <a:ea typeface="Arial"/>
              <a:cs typeface="Arial"/>
              <a:sym typeface="Arial"/>
            </a:endParaRPr>
          </a:p>
        </p:txBody>
      </p:sp>
      <p:pic>
        <p:nvPicPr>
          <p:cNvPr descr="line" id="24" name="Google Shape;24;p4"/>
          <p:cNvPicPr preferRelativeResize="0"/>
          <p:nvPr/>
        </p:nvPicPr>
        <p:blipFill rotWithShape="1">
          <a:blip r:embed="rId4">
            <a:alphaModFix/>
          </a:blip>
          <a:srcRect b="0" l="0" r="0" t="0"/>
          <a:stretch/>
        </p:blipFill>
        <p:spPr>
          <a:xfrm>
            <a:off x="1066800" y="1054100"/>
            <a:ext cx="10071100" cy="25400"/>
          </a:xfrm>
          <a:prstGeom prst="rect">
            <a:avLst/>
          </a:prstGeom>
          <a:noFill/>
          <a:ln>
            <a:noFill/>
          </a:ln>
        </p:spPr>
      </p:pic>
      <p:sp>
        <p:nvSpPr>
          <p:cNvPr id="25" name="Google Shape;25;p4"/>
          <p:cNvSpPr/>
          <p:nvPr/>
        </p:nvSpPr>
        <p:spPr>
          <a:xfrm>
            <a:off x="1066800" y="3556000"/>
            <a:ext cx="7848600" cy="345414"/>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B6F9E"/>
              </a:buClr>
              <a:buSzPts val="1800"/>
              <a:buFont typeface="Arial"/>
              <a:buNone/>
            </a:pPr>
            <a:r>
              <a:rPr b="0" i="0" lang="en-US" sz="1800" u="none" cap="none" strike="noStrike">
                <a:solidFill>
                  <a:srgbClr val="1B6F9E"/>
                </a:solidFill>
                <a:latin typeface="Arial"/>
                <a:ea typeface="Arial"/>
                <a:cs typeface="Arial"/>
                <a:sym typeface="Arial"/>
              </a:rPr>
              <a:t>Silicon Knights · Meeting 2</a:t>
            </a:r>
            <a:endParaRPr b="0" i="0" sz="1800" u="none" cap="none" strike="noStrike">
              <a:solidFill>
                <a:schemeClr val="dk1"/>
              </a:solidFill>
              <a:latin typeface="Arial"/>
              <a:ea typeface="Arial"/>
              <a:cs typeface="Arial"/>
              <a:sym typeface="Arial"/>
            </a:endParaRPr>
          </a:p>
        </p:txBody>
      </p:sp>
      <p:sp>
        <p:nvSpPr>
          <p:cNvPr id="26" name="Google Shape;26;p4"/>
          <p:cNvSpPr txBox="1"/>
          <p:nvPr>
            <p:ph type="title"/>
          </p:nvPr>
        </p:nvSpPr>
        <p:spPr>
          <a:xfrm>
            <a:off x="1028700" y="3937000"/>
            <a:ext cx="10464800" cy="1732227"/>
          </a:xfrm>
          <a:prstGeom prst="rect">
            <a:avLst/>
          </a:prstGeom>
          <a:noFill/>
          <a:ln>
            <a:noFill/>
          </a:ln>
        </p:spPr>
        <p:txBody>
          <a:bodyPr anchorCtr="0" anchor="t" bIns="0" lIns="0" spcFirstLastPara="1" rIns="0" wrap="square" tIns="0">
            <a:normAutofit/>
          </a:bodyPr>
          <a:lstStyle/>
          <a:p>
            <a:pPr indent="0" lvl="0" marL="0" rtl="0" algn="l">
              <a:lnSpc>
                <a:spcPct val="104999"/>
              </a:lnSpc>
              <a:spcBef>
                <a:spcPts val="0"/>
              </a:spcBef>
              <a:spcAft>
                <a:spcPts val="0"/>
              </a:spcAft>
              <a:buClr>
                <a:srgbClr val="3C4043"/>
              </a:buClr>
              <a:buSzPts val="6400"/>
              <a:buFont typeface="Arial"/>
              <a:buNone/>
            </a:pPr>
            <a:r>
              <a:rPr b="0" i="0" lang="en-US" sz="6400">
                <a:solidFill>
                  <a:srgbClr val="3C4043"/>
                </a:solidFill>
                <a:latin typeface="Arial"/>
                <a:ea typeface="Arial"/>
                <a:cs typeface="Arial"/>
                <a:sym typeface="Arial"/>
              </a:rPr>
              <a:t>Combinational vs.</a:t>
            </a:r>
            <a:endParaRPr sz="6400"/>
          </a:p>
          <a:p>
            <a:pPr indent="0" lvl="0" marL="0" rtl="0" algn="l">
              <a:lnSpc>
                <a:spcPct val="104999"/>
              </a:lnSpc>
              <a:spcBef>
                <a:spcPts val="0"/>
              </a:spcBef>
              <a:spcAft>
                <a:spcPts val="0"/>
              </a:spcAft>
              <a:buClr>
                <a:srgbClr val="3C4043"/>
              </a:buClr>
              <a:buSzPts val="6400"/>
              <a:buFont typeface="Arial"/>
              <a:buNone/>
            </a:pPr>
            <a:r>
              <a:rPr b="0" i="0" lang="en-US" sz="6400">
                <a:solidFill>
                  <a:srgbClr val="3C4043"/>
                </a:solidFill>
                <a:latin typeface="Arial"/>
                <a:ea typeface="Arial"/>
                <a:cs typeface="Arial"/>
                <a:sym typeface="Arial"/>
              </a:rPr>
              <a:t>Sequential Logic</a:t>
            </a:r>
            <a:endParaRPr sz="6400"/>
          </a:p>
        </p:txBody>
      </p:sp>
      <p:pic>
        <p:nvPicPr>
          <p:cNvPr descr="line" id="27" name="Google Shape;27;p4"/>
          <p:cNvPicPr preferRelativeResize="0"/>
          <p:nvPr/>
        </p:nvPicPr>
        <p:blipFill rotWithShape="1">
          <a:blip r:embed="rId4">
            <a:alphaModFix/>
          </a:blip>
          <a:srcRect b="0" l="0" r="0" t="0"/>
          <a:stretch/>
        </p:blipFill>
        <p:spPr>
          <a:xfrm>
            <a:off x="1066800" y="6019800"/>
            <a:ext cx="10071100" cy="254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0DC"/>
        </a:solidFill>
      </p:bgPr>
    </p:bg>
    <p:spTree>
      <p:nvGrpSpPr>
        <p:cNvPr id="32" name="Shape 32"/>
        <p:cNvGrpSpPr/>
        <p:nvPr/>
      </p:nvGrpSpPr>
      <p:grpSpPr>
        <a:xfrm>
          <a:off x="0" y="0"/>
          <a:ext cx="0" cy="0"/>
          <a:chOff x="0" y="0"/>
          <a:chExt cx="0" cy="0"/>
        </a:xfrm>
      </p:grpSpPr>
      <p:sp>
        <p:nvSpPr>
          <p:cNvPr id="33" name="Google Shape;33;p5"/>
          <p:cNvSpPr/>
          <p:nvPr/>
        </p:nvSpPr>
        <p:spPr>
          <a:xfrm>
            <a:off x="114300" y="114300"/>
            <a:ext cx="5886450" cy="381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C4043"/>
              </a:buClr>
              <a:buSzPts val="2000"/>
              <a:buFont typeface="Arial"/>
              <a:buNone/>
            </a:pPr>
            <a:r>
              <a:rPr b="0" i="0" lang="en-US" sz="2000" u="none" cap="none" strike="noStrike">
                <a:solidFill>
                  <a:srgbClr val="3C4043"/>
                </a:solidFill>
                <a:latin typeface="Arial"/>
                <a:ea typeface="Arial"/>
                <a:cs typeface="Arial"/>
                <a:sym typeface="Arial"/>
              </a:rPr>
              <a:t>Overview</a:t>
            </a:r>
            <a:endParaRPr b="0" i="0" sz="2000" u="none" cap="none" strike="noStrike">
              <a:solidFill>
                <a:schemeClr val="dk1"/>
              </a:solidFill>
              <a:latin typeface="Arial"/>
              <a:ea typeface="Arial"/>
              <a:cs typeface="Arial"/>
              <a:sym typeface="Arial"/>
            </a:endParaRPr>
          </a:p>
        </p:txBody>
      </p:sp>
      <p:sp>
        <p:nvSpPr>
          <p:cNvPr id="34" name="Google Shape;34;p5"/>
          <p:cNvSpPr txBox="1"/>
          <p:nvPr>
            <p:ph type="title"/>
          </p:nvPr>
        </p:nvSpPr>
        <p:spPr>
          <a:xfrm>
            <a:off x="736600" y="762000"/>
            <a:ext cx="10961878" cy="5842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3C4043"/>
              </a:buClr>
              <a:buSzPts val="4000"/>
              <a:buFont typeface="Arial"/>
              <a:buNone/>
            </a:pPr>
            <a:r>
              <a:rPr b="0" i="0" lang="en-US" sz="4000">
                <a:solidFill>
                  <a:srgbClr val="3C4043"/>
                </a:solidFill>
                <a:latin typeface="Arial"/>
                <a:ea typeface="Arial"/>
                <a:cs typeface="Arial"/>
                <a:sym typeface="Arial"/>
              </a:rPr>
              <a:t>Agenda</a:t>
            </a:r>
            <a:endParaRPr sz="4000"/>
          </a:p>
        </p:txBody>
      </p:sp>
      <p:pic>
        <p:nvPicPr>
          <p:cNvPr descr="line" id="35" name="Google Shape;35;p5"/>
          <p:cNvPicPr preferRelativeResize="0"/>
          <p:nvPr/>
        </p:nvPicPr>
        <p:blipFill rotWithShape="1">
          <a:blip r:embed="rId3">
            <a:alphaModFix/>
          </a:blip>
          <a:srcRect b="0" l="0" r="0" t="0"/>
          <a:stretch/>
        </p:blipFill>
        <p:spPr>
          <a:xfrm>
            <a:off x="736600" y="1524000"/>
            <a:ext cx="10642600" cy="12700"/>
          </a:xfrm>
          <a:prstGeom prst="rect">
            <a:avLst/>
          </a:prstGeom>
          <a:noFill/>
          <a:ln>
            <a:noFill/>
          </a:ln>
        </p:spPr>
      </p:pic>
      <p:sp>
        <p:nvSpPr>
          <p:cNvPr id="36" name="Google Shape;36;p5"/>
          <p:cNvSpPr/>
          <p:nvPr/>
        </p:nvSpPr>
        <p:spPr>
          <a:xfrm>
            <a:off x="708157" y="1739900"/>
            <a:ext cx="6953753" cy="2692400"/>
          </a:xfrm>
          <a:prstGeom prst="rect">
            <a:avLst/>
          </a:prstGeom>
          <a:noFill/>
          <a:ln>
            <a:noFill/>
          </a:ln>
        </p:spPr>
        <p:txBody>
          <a:bodyPr anchorCtr="0" anchor="t" bIns="0" lIns="0" spcFirstLastPara="1" rIns="0" wrap="square" tIns="0">
            <a:noAutofit/>
          </a:bodyPr>
          <a:lstStyle/>
          <a:p>
            <a:pPr indent="-282443" lvl="0" marL="282443" marR="0" rtl="0" algn="l">
              <a:lnSpc>
                <a:spcPct val="175000"/>
              </a:lnSpc>
              <a:spcBef>
                <a:spcPts val="0"/>
              </a:spcBef>
              <a:spcAft>
                <a:spcPts val="0"/>
              </a:spcAft>
              <a:buClr>
                <a:srgbClr val="3C4043"/>
              </a:buClr>
              <a:buSzPts val="2000"/>
              <a:buFont typeface="Arial"/>
              <a:buAutoNum type="arabicPeriod"/>
            </a:pPr>
            <a:r>
              <a:rPr b="0" i="0" lang="en-US" sz="2000" u="none" cap="none" strike="noStrike">
                <a:solidFill>
                  <a:srgbClr val="3C4043"/>
                </a:solidFill>
                <a:latin typeface="Arial"/>
                <a:ea typeface="Arial"/>
                <a:cs typeface="Arial"/>
                <a:sym typeface="Arial"/>
              </a:rPr>
              <a:t>The big picture: memory or no memory</a:t>
            </a:r>
            <a:endParaRPr b="0" i="0" sz="2000" u="none" cap="none" strike="noStrike">
              <a:solidFill>
                <a:schemeClr val="dk1"/>
              </a:solidFill>
              <a:latin typeface="Arial"/>
              <a:ea typeface="Arial"/>
              <a:cs typeface="Arial"/>
              <a:sym typeface="Arial"/>
            </a:endParaRPr>
          </a:p>
          <a:p>
            <a:pPr indent="-282443" lvl="0" marL="282443" marR="0" rtl="0" algn="l">
              <a:lnSpc>
                <a:spcPct val="175000"/>
              </a:lnSpc>
              <a:spcBef>
                <a:spcPts val="0"/>
              </a:spcBef>
              <a:spcAft>
                <a:spcPts val="0"/>
              </a:spcAft>
              <a:buClr>
                <a:srgbClr val="3C4043"/>
              </a:buClr>
              <a:buSzPts val="2000"/>
              <a:buFont typeface="Arial"/>
              <a:buAutoNum type="arabicPeriod"/>
            </a:pPr>
            <a:r>
              <a:rPr b="0" i="0" lang="en-US" sz="2000" u="none" cap="none" strike="noStrike">
                <a:solidFill>
                  <a:srgbClr val="3C4043"/>
                </a:solidFill>
                <a:latin typeface="Arial"/>
                <a:ea typeface="Arial"/>
                <a:cs typeface="Arial"/>
                <a:sym typeface="Arial"/>
              </a:rPr>
              <a:t>Combinational building blocks</a:t>
            </a:r>
            <a:endParaRPr b="0" i="0" sz="2000" u="none" cap="none" strike="noStrike">
              <a:solidFill>
                <a:schemeClr val="dk1"/>
              </a:solidFill>
              <a:latin typeface="Arial"/>
              <a:ea typeface="Arial"/>
              <a:cs typeface="Arial"/>
              <a:sym typeface="Arial"/>
            </a:endParaRPr>
          </a:p>
          <a:p>
            <a:pPr indent="-282443" lvl="0" marL="282443" marR="0" rtl="0" algn="l">
              <a:lnSpc>
                <a:spcPct val="175000"/>
              </a:lnSpc>
              <a:spcBef>
                <a:spcPts val="0"/>
              </a:spcBef>
              <a:spcAft>
                <a:spcPts val="0"/>
              </a:spcAft>
              <a:buClr>
                <a:srgbClr val="3C4043"/>
              </a:buClr>
              <a:buSzPts val="2000"/>
              <a:buFont typeface="Arial"/>
              <a:buAutoNum type="arabicPeriod"/>
            </a:pPr>
            <a:r>
              <a:rPr b="0" i="0" lang="en-US" sz="2000" u="none" cap="none" strike="noStrike">
                <a:solidFill>
                  <a:srgbClr val="3C4043"/>
                </a:solidFill>
                <a:latin typeface="Arial"/>
                <a:ea typeface="Arial"/>
                <a:cs typeface="Arial"/>
                <a:sym typeface="Arial"/>
              </a:rPr>
              <a:t>Combinational pitfalls: loops and latches</a:t>
            </a:r>
            <a:endParaRPr b="0" i="0" sz="2000" u="none" cap="none" strike="noStrike">
              <a:solidFill>
                <a:schemeClr val="dk1"/>
              </a:solidFill>
              <a:latin typeface="Arial"/>
              <a:ea typeface="Arial"/>
              <a:cs typeface="Arial"/>
              <a:sym typeface="Arial"/>
            </a:endParaRPr>
          </a:p>
          <a:p>
            <a:pPr indent="-282443" lvl="0" marL="282443" marR="0" rtl="0" algn="l">
              <a:lnSpc>
                <a:spcPct val="175000"/>
              </a:lnSpc>
              <a:spcBef>
                <a:spcPts val="0"/>
              </a:spcBef>
              <a:spcAft>
                <a:spcPts val="0"/>
              </a:spcAft>
              <a:buClr>
                <a:srgbClr val="3C4043"/>
              </a:buClr>
              <a:buSzPts val="2000"/>
              <a:buFont typeface="Arial"/>
              <a:buAutoNum type="arabicPeriod"/>
            </a:pPr>
            <a:r>
              <a:rPr b="0" i="0" lang="en-US" sz="2000" u="none" cap="none" strike="noStrike">
                <a:solidFill>
                  <a:srgbClr val="3C4043"/>
                </a:solidFill>
                <a:latin typeface="Arial"/>
                <a:ea typeface="Arial"/>
                <a:cs typeface="Arial"/>
                <a:sym typeface="Arial"/>
              </a:rPr>
              <a:t>Sequential building blocks</a:t>
            </a:r>
            <a:endParaRPr b="0" i="0" sz="2000" u="none" cap="none" strike="noStrike">
              <a:solidFill>
                <a:schemeClr val="dk1"/>
              </a:solidFill>
              <a:latin typeface="Arial"/>
              <a:ea typeface="Arial"/>
              <a:cs typeface="Arial"/>
              <a:sym typeface="Arial"/>
            </a:endParaRPr>
          </a:p>
          <a:p>
            <a:pPr indent="-282443" lvl="0" marL="282443" marR="0" rtl="0" algn="l">
              <a:lnSpc>
                <a:spcPct val="175000"/>
              </a:lnSpc>
              <a:spcBef>
                <a:spcPts val="0"/>
              </a:spcBef>
              <a:spcAft>
                <a:spcPts val="0"/>
              </a:spcAft>
              <a:buClr>
                <a:srgbClr val="3C4043"/>
              </a:buClr>
              <a:buSzPts val="2000"/>
              <a:buFont typeface="Arial"/>
              <a:buAutoNum type="arabicPeriod"/>
            </a:pPr>
            <a:r>
              <a:rPr b="0" i="0" lang="en-US" sz="2000" u="none" cap="none" strike="noStrike">
                <a:solidFill>
                  <a:srgbClr val="3C4043"/>
                </a:solidFill>
                <a:latin typeface="Arial"/>
                <a:ea typeface="Arial"/>
                <a:cs typeface="Arial"/>
                <a:sym typeface="Arial"/>
              </a:rPr>
              <a:t>Clocks, resets and enables</a:t>
            </a:r>
            <a:endParaRPr b="0" i="0" sz="2000" u="none" cap="none" strike="noStrike">
              <a:solidFill>
                <a:schemeClr val="dk1"/>
              </a:solidFill>
              <a:latin typeface="Arial"/>
              <a:ea typeface="Arial"/>
              <a:cs typeface="Arial"/>
              <a:sym typeface="Arial"/>
            </a:endParaRPr>
          </a:p>
          <a:p>
            <a:pPr indent="-282443" lvl="0" marL="282443" marR="0" rtl="0" algn="l">
              <a:lnSpc>
                <a:spcPct val="175000"/>
              </a:lnSpc>
              <a:spcBef>
                <a:spcPts val="0"/>
              </a:spcBef>
              <a:spcAft>
                <a:spcPts val="0"/>
              </a:spcAft>
              <a:buClr>
                <a:srgbClr val="3C4043"/>
              </a:buClr>
              <a:buSzPts val="2000"/>
              <a:buFont typeface="Arial"/>
              <a:buAutoNum type="arabicPeriod"/>
            </a:pPr>
            <a:r>
              <a:rPr b="0" i="0" lang="en-US" sz="2000" u="none" cap="none" strike="noStrike">
                <a:solidFill>
                  <a:srgbClr val="3C4043"/>
                </a:solidFill>
                <a:latin typeface="Arial"/>
                <a:ea typeface="Arial"/>
                <a:cs typeface="Arial"/>
                <a:sym typeface="Arial"/>
              </a:rPr>
              <a:t>Summary and questions</a:t>
            </a:r>
            <a:endParaRPr b="0" i="0" sz="2000" u="none" cap="none" strike="noStrike">
              <a:solidFill>
                <a:schemeClr val="dk1"/>
              </a:solidFill>
              <a:latin typeface="Arial"/>
              <a:ea typeface="Arial"/>
              <a:cs typeface="Arial"/>
              <a:sym typeface="Arial"/>
            </a:endParaRPr>
          </a:p>
        </p:txBody>
      </p:sp>
      <p:sp>
        <p:nvSpPr>
          <p:cNvPr id="37" name="Google Shape;37;p5"/>
          <p:cNvSpPr/>
          <p:nvPr/>
        </p:nvSpPr>
        <p:spPr>
          <a:xfrm>
            <a:off x="8077200" y="1739900"/>
            <a:ext cx="3302000" cy="2733014"/>
          </a:xfrm>
          <a:prstGeom prst="roundRect">
            <a:avLst>
              <a:gd fmla="val 6506" name="adj"/>
            </a:avLst>
          </a:prstGeom>
          <a:solidFill>
            <a:srgbClr val="FFF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5"/>
          <p:cNvSpPr/>
          <p:nvPr/>
        </p:nvSpPr>
        <p:spPr>
          <a:xfrm>
            <a:off x="8356600" y="1993900"/>
            <a:ext cx="2825496" cy="269214"/>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3C4043"/>
              </a:buClr>
              <a:buSzPts val="1600"/>
              <a:buFont typeface="Arial"/>
              <a:buNone/>
            </a:pPr>
            <a:r>
              <a:rPr b="1" i="0" lang="en-US" sz="1600" u="none" cap="none" strike="noStrike">
                <a:solidFill>
                  <a:srgbClr val="3C4043"/>
                </a:solidFill>
                <a:latin typeface="Arial"/>
                <a:ea typeface="Arial"/>
                <a:cs typeface="Arial"/>
                <a:sym typeface="Arial"/>
              </a:rPr>
              <a:t>Objectives</a:t>
            </a:r>
            <a:endParaRPr b="0" i="0" sz="1600" u="none" cap="none" strike="noStrike">
              <a:solidFill>
                <a:schemeClr val="dk1"/>
              </a:solidFill>
              <a:latin typeface="Arial"/>
              <a:ea typeface="Arial"/>
              <a:cs typeface="Arial"/>
              <a:sym typeface="Arial"/>
            </a:endParaRPr>
          </a:p>
        </p:txBody>
      </p:sp>
      <p:sp>
        <p:nvSpPr>
          <p:cNvPr id="39" name="Google Shape;39;p5"/>
          <p:cNvSpPr/>
          <p:nvPr/>
        </p:nvSpPr>
        <p:spPr>
          <a:xfrm>
            <a:off x="8356600" y="2364714"/>
            <a:ext cx="2825496" cy="55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4E52"/>
              </a:buClr>
              <a:buSzPts val="1500"/>
              <a:buFont typeface="Arial"/>
              <a:buNone/>
            </a:pPr>
            <a:r>
              <a:rPr b="0" i="0" lang="en-US" sz="1500" u="none" cap="none" strike="noStrike">
                <a:solidFill>
                  <a:srgbClr val="4A4E52"/>
                </a:solidFill>
                <a:latin typeface="Arial"/>
                <a:ea typeface="Arial"/>
                <a:cs typeface="Arial"/>
                <a:sym typeface="Arial"/>
              </a:rPr>
              <a:t>Tell the two kinds of logic apart at a glance</a:t>
            </a:r>
            <a:endParaRPr b="0" i="0" sz="1500" u="none" cap="none" strike="noStrike">
              <a:solidFill>
                <a:schemeClr val="dk1"/>
              </a:solidFill>
              <a:latin typeface="Arial"/>
              <a:ea typeface="Arial"/>
              <a:cs typeface="Arial"/>
              <a:sym typeface="Arial"/>
            </a:endParaRPr>
          </a:p>
        </p:txBody>
      </p:sp>
      <p:sp>
        <p:nvSpPr>
          <p:cNvPr id="40" name="Google Shape;40;p5"/>
          <p:cNvSpPr/>
          <p:nvPr/>
        </p:nvSpPr>
        <p:spPr>
          <a:xfrm>
            <a:off x="8356600" y="3025114"/>
            <a:ext cx="2825496" cy="55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4E52"/>
              </a:buClr>
              <a:buSzPts val="1500"/>
              <a:buFont typeface="Arial"/>
              <a:buNone/>
            </a:pPr>
            <a:r>
              <a:rPr b="0" i="0" lang="en-US" sz="1500" u="none" cap="none" strike="noStrike">
                <a:solidFill>
                  <a:srgbClr val="4A4E52"/>
                </a:solidFill>
                <a:latin typeface="Arial"/>
                <a:ea typeface="Arial"/>
                <a:cs typeface="Arial"/>
                <a:sym typeface="Arial"/>
              </a:rPr>
              <a:t>Recognize the standard blocks in HDL</a:t>
            </a:r>
            <a:endParaRPr b="0" i="0" sz="1500" u="none" cap="none" strike="noStrike">
              <a:solidFill>
                <a:schemeClr val="dk1"/>
              </a:solidFill>
              <a:latin typeface="Arial"/>
              <a:ea typeface="Arial"/>
              <a:cs typeface="Arial"/>
              <a:sym typeface="Arial"/>
            </a:endParaRPr>
          </a:p>
        </p:txBody>
      </p:sp>
      <p:sp>
        <p:nvSpPr>
          <p:cNvPr id="41" name="Google Shape;41;p5"/>
          <p:cNvSpPr/>
          <p:nvPr/>
        </p:nvSpPr>
        <p:spPr>
          <a:xfrm>
            <a:off x="8356600" y="3685514"/>
            <a:ext cx="2825496" cy="55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4E52"/>
              </a:buClr>
              <a:buSzPts val="1500"/>
              <a:buFont typeface="Arial"/>
              <a:buNone/>
            </a:pPr>
            <a:r>
              <a:rPr b="0" i="0" lang="en-US" sz="1500" u="none" cap="none" strike="noStrike">
                <a:solidFill>
                  <a:srgbClr val="4A4E52"/>
                </a:solidFill>
                <a:latin typeface="Arial"/>
                <a:ea typeface="Arial"/>
                <a:cs typeface="Arial"/>
                <a:sym typeface="Arial"/>
              </a:rPr>
              <a:t>Avoid the mistakes Vivado warns about</a:t>
            </a:r>
            <a:endParaRPr b="0" i="0" sz="1500" u="none" cap="none" strike="noStrike">
              <a:solidFill>
                <a:schemeClr val="dk1"/>
              </a:solidFill>
              <a:latin typeface="Arial"/>
              <a:ea typeface="Arial"/>
              <a:cs typeface="Arial"/>
              <a:sym typeface="Arial"/>
            </a:endParaRPr>
          </a:p>
        </p:txBody>
      </p:sp>
      <p:sp>
        <p:nvSpPr>
          <p:cNvPr id="42" name="Google Shape;42;p5"/>
          <p:cNvSpPr/>
          <p:nvPr/>
        </p:nvSpPr>
        <p:spPr>
          <a:xfrm>
            <a:off x="10566400" y="6238280"/>
            <a:ext cx="812800" cy="23872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3C4043"/>
              </a:buClr>
              <a:buSzPts val="1200"/>
              <a:buFont typeface="Arial"/>
              <a:buNone/>
            </a:pPr>
            <a:r>
              <a:rPr b="0" i="0" lang="en-US" sz="1200" u="none" cap="none" strike="noStrike">
                <a:solidFill>
                  <a:srgbClr val="3C4043"/>
                </a:solidFill>
                <a:latin typeface="Arial"/>
                <a:ea typeface="Arial"/>
                <a:cs typeface="Arial"/>
                <a:sym typeface="Arial"/>
              </a:rPr>
              <a:t>2</a:t>
            </a:r>
            <a:endParaRPr b="0" i="0" sz="1200" u="none" cap="none" strike="noStrike">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0DC"/>
        </a:solidFill>
      </p:bgPr>
    </p:bg>
    <p:spTree>
      <p:nvGrpSpPr>
        <p:cNvPr id="47" name="Shape 47"/>
        <p:cNvGrpSpPr/>
        <p:nvPr/>
      </p:nvGrpSpPr>
      <p:grpSpPr>
        <a:xfrm>
          <a:off x="0" y="0"/>
          <a:ext cx="0" cy="0"/>
          <a:chOff x="0" y="0"/>
          <a:chExt cx="0" cy="0"/>
        </a:xfrm>
      </p:grpSpPr>
      <p:sp>
        <p:nvSpPr>
          <p:cNvPr id="48" name="Google Shape;48;p6"/>
          <p:cNvSpPr/>
          <p:nvPr/>
        </p:nvSpPr>
        <p:spPr>
          <a:xfrm>
            <a:off x="114300" y="114300"/>
            <a:ext cx="5886450" cy="381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C4043"/>
              </a:buClr>
              <a:buSzPts val="2000"/>
              <a:buFont typeface="Arial"/>
              <a:buNone/>
            </a:pPr>
            <a:r>
              <a:rPr b="0" i="0" lang="en-US" sz="2000" u="none" cap="none" strike="noStrike">
                <a:solidFill>
                  <a:srgbClr val="3C4043"/>
                </a:solidFill>
                <a:latin typeface="Arial"/>
                <a:ea typeface="Arial"/>
                <a:cs typeface="Arial"/>
                <a:sym typeface="Arial"/>
              </a:rPr>
              <a:t>Overview</a:t>
            </a:r>
            <a:endParaRPr b="0" i="0" sz="2000" u="none" cap="none" strike="noStrike">
              <a:solidFill>
                <a:schemeClr val="dk1"/>
              </a:solidFill>
              <a:latin typeface="Arial"/>
              <a:ea typeface="Arial"/>
              <a:cs typeface="Arial"/>
              <a:sym typeface="Arial"/>
            </a:endParaRPr>
          </a:p>
        </p:txBody>
      </p:sp>
      <p:sp>
        <p:nvSpPr>
          <p:cNvPr id="49" name="Google Shape;49;p6"/>
          <p:cNvSpPr txBox="1"/>
          <p:nvPr>
            <p:ph type="title"/>
          </p:nvPr>
        </p:nvSpPr>
        <p:spPr>
          <a:xfrm>
            <a:off x="736600" y="762000"/>
            <a:ext cx="10961878" cy="5842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3C4043"/>
              </a:buClr>
              <a:buSzPts val="4000"/>
              <a:buFont typeface="Arial"/>
              <a:buNone/>
            </a:pPr>
            <a:r>
              <a:rPr b="0" i="0" lang="en-US" sz="4000">
                <a:solidFill>
                  <a:srgbClr val="3C4043"/>
                </a:solidFill>
                <a:latin typeface="Arial"/>
                <a:ea typeface="Arial"/>
                <a:cs typeface="Arial"/>
                <a:sym typeface="Arial"/>
              </a:rPr>
              <a:t>Two Kinds of Digital Logic</a:t>
            </a:r>
            <a:endParaRPr sz="4000"/>
          </a:p>
        </p:txBody>
      </p:sp>
      <p:pic>
        <p:nvPicPr>
          <p:cNvPr descr="line" id="50" name="Google Shape;50;p6"/>
          <p:cNvPicPr preferRelativeResize="0"/>
          <p:nvPr/>
        </p:nvPicPr>
        <p:blipFill rotWithShape="1">
          <a:blip r:embed="rId3">
            <a:alphaModFix/>
          </a:blip>
          <a:srcRect b="0" l="0" r="0" t="0"/>
          <a:stretch/>
        </p:blipFill>
        <p:spPr>
          <a:xfrm>
            <a:off x="736600" y="1524000"/>
            <a:ext cx="10642600" cy="12700"/>
          </a:xfrm>
          <a:prstGeom prst="rect">
            <a:avLst/>
          </a:prstGeom>
          <a:noFill/>
          <a:ln>
            <a:noFill/>
          </a:ln>
        </p:spPr>
      </p:pic>
      <p:sp>
        <p:nvSpPr>
          <p:cNvPr id="51" name="Google Shape;51;p6"/>
          <p:cNvSpPr/>
          <p:nvPr/>
        </p:nvSpPr>
        <p:spPr>
          <a:xfrm>
            <a:off x="736600" y="1739900"/>
            <a:ext cx="5168900" cy="3075914"/>
          </a:xfrm>
          <a:prstGeom prst="roundRect">
            <a:avLst>
              <a:gd fmla="val 5780" name="adj"/>
            </a:avLst>
          </a:prstGeom>
          <a:solidFill>
            <a:srgbClr val="FFF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6"/>
          <p:cNvSpPr/>
          <p:nvPr/>
        </p:nvSpPr>
        <p:spPr>
          <a:xfrm>
            <a:off x="736600" y="1739900"/>
            <a:ext cx="5168900" cy="3075914"/>
          </a:xfrm>
          <a:custGeom>
            <a:rect b="b" l="l" r="r" t="t"/>
            <a:pathLst>
              <a:path extrusionOk="0" h="3075914" w="5168900">
                <a:moveTo>
                  <a:pt x="0" y="177800"/>
                </a:moveTo>
                <a:lnTo>
                  <a:pt x="0" y="177800"/>
                </a:lnTo>
                <a:cubicBezTo>
                  <a:pt x="0" y="79604"/>
                  <a:pt x="79604" y="0"/>
                  <a:pt x="177800" y="0"/>
                </a:cubicBezTo>
                <a:lnTo>
                  <a:pt x="4991100" y="0"/>
                </a:lnTo>
                <a:cubicBezTo>
                  <a:pt x="5038255" y="0"/>
                  <a:pt x="5083480" y="18732"/>
                  <a:pt x="5116824" y="52076"/>
                </a:cubicBezTo>
                <a:cubicBezTo>
                  <a:pt x="5150168" y="85420"/>
                  <a:pt x="5168900" y="130645"/>
                  <a:pt x="5168900" y="177800"/>
                </a:cubicBezTo>
                <a:lnTo>
                  <a:pt x="5168900" y="177800"/>
                </a:lnTo>
                <a:cubicBezTo>
                  <a:pt x="5168900" y="114674"/>
                  <a:pt x="5089296" y="63500"/>
                  <a:pt x="4991100" y="63500"/>
                </a:cubicBezTo>
                <a:lnTo>
                  <a:pt x="177800" y="63500"/>
                </a:lnTo>
                <a:cubicBezTo>
                  <a:pt x="79604" y="63500"/>
                  <a:pt x="0" y="114674"/>
                  <a:pt x="0" y="177800"/>
                </a:cubicBezTo>
                <a:close/>
              </a:path>
            </a:pathLst>
          </a:custGeom>
          <a:solidFill>
            <a:srgbClr val="1B6F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6"/>
          <p:cNvSpPr/>
          <p:nvPr/>
        </p:nvSpPr>
        <p:spPr>
          <a:xfrm>
            <a:off x="1016000" y="2082800"/>
            <a:ext cx="4748403" cy="274307"/>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B6F9E"/>
              </a:buClr>
              <a:buSzPts val="1400"/>
              <a:buFont typeface="Arial"/>
              <a:buNone/>
            </a:pPr>
            <a:r>
              <a:rPr b="1" i="0" lang="en-US" sz="1400" u="none" cap="none" strike="noStrike">
                <a:solidFill>
                  <a:srgbClr val="1B6F9E"/>
                </a:solidFill>
                <a:latin typeface="Arial"/>
                <a:ea typeface="Arial"/>
                <a:cs typeface="Arial"/>
                <a:sym typeface="Arial"/>
              </a:rPr>
              <a:t>COMBINATIONAL</a:t>
            </a:r>
            <a:endParaRPr b="0" i="0" sz="1400" u="none" cap="none" strike="noStrike">
              <a:solidFill>
                <a:schemeClr val="dk1"/>
              </a:solidFill>
              <a:latin typeface="Arial"/>
              <a:ea typeface="Arial"/>
              <a:cs typeface="Arial"/>
              <a:sym typeface="Arial"/>
            </a:endParaRPr>
          </a:p>
        </p:txBody>
      </p:sp>
      <p:sp>
        <p:nvSpPr>
          <p:cNvPr id="54" name="Google Shape;54;p6"/>
          <p:cNvSpPr/>
          <p:nvPr/>
        </p:nvSpPr>
        <p:spPr>
          <a:xfrm>
            <a:off x="1016000" y="2484107"/>
            <a:ext cx="4748403" cy="381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C4043"/>
              </a:buClr>
              <a:buSzPts val="2000"/>
              <a:buFont typeface="Courier New"/>
              <a:buNone/>
            </a:pPr>
            <a:r>
              <a:rPr b="1" i="0" lang="en-US" sz="2000" u="none" cap="none" strike="noStrike">
                <a:solidFill>
                  <a:srgbClr val="3C4043"/>
                </a:solidFill>
                <a:latin typeface="Courier New"/>
                <a:ea typeface="Courier New"/>
                <a:cs typeface="Courier New"/>
                <a:sym typeface="Courier New"/>
              </a:rPr>
              <a:t>out = f(inputs)</a:t>
            </a:r>
            <a:endParaRPr b="0" i="0" sz="2000" u="none" cap="none" strike="noStrike">
              <a:solidFill>
                <a:schemeClr val="dk1"/>
              </a:solidFill>
              <a:latin typeface="Arial"/>
              <a:ea typeface="Arial"/>
              <a:cs typeface="Arial"/>
              <a:sym typeface="Arial"/>
            </a:endParaRPr>
          </a:p>
        </p:txBody>
      </p:sp>
      <p:sp>
        <p:nvSpPr>
          <p:cNvPr id="55" name="Google Shape;55;p6"/>
          <p:cNvSpPr/>
          <p:nvPr/>
        </p:nvSpPr>
        <p:spPr>
          <a:xfrm>
            <a:off x="1016000" y="3106407"/>
            <a:ext cx="189243" cy="274307"/>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4E52"/>
              </a:buClr>
              <a:buSzPts val="1400"/>
              <a:buFont typeface="Arial"/>
              <a:buNone/>
            </a:pPr>
            <a:r>
              <a:rPr b="0" i="0" lang="en-US" sz="1400" u="none" cap="none" strike="noStrike">
                <a:solidFill>
                  <a:srgbClr val="4A4E52"/>
                </a:solidFill>
                <a:latin typeface="Arial"/>
                <a:ea typeface="Arial"/>
                <a:cs typeface="Arial"/>
                <a:sym typeface="Arial"/>
              </a:rPr>
              <a:t>in</a:t>
            </a:r>
            <a:endParaRPr b="0" i="0" sz="1400" u="none" cap="none" strike="noStrike">
              <a:solidFill>
                <a:schemeClr val="dk1"/>
              </a:solidFill>
              <a:latin typeface="Arial"/>
              <a:ea typeface="Arial"/>
              <a:cs typeface="Arial"/>
              <a:sym typeface="Arial"/>
            </a:endParaRPr>
          </a:p>
        </p:txBody>
      </p:sp>
      <p:pic>
        <p:nvPicPr>
          <p:cNvPr descr="arrow-right" id="56" name="Google Shape;56;p6"/>
          <p:cNvPicPr preferRelativeResize="0"/>
          <p:nvPr/>
        </p:nvPicPr>
        <p:blipFill rotWithShape="1">
          <a:blip r:embed="rId4">
            <a:alphaModFix/>
          </a:blip>
          <a:srcRect b="0" l="0" r="0" t="0"/>
          <a:stretch/>
        </p:blipFill>
        <p:spPr>
          <a:xfrm>
            <a:off x="1256043" y="3154628"/>
            <a:ext cx="279400" cy="152400"/>
          </a:xfrm>
          <a:prstGeom prst="rect">
            <a:avLst/>
          </a:prstGeom>
          <a:noFill/>
          <a:ln>
            <a:noFill/>
          </a:ln>
        </p:spPr>
      </p:pic>
      <p:sp>
        <p:nvSpPr>
          <p:cNvPr id="57" name="Google Shape;57;p6"/>
          <p:cNvSpPr/>
          <p:nvPr/>
        </p:nvSpPr>
        <p:spPr>
          <a:xfrm>
            <a:off x="1637043" y="2992107"/>
            <a:ext cx="753533" cy="477507"/>
          </a:xfrm>
          <a:prstGeom prst="roundRect">
            <a:avLst>
              <a:gd fmla="val 15958" name="adj"/>
            </a:avLst>
          </a:prstGeom>
          <a:solidFill>
            <a:srgbClr val="1B6F9E"/>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FFF8F0"/>
              </a:buClr>
              <a:buSzPts val="1400"/>
              <a:buFont typeface="Arial"/>
              <a:buNone/>
            </a:pPr>
            <a:r>
              <a:rPr b="1" i="0" lang="en-US" sz="1400" u="none" cap="none" strike="noStrike">
                <a:solidFill>
                  <a:srgbClr val="FFF8F0"/>
                </a:solidFill>
                <a:latin typeface="Arial"/>
                <a:ea typeface="Arial"/>
                <a:cs typeface="Arial"/>
                <a:sym typeface="Arial"/>
              </a:rPr>
              <a:t>Logic</a:t>
            </a:r>
            <a:endParaRPr b="0" i="0" sz="1400" u="none" cap="none" strike="noStrike">
              <a:solidFill>
                <a:schemeClr val="dk1"/>
              </a:solidFill>
              <a:latin typeface="Arial"/>
              <a:ea typeface="Arial"/>
              <a:cs typeface="Arial"/>
              <a:sym typeface="Arial"/>
            </a:endParaRPr>
          </a:p>
        </p:txBody>
      </p:sp>
      <p:pic>
        <p:nvPicPr>
          <p:cNvPr descr="arrow-right" id="58" name="Google Shape;58;p6"/>
          <p:cNvPicPr preferRelativeResize="0"/>
          <p:nvPr/>
        </p:nvPicPr>
        <p:blipFill rotWithShape="1">
          <a:blip r:embed="rId4">
            <a:alphaModFix/>
          </a:blip>
          <a:srcRect b="0" l="0" r="0" t="0"/>
          <a:stretch/>
        </p:blipFill>
        <p:spPr>
          <a:xfrm>
            <a:off x="2492177" y="3154628"/>
            <a:ext cx="279400" cy="152400"/>
          </a:xfrm>
          <a:prstGeom prst="rect">
            <a:avLst/>
          </a:prstGeom>
          <a:noFill/>
          <a:ln>
            <a:noFill/>
          </a:ln>
        </p:spPr>
      </p:pic>
      <p:sp>
        <p:nvSpPr>
          <p:cNvPr id="59" name="Google Shape;59;p6"/>
          <p:cNvSpPr/>
          <p:nvPr/>
        </p:nvSpPr>
        <p:spPr>
          <a:xfrm>
            <a:off x="2873177" y="3106407"/>
            <a:ext cx="297987" cy="274307"/>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4E52"/>
              </a:buClr>
              <a:buSzPts val="1400"/>
              <a:buFont typeface="Arial"/>
              <a:buNone/>
            </a:pPr>
            <a:r>
              <a:rPr b="0" i="0" lang="en-US" sz="1400" u="none" cap="none" strike="noStrike">
                <a:solidFill>
                  <a:srgbClr val="4A4E52"/>
                </a:solidFill>
                <a:latin typeface="Arial"/>
                <a:ea typeface="Arial"/>
                <a:cs typeface="Arial"/>
                <a:sym typeface="Arial"/>
              </a:rPr>
              <a:t>out</a:t>
            </a:r>
            <a:endParaRPr b="0" i="0" sz="1400" u="none" cap="none" strike="noStrike">
              <a:solidFill>
                <a:schemeClr val="dk1"/>
              </a:solidFill>
              <a:latin typeface="Arial"/>
              <a:ea typeface="Arial"/>
              <a:cs typeface="Arial"/>
              <a:sym typeface="Arial"/>
            </a:endParaRPr>
          </a:p>
        </p:txBody>
      </p:sp>
      <p:sp>
        <p:nvSpPr>
          <p:cNvPr id="60" name="Google Shape;60;p6"/>
          <p:cNvSpPr/>
          <p:nvPr/>
        </p:nvSpPr>
        <p:spPr>
          <a:xfrm>
            <a:off x="1092708" y="3622015"/>
            <a:ext cx="4664075" cy="939800"/>
          </a:xfrm>
          <a:prstGeom prst="rect">
            <a:avLst/>
          </a:prstGeom>
          <a:noFill/>
          <a:ln>
            <a:noFill/>
          </a:ln>
        </p:spPr>
        <p:txBody>
          <a:bodyPr anchorCtr="0" anchor="t" bIns="0" lIns="0" spcFirstLastPara="1" rIns="0" wrap="square" tIns="0">
            <a:noAutofit/>
          </a:bodyPr>
          <a:lstStyle/>
          <a:p>
            <a:pPr indent="-177292" lvl="0" marL="177292" marR="0" rtl="0" algn="l">
              <a:lnSpc>
                <a:spcPct val="150000"/>
              </a:lnSpc>
              <a:spcBef>
                <a:spcPts val="0"/>
              </a:spcBef>
              <a:spcAft>
                <a:spcPts val="0"/>
              </a:spcAft>
              <a:buClr>
                <a:srgbClr val="4A4E52"/>
              </a:buClr>
              <a:buSzPts val="1600"/>
              <a:buFont typeface="Arial"/>
              <a:buChar char="•"/>
            </a:pPr>
            <a:r>
              <a:rPr b="0" i="0" lang="en-US" sz="1600" u="none" cap="none" strike="noStrike">
                <a:solidFill>
                  <a:srgbClr val="4A4E52"/>
                </a:solidFill>
                <a:latin typeface="Arial"/>
                <a:ea typeface="Arial"/>
                <a:cs typeface="Arial"/>
                <a:sym typeface="Arial"/>
              </a:rPr>
              <a:t>No memory</a:t>
            </a:r>
            <a:endParaRPr b="0" i="0" sz="1600" u="none" cap="none" strike="noStrike">
              <a:solidFill>
                <a:schemeClr val="dk1"/>
              </a:solidFill>
              <a:latin typeface="Arial"/>
              <a:ea typeface="Arial"/>
              <a:cs typeface="Arial"/>
              <a:sym typeface="Arial"/>
            </a:endParaRPr>
          </a:p>
          <a:p>
            <a:pPr indent="-177292" lvl="0" marL="177292" marR="0" rtl="0" algn="l">
              <a:lnSpc>
                <a:spcPct val="150000"/>
              </a:lnSpc>
              <a:spcBef>
                <a:spcPts val="0"/>
              </a:spcBef>
              <a:spcAft>
                <a:spcPts val="0"/>
              </a:spcAft>
              <a:buClr>
                <a:srgbClr val="4A4E52"/>
              </a:buClr>
              <a:buSzPts val="1600"/>
              <a:buFont typeface="Arial"/>
              <a:buChar char="•"/>
            </a:pPr>
            <a:r>
              <a:rPr b="0" i="0" lang="en-US" sz="1600" u="none" cap="none" strike="noStrike">
                <a:solidFill>
                  <a:srgbClr val="4A4E52"/>
                </a:solidFill>
                <a:latin typeface="Arial"/>
                <a:ea typeface="Arial"/>
                <a:cs typeface="Arial"/>
                <a:sym typeface="Arial"/>
              </a:rPr>
              <a:t>Same inputs → same outputs, always</a:t>
            </a:r>
            <a:endParaRPr b="0" i="0" sz="1600" u="none" cap="none" strike="noStrike">
              <a:solidFill>
                <a:schemeClr val="dk1"/>
              </a:solidFill>
              <a:latin typeface="Arial"/>
              <a:ea typeface="Arial"/>
              <a:cs typeface="Arial"/>
              <a:sym typeface="Arial"/>
            </a:endParaRPr>
          </a:p>
          <a:p>
            <a:pPr indent="-177292" lvl="0" marL="177292" marR="0" rtl="0" algn="l">
              <a:lnSpc>
                <a:spcPct val="150000"/>
              </a:lnSpc>
              <a:spcBef>
                <a:spcPts val="0"/>
              </a:spcBef>
              <a:spcAft>
                <a:spcPts val="0"/>
              </a:spcAft>
              <a:buClr>
                <a:srgbClr val="4A4E52"/>
              </a:buClr>
              <a:buSzPts val="1600"/>
              <a:buFont typeface="Arial"/>
              <a:buChar char="•"/>
            </a:pPr>
            <a:r>
              <a:rPr b="0" i="0" lang="en-US" sz="1600" u="none" cap="none" strike="noStrike">
                <a:solidFill>
                  <a:srgbClr val="4A4E52"/>
                </a:solidFill>
                <a:latin typeface="Arial"/>
                <a:ea typeface="Arial"/>
                <a:cs typeface="Arial"/>
                <a:sym typeface="Arial"/>
              </a:rPr>
              <a:t>Gates only, no clock needed</a:t>
            </a:r>
            <a:endParaRPr b="0" i="0" sz="1600" u="none" cap="none" strike="noStrike">
              <a:solidFill>
                <a:schemeClr val="dk1"/>
              </a:solidFill>
              <a:latin typeface="Arial"/>
              <a:ea typeface="Arial"/>
              <a:cs typeface="Arial"/>
              <a:sym typeface="Arial"/>
            </a:endParaRPr>
          </a:p>
        </p:txBody>
      </p:sp>
      <p:sp>
        <p:nvSpPr>
          <p:cNvPr id="61" name="Google Shape;61;p6"/>
          <p:cNvSpPr/>
          <p:nvPr/>
        </p:nvSpPr>
        <p:spPr>
          <a:xfrm>
            <a:off x="6210300" y="1739900"/>
            <a:ext cx="5168900" cy="3075914"/>
          </a:xfrm>
          <a:prstGeom prst="roundRect">
            <a:avLst>
              <a:gd fmla="val 5780" name="adj"/>
            </a:avLst>
          </a:prstGeom>
          <a:solidFill>
            <a:srgbClr val="FFF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6"/>
          <p:cNvSpPr/>
          <p:nvPr/>
        </p:nvSpPr>
        <p:spPr>
          <a:xfrm>
            <a:off x="6210300" y="1739900"/>
            <a:ext cx="5168900" cy="3075914"/>
          </a:xfrm>
          <a:custGeom>
            <a:rect b="b" l="l" r="r" t="t"/>
            <a:pathLst>
              <a:path extrusionOk="0" h="3075914" w="5168900">
                <a:moveTo>
                  <a:pt x="0" y="177800"/>
                </a:moveTo>
                <a:lnTo>
                  <a:pt x="0" y="177800"/>
                </a:lnTo>
                <a:cubicBezTo>
                  <a:pt x="0" y="79604"/>
                  <a:pt x="79604" y="0"/>
                  <a:pt x="177800" y="0"/>
                </a:cubicBezTo>
                <a:lnTo>
                  <a:pt x="4991100" y="0"/>
                </a:lnTo>
                <a:cubicBezTo>
                  <a:pt x="5038255" y="0"/>
                  <a:pt x="5083480" y="18732"/>
                  <a:pt x="5116824" y="52076"/>
                </a:cubicBezTo>
                <a:cubicBezTo>
                  <a:pt x="5150168" y="85420"/>
                  <a:pt x="5168900" y="130645"/>
                  <a:pt x="5168900" y="177800"/>
                </a:cubicBezTo>
                <a:lnTo>
                  <a:pt x="5168900" y="177800"/>
                </a:lnTo>
                <a:cubicBezTo>
                  <a:pt x="5168900" y="114674"/>
                  <a:pt x="5089296" y="63500"/>
                  <a:pt x="4991100" y="63500"/>
                </a:cubicBezTo>
                <a:lnTo>
                  <a:pt x="177800" y="63500"/>
                </a:lnTo>
                <a:cubicBezTo>
                  <a:pt x="79604" y="63500"/>
                  <a:pt x="0" y="114674"/>
                  <a:pt x="0" y="177800"/>
                </a:cubicBezTo>
                <a:close/>
              </a:path>
            </a:pathLst>
          </a:custGeom>
          <a:solidFill>
            <a:srgbClr val="B546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6"/>
          <p:cNvSpPr/>
          <p:nvPr/>
        </p:nvSpPr>
        <p:spPr>
          <a:xfrm>
            <a:off x="6489700" y="2082800"/>
            <a:ext cx="4748403" cy="274307"/>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5462A"/>
              </a:buClr>
              <a:buSzPts val="1400"/>
              <a:buFont typeface="Arial"/>
              <a:buNone/>
            </a:pPr>
            <a:r>
              <a:rPr b="1" i="0" lang="en-US" sz="1400" u="none" cap="none" strike="noStrike">
                <a:solidFill>
                  <a:srgbClr val="B5462A"/>
                </a:solidFill>
                <a:latin typeface="Arial"/>
                <a:ea typeface="Arial"/>
                <a:cs typeface="Arial"/>
                <a:sym typeface="Arial"/>
              </a:rPr>
              <a:t>SEQUENTIAL</a:t>
            </a:r>
            <a:endParaRPr b="0" i="0" sz="1400" u="none" cap="none" strike="noStrike">
              <a:solidFill>
                <a:schemeClr val="dk1"/>
              </a:solidFill>
              <a:latin typeface="Arial"/>
              <a:ea typeface="Arial"/>
              <a:cs typeface="Arial"/>
              <a:sym typeface="Arial"/>
            </a:endParaRPr>
          </a:p>
        </p:txBody>
      </p:sp>
      <p:sp>
        <p:nvSpPr>
          <p:cNvPr id="64" name="Google Shape;64;p6"/>
          <p:cNvSpPr/>
          <p:nvPr/>
        </p:nvSpPr>
        <p:spPr>
          <a:xfrm>
            <a:off x="6489700" y="2484107"/>
            <a:ext cx="4748403" cy="381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C4043"/>
              </a:buClr>
              <a:buSzPts val="2000"/>
              <a:buFont typeface="Courier New"/>
              <a:buNone/>
            </a:pPr>
            <a:r>
              <a:rPr b="1" i="0" lang="en-US" sz="2000" u="none" cap="none" strike="noStrike">
                <a:solidFill>
                  <a:srgbClr val="3C4043"/>
                </a:solidFill>
                <a:latin typeface="Courier New"/>
                <a:ea typeface="Courier New"/>
                <a:cs typeface="Courier New"/>
                <a:sym typeface="Courier New"/>
              </a:rPr>
              <a:t>out = f(inputs, state)</a:t>
            </a:r>
            <a:endParaRPr b="0" i="0" sz="2000" u="none" cap="none" strike="noStrike">
              <a:solidFill>
                <a:schemeClr val="dk1"/>
              </a:solidFill>
              <a:latin typeface="Arial"/>
              <a:ea typeface="Arial"/>
              <a:cs typeface="Arial"/>
              <a:sym typeface="Arial"/>
            </a:endParaRPr>
          </a:p>
        </p:txBody>
      </p:sp>
      <p:sp>
        <p:nvSpPr>
          <p:cNvPr id="65" name="Google Shape;65;p6"/>
          <p:cNvSpPr/>
          <p:nvPr/>
        </p:nvSpPr>
        <p:spPr>
          <a:xfrm>
            <a:off x="6489700" y="3106407"/>
            <a:ext cx="189243" cy="274307"/>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4E52"/>
              </a:buClr>
              <a:buSzPts val="1400"/>
              <a:buFont typeface="Arial"/>
              <a:buNone/>
            </a:pPr>
            <a:r>
              <a:rPr b="0" i="0" lang="en-US" sz="1400" u="none" cap="none" strike="noStrike">
                <a:solidFill>
                  <a:srgbClr val="4A4E52"/>
                </a:solidFill>
                <a:latin typeface="Arial"/>
                <a:ea typeface="Arial"/>
                <a:cs typeface="Arial"/>
                <a:sym typeface="Arial"/>
              </a:rPr>
              <a:t>in</a:t>
            </a:r>
            <a:endParaRPr b="0" i="0" sz="1400" u="none" cap="none" strike="noStrike">
              <a:solidFill>
                <a:schemeClr val="dk1"/>
              </a:solidFill>
              <a:latin typeface="Arial"/>
              <a:ea typeface="Arial"/>
              <a:cs typeface="Arial"/>
              <a:sym typeface="Arial"/>
            </a:endParaRPr>
          </a:p>
        </p:txBody>
      </p:sp>
      <p:pic>
        <p:nvPicPr>
          <p:cNvPr descr="arrow-right" id="66" name="Google Shape;66;p6"/>
          <p:cNvPicPr preferRelativeResize="0"/>
          <p:nvPr/>
        </p:nvPicPr>
        <p:blipFill rotWithShape="1">
          <a:blip r:embed="rId4">
            <a:alphaModFix/>
          </a:blip>
          <a:srcRect b="0" l="0" r="0" t="0"/>
          <a:stretch/>
        </p:blipFill>
        <p:spPr>
          <a:xfrm>
            <a:off x="6729743" y="3154628"/>
            <a:ext cx="279400" cy="152400"/>
          </a:xfrm>
          <a:prstGeom prst="rect">
            <a:avLst/>
          </a:prstGeom>
          <a:noFill/>
          <a:ln>
            <a:noFill/>
          </a:ln>
        </p:spPr>
      </p:pic>
      <p:sp>
        <p:nvSpPr>
          <p:cNvPr id="67" name="Google Shape;67;p6"/>
          <p:cNvSpPr/>
          <p:nvPr/>
        </p:nvSpPr>
        <p:spPr>
          <a:xfrm>
            <a:off x="7110743" y="2992107"/>
            <a:ext cx="753533" cy="477507"/>
          </a:xfrm>
          <a:prstGeom prst="roundRect">
            <a:avLst>
              <a:gd fmla="val 15958" name="adj"/>
            </a:avLst>
          </a:prstGeom>
          <a:solidFill>
            <a:srgbClr val="1B6F9E"/>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FFF8F0"/>
              </a:buClr>
              <a:buSzPts val="1400"/>
              <a:buFont typeface="Arial"/>
              <a:buNone/>
            </a:pPr>
            <a:r>
              <a:rPr b="1" i="0" lang="en-US" sz="1400" u="none" cap="none" strike="noStrike">
                <a:solidFill>
                  <a:srgbClr val="FFF8F0"/>
                </a:solidFill>
                <a:latin typeface="Arial"/>
                <a:ea typeface="Arial"/>
                <a:cs typeface="Arial"/>
                <a:sym typeface="Arial"/>
              </a:rPr>
              <a:t>Logic</a:t>
            </a:r>
            <a:endParaRPr b="0" i="0" sz="1400" u="none" cap="none" strike="noStrike">
              <a:solidFill>
                <a:schemeClr val="dk1"/>
              </a:solidFill>
              <a:latin typeface="Arial"/>
              <a:ea typeface="Arial"/>
              <a:cs typeface="Arial"/>
              <a:sym typeface="Arial"/>
            </a:endParaRPr>
          </a:p>
        </p:txBody>
      </p:sp>
      <p:pic>
        <p:nvPicPr>
          <p:cNvPr descr="arrow-right" id="68" name="Google Shape;68;p6"/>
          <p:cNvPicPr preferRelativeResize="0"/>
          <p:nvPr/>
        </p:nvPicPr>
        <p:blipFill rotWithShape="1">
          <a:blip r:embed="rId4">
            <a:alphaModFix/>
          </a:blip>
          <a:srcRect b="0" l="0" r="0" t="0"/>
          <a:stretch/>
        </p:blipFill>
        <p:spPr>
          <a:xfrm>
            <a:off x="7965877" y="3154628"/>
            <a:ext cx="279400" cy="152400"/>
          </a:xfrm>
          <a:prstGeom prst="rect">
            <a:avLst/>
          </a:prstGeom>
          <a:noFill/>
          <a:ln>
            <a:noFill/>
          </a:ln>
        </p:spPr>
      </p:pic>
      <p:sp>
        <p:nvSpPr>
          <p:cNvPr id="69" name="Google Shape;69;p6"/>
          <p:cNvSpPr/>
          <p:nvPr/>
        </p:nvSpPr>
        <p:spPr>
          <a:xfrm>
            <a:off x="8346877" y="2992107"/>
            <a:ext cx="1079368" cy="477507"/>
          </a:xfrm>
          <a:prstGeom prst="roundRect">
            <a:avLst>
              <a:gd fmla="val 15958" name="adj"/>
            </a:avLst>
          </a:prstGeom>
          <a:solidFill>
            <a:srgbClr val="B5462A"/>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FFF8F0"/>
              </a:buClr>
              <a:buSzPts val="1400"/>
              <a:buFont typeface="Arial"/>
              <a:buNone/>
            </a:pPr>
            <a:r>
              <a:rPr b="1" i="0" lang="en-US" sz="1400" u="none" cap="none" strike="noStrike">
                <a:solidFill>
                  <a:srgbClr val="FFF8F0"/>
                </a:solidFill>
                <a:latin typeface="Arial"/>
                <a:ea typeface="Arial"/>
                <a:cs typeface="Arial"/>
                <a:sym typeface="Arial"/>
              </a:rPr>
              <a:t>Flip-flops</a:t>
            </a:r>
            <a:endParaRPr b="0" i="0" sz="1400" u="none" cap="none" strike="noStrike">
              <a:solidFill>
                <a:schemeClr val="dk1"/>
              </a:solidFill>
              <a:latin typeface="Arial"/>
              <a:ea typeface="Arial"/>
              <a:cs typeface="Arial"/>
              <a:sym typeface="Arial"/>
            </a:endParaRPr>
          </a:p>
        </p:txBody>
      </p:sp>
      <p:pic>
        <p:nvPicPr>
          <p:cNvPr descr="arrow-right" id="70" name="Google Shape;70;p6"/>
          <p:cNvPicPr preferRelativeResize="0"/>
          <p:nvPr/>
        </p:nvPicPr>
        <p:blipFill rotWithShape="1">
          <a:blip r:embed="rId4">
            <a:alphaModFix/>
          </a:blip>
          <a:srcRect b="0" l="0" r="0" t="0"/>
          <a:stretch/>
        </p:blipFill>
        <p:spPr>
          <a:xfrm>
            <a:off x="9527845" y="3154628"/>
            <a:ext cx="279400" cy="152400"/>
          </a:xfrm>
          <a:prstGeom prst="rect">
            <a:avLst/>
          </a:prstGeom>
          <a:noFill/>
          <a:ln>
            <a:noFill/>
          </a:ln>
        </p:spPr>
      </p:pic>
      <p:sp>
        <p:nvSpPr>
          <p:cNvPr id="71" name="Google Shape;71;p6"/>
          <p:cNvSpPr/>
          <p:nvPr/>
        </p:nvSpPr>
        <p:spPr>
          <a:xfrm>
            <a:off x="9908845" y="3106407"/>
            <a:ext cx="297987" cy="274307"/>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4E52"/>
              </a:buClr>
              <a:buSzPts val="1400"/>
              <a:buFont typeface="Arial"/>
              <a:buNone/>
            </a:pPr>
            <a:r>
              <a:rPr b="0" i="0" lang="en-US" sz="1400" u="none" cap="none" strike="noStrike">
                <a:solidFill>
                  <a:srgbClr val="4A4E52"/>
                </a:solidFill>
                <a:latin typeface="Arial"/>
                <a:ea typeface="Arial"/>
                <a:cs typeface="Arial"/>
                <a:sym typeface="Arial"/>
              </a:rPr>
              <a:t>out</a:t>
            </a:r>
            <a:endParaRPr b="0" i="0" sz="1400" u="none" cap="none" strike="noStrike">
              <a:solidFill>
                <a:schemeClr val="dk1"/>
              </a:solidFill>
              <a:latin typeface="Arial"/>
              <a:ea typeface="Arial"/>
              <a:cs typeface="Arial"/>
              <a:sym typeface="Arial"/>
            </a:endParaRPr>
          </a:p>
        </p:txBody>
      </p:sp>
      <p:sp>
        <p:nvSpPr>
          <p:cNvPr id="72" name="Google Shape;72;p6"/>
          <p:cNvSpPr/>
          <p:nvPr/>
        </p:nvSpPr>
        <p:spPr>
          <a:xfrm>
            <a:off x="6566408" y="3622015"/>
            <a:ext cx="4664075" cy="939800"/>
          </a:xfrm>
          <a:prstGeom prst="rect">
            <a:avLst/>
          </a:prstGeom>
          <a:noFill/>
          <a:ln>
            <a:noFill/>
          </a:ln>
        </p:spPr>
        <p:txBody>
          <a:bodyPr anchorCtr="0" anchor="t" bIns="0" lIns="0" spcFirstLastPara="1" rIns="0" wrap="square" tIns="0">
            <a:noAutofit/>
          </a:bodyPr>
          <a:lstStyle/>
          <a:p>
            <a:pPr indent="-177292" lvl="0" marL="177292" marR="0" rtl="0" algn="l">
              <a:lnSpc>
                <a:spcPct val="150000"/>
              </a:lnSpc>
              <a:spcBef>
                <a:spcPts val="0"/>
              </a:spcBef>
              <a:spcAft>
                <a:spcPts val="0"/>
              </a:spcAft>
              <a:buClr>
                <a:srgbClr val="4A4E52"/>
              </a:buClr>
              <a:buSzPts val="1600"/>
              <a:buFont typeface="Arial"/>
              <a:buChar char="•"/>
            </a:pPr>
            <a:r>
              <a:rPr b="0" i="0" lang="en-US" sz="1600" u="none" cap="none" strike="noStrike">
                <a:solidFill>
                  <a:srgbClr val="4A4E52"/>
                </a:solidFill>
                <a:latin typeface="Arial"/>
                <a:ea typeface="Arial"/>
                <a:cs typeface="Arial"/>
                <a:sym typeface="Arial"/>
              </a:rPr>
              <a:t>Has memory (state)</a:t>
            </a:r>
            <a:endParaRPr b="0" i="0" sz="1600" u="none" cap="none" strike="noStrike">
              <a:solidFill>
                <a:schemeClr val="dk1"/>
              </a:solidFill>
              <a:latin typeface="Arial"/>
              <a:ea typeface="Arial"/>
              <a:cs typeface="Arial"/>
              <a:sym typeface="Arial"/>
            </a:endParaRPr>
          </a:p>
          <a:p>
            <a:pPr indent="-177292" lvl="0" marL="177292" marR="0" rtl="0" algn="l">
              <a:lnSpc>
                <a:spcPct val="150000"/>
              </a:lnSpc>
              <a:spcBef>
                <a:spcPts val="0"/>
              </a:spcBef>
              <a:spcAft>
                <a:spcPts val="0"/>
              </a:spcAft>
              <a:buClr>
                <a:srgbClr val="4A4E52"/>
              </a:buClr>
              <a:buSzPts val="1600"/>
              <a:buFont typeface="Arial"/>
              <a:buChar char="•"/>
            </a:pPr>
            <a:r>
              <a:rPr b="0" i="0" lang="en-US" sz="1600" u="none" cap="none" strike="noStrike">
                <a:solidFill>
                  <a:srgbClr val="4A4E52"/>
                </a:solidFill>
                <a:latin typeface="Arial"/>
                <a:ea typeface="Arial"/>
                <a:cs typeface="Arial"/>
                <a:sym typeface="Arial"/>
              </a:rPr>
              <a:t>Output depends on history too</a:t>
            </a:r>
            <a:endParaRPr b="0" i="0" sz="1600" u="none" cap="none" strike="noStrike">
              <a:solidFill>
                <a:schemeClr val="dk1"/>
              </a:solidFill>
              <a:latin typeface="Arial"/>
              <a:ea typeface="Arial"/>
              <a:cs typeface="Arial"/>
              <a:sym typeface="Arial"/>
            </a:endParaRPr>
          </a:p>
          <a:p>
            <a:pPr indent="-177292" lvl="0" marL="177292" marR="0" rtl="0" algn="l">
              <a:lnSpc>
                <a:spcPct val="150000"/>
              </a:lnSpc>
              <a:spcBef>
                <a:spcPts val="0"/>
              </a:spcBef>
              <a:spcAft>
                <a:spcPts val="0"/>
              </a:spcAft>
              <a:buClr>
                <a:srgbClr val="4A4E52"/>
              </a:buClr>
              <a:buSzPts val="1600"/>
              <a:buFont typeface="Arial"/>
              <a:buChar char="•"/>
            </a:pPr>
            <a:r>
              <a:rPr b="0" i="0" lang="en-US" sz="1600" u="none" cap="none" strike="noStrike">
                <a:solidFill>
                  <a:srgbClr val="4A4E52"/>
                </a:solidFill>
                <a:latin typeface="Arial"/>
                <a:ea typeface="Arial"/>
                <a:cs typeface="Arial"/>
                <a:sym typeface="Arial"/>
              </a:rPr>
              <a:t>Updates on a clock edge</a:t>
            </a:r>
            <a:endParaRPr b="0" i="0" sz="1600" u="none" cap="none" strike="noStrike">
              <a:solidFill>
                <a:schemeClr val="dk1"/>
              </a:solidFill>
              <a:latin typeface="Arial"/>
              <a:ea typeface="Arial"/>
              <a:cs typeface="Arial"/>
              <a:sym typeface="Arial"/>
            </a:endParaRPr>
          </a:p>
        </p:txBody>
      </p:sp>
      <p:sp>
        <p:nvSpPr>
          <p:cNvPr id="73" name="Google Shape;73;p6"/>
          <p:cNvSpPr/>
          <p:nvPr/>
        </p:nvSpPr>
        <p:spPr>
          <a:xfrm>
            <a:off x="10566400" y="6238280"/>
            <a:ext cx="812800" cy="23872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3C4043"/>
              </a:buClr>
              <a:buSzPts val="1200"/>
              <a:buFont typeface="Arial"/>
              <a:buNone/>
            </a:pPr>
            <a:r>
              <a:rPr b="0" i="0" lang="en-US" sz="1200" u="none" cap="none" strike="noStrike">
                <a:solidFill>
                  <a:srgbClr val="3C4043"/>
                </a:solidFill>
                <a:latin typeface="Arial"/>
                <a:ea typeface="Arial"/>
                <a:cs typeface="Arial"/>
                <a:sym typeface="Arial"/>
              </a:rPr>
              <a:t>3</a:t>
            </a:r>
            <a:endParaRPr b="0" i="0" sz="1200" u="none" cap="none" strike="noStrike">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0DC"/>
        </a:solidFill>
      </p:bgPr>
    </p:bg>
    <p:spTree>
      <p:nvGrpSpPr>
        <p:cNvPr id="78" name="Shape 78"/>
        <p:cNvGrpSpPr/>
        <p:nvPr/>
      </p:nvGrpSpPr>
      <p:grpSpPr>
        <a:xfrm>
          <a:off x="0" y="0"/>
          <a:ext cx="0" cy="0"/>
          <a:chOff x="0" y="0"/>
          <a:chExt cx="0" cy="0"/>
        </a:xfrm>
      </p:grpSpPr>
      <p:sp>
        <p:nvSpPr>
          <p:cNvPr id="79" name="Google Shape;79;p7"/>
          <p:cNvSpPr/>
          <p:nvPr/>
        </p:nvSpPr>
        <p:spPr>
          <a:xfrm>
            <a:off x="368300" y="368300"/>
            <a:ext cx="11455400" cy="6134100"/>
          </a:xfrm>
          <a:prstGeom prst="roundRect">
            <a:avLst>
              <a:gd fmla="val 9110" name="adj"/>
            </a:avLst>
          </a:prstGeom>
          <a:solidFill>
            <a:srgbClr val="FFF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7"/>
          <p:cNvSpPr/>
          <p:nvPr/>
        </p:nvSpPr>
        <p:spPr>
          <a:xfrm>
            <a:off x="368300" y="368300"/>
            <a:ext cx="11455400" cy="6134100"/>
          </a:xfrm>
          <a:custGeom>
            <a:rect b="b" l="l" r="r" t="t"/>
            <a:pathLst>
              <a:path extrusionOk="0" h="6134100" w="11455400">
                <a:moveTo>
                  <a:pt x="558800" y="6134100"/>
                </a:moveTo>
                <a:lnTo>
                  <a:pt x="558800" y="6134100"/>
                </a:lnTo>
                <a:cubicBezTo>
                  <a:pt x="250183" y="6134100"/>
                  <a:pt x="0" y="5883917"/>
                  <a:pt x="0" y="5575300"/>
                </a:cubicBezTo>
                <a:lnTo>
                  <a:pt x="0" y="558800"/>
                </a:lnTo>
                <a:cubicBezTo>
                  <a:pt x="0" y="250183"/>
                  <a:pt x="250183" y="0"/>
                  <a:pt x="558800" y="0"/>
                </a:cubicBezTo>
                <a:lnTo>
                  <a:pt x="558800" y="0"/>
                </a:lnTo>
                <a:cubicBezTo>
                  <a:pt x="306295" y="0"/>
                  <a:pt x="101600" y="250183"/>
                  <a:pt x="101600" y="558800"/>
                </a:cubicBezTo>
                <a:lnTo>
                  <a:pt x="101600" y="5575300"/>
                </a:lnTo>
                <a:cubicBezTo>
                  <a:pt x="101600" y="5883917"/>
                  <a:pt x="306295" y="6134100"/>
                  <a:pt x="558800" y="6134100"/>
                </a:cubicBezTo>
                <a:close/>
              </a:path>
            </a:pathLst>
          </a:custGeom>
          <a:solidFill>
            <a:srgbClr val="1B6F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RIEEE logo" id="81" name="Google Shape;81;p7"/>
          <p:cNvPicPr preferRelativeResize="0"/>
          <p:nvPr/>
        </p:nvPicPr>
        <p:blipFill rotWithShape="1">
          <a:blip r:embed="rId3">
            <a:alphaModFix/>
          </a:blip>
          <a:srcRect b="0" l="-531" r="-531" t="0"/>
          <a:stretch/>
        </p:blipFill>
        <p:spPr>
          <a:xfrm>
            <a:off x="76200" y="50800"/>
            <a:ext cx="1244600" cy="317500"/>
          </a:xfrm>
          <a:prstGeom prst="rect">
            <a:avLst/>
          </a:prstGeom>
          <a:noFill/>
          <a:ln>
            <a:noFill/>
          </a:ln>
        </p:spPr>
      </p:pic>
      <p:pic>
        <p:nvPicPr>
          <p:cNvPr descr="line" id="82" name="Google Shape;82;p7"/>
          <p:cNvPicPr preferRelativeResize="0"/>
          <p:nvPr/>
        </p:nvPicPr>
        <p:blipFill rotWithShape="1">
          <a:blip r:embed="rId4">
            <a:alphaModFix/>
          </a:blip>
          <a:srcRect b="0" l="0" r="0" t="0"/>
          <a:stretch/>
        </p:blipFill>
        <p:spPr>
          <a:xfrm>
            <a:off x="1066800" y="1054100"/>
            <a:ext cx="10071100" cy="25400"/>
          </a:xfrm>
          <a:prstGeom prst="rect">
            <a:avLst/>
          </a:prstGeom>
          <a:noFill/>
          <a:ln>
            <a:noFill/>
          </a:ln>
        </p:spPr>
      </p:pic>
      <p:sp>
        <p:nvSpPr>
          <p:cNvPr id="83" name="Google Shape;83;p7"/>
          <p:cNvSpPr/>
          <p:nvPr/>
        </p:nvSpPr>
        <p:spPr>
          <a:xfrm>
            <a:off x="1066800" y="3429000"/>
            <a:ext cx="5232400" cy="345414"/>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B6F9E"/>
              </a:buClr>
              <a:buSzPts val="1800"/>
              <a:buFont typeface="Arial"/>
              <a:buNone/>
            </a:pPr>
            <a:r>
              <a:rPr b="1" i="0" lang="en-US" sz="1800" u="none" cap="none" strike="noStrike">
                <a:solidFill>
                  <a:srgbClr val="1B6F9E"/>
                </a:solidFill>
                <a:latin typeface="Arial"/>
                <a:ea typeface="Arial"/>
                <a:cs typeface="Arial"/>
                <a:sym typeface="Arial"/>
              </a:rPr>
              <a:t>PART 1</a:t>
            </a:r>
            <a:endParaRPr b="0" i="0" sz="1800" u="none" cap="none" strike="noStrike">
              <a:solidFill>
                <a:schemeClr val="dk1"/>
              </a:solidFill>
              <a:latin typeface="Arial"/>
              <a:ea typeface="Arial"/>
              <a:cs typeface="Arial"/>
              <a:sym typeface="Arial"/>
            </a:endParaRPr>
          </a:p>
        </p:txBody>
      </p:sp>
      <p:sp>
        <p:nvSpPr>
          <p:cNvPr id="84" name="Google Shape;84;p7"/>
          <p:cNvSpPr txBox="1"/>
          <p:nvPr>
            <p:ph type="title"/>
          </p:nvPr>
        </p:nvSpPr>
        <p:spPr>
          <a:xfrm>
            <a:off x="1028700" y="3810000"/>
            <a:ext cx="10464800" cy="878814"/>
          </a:xfrm>
          <a:prstGeom prst="rect">
            <a:avLst/>
          </a:prstGeom>
          <a:noFill/>
          <a:ln>
            <a:noFill/>
          </a:ln>
        </p:spPr>
        <p:txBody>
          <a:bodyPr anchorCtr="0" anchor="t" bIns="0" lIns="0" spcFirstLastPara="1" rIns="0" wrap="square" tIns="0">
            <a:normAutofit/>
          </a:bodyPr>
          <a:lstStyle/>
          <a:p>
            <a:pPr indent="0" lvl="0" marL="0" rtl="0" algn="l">
              <a:lnSpc>
                <a:spcPct val="104999"/>
              </a:lnSpc>
              <a:spcBef>
                <a:spcPts val="0"/>
              </a:spcBef>
              <a:spcAft>
                <a:spcPts val="0"/>
              </a:spcAft>
              <a:buClr>
                <a:srgbClr val="3C4043"/>
              </a:buClr>
              <a:buSzPts val="6400"/>
              <a:buFont typeface="Arial"/>
              <a:buNone/>
            </a:pPr>
            <a:r>
              <a:rPr b="0" i="0" lang="en-US" sz="6400">
                <a:solidFill>
                  <a:srgbClr val="3C4043"/>
                </a:solidFill>
                <a:latin typeface="Arial"/>
                <a:ea typeface="Arial"/>
                <a:cs typeface="Arial"/>
                <a:sym typeface="Arial"/>
              </a:rPr>
              <a:t>Combinational Logic</a:t>
            </a:r>
            <a:endParaRPr sz="6400"/>
          </a:p>
        </p:txBody>
      </p:sp>
      <p:sp>
        <p:nvSpPr>
          <p:cNvPr id="85" name="Google Shape;85;p7"/>
          <p:cNvSpPr/>
          <p:nvPr/>
        </p:nvSpPr>
        <p:spPr>
          <a:xfrm>
            <a:off x="1066800" y="4826000"/>
            <a:ext cx="9810750" cy="4165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4E52"/>
              </a:buClr>
              <a:buSzPts val="2200"/>
              <a:buFont typeface="Arial"/>
              <a:buNone/>
            </a:pPr>
            <a:r>
              <a:rPr b="0" i="0" lang="en-US" sz="2200" u="none" cap="none" strike="noStrike">
                <a:solidFill>
                  <a:srgbClr val="4A4E52"/>
                </a:solidFill>
                <a:latin typeface="Arial"/>
                <a:ea typeface="Arial"/>
                <a:cs typeface="Arial"/>
                <a:sym typeface="Arial"/>
              </a:rPr>
              <a:t>Circuits with no memory</a:t>
            </a:r>
            <a:endParaRPr b="0" i="0" sz="2200" u="none" cap="none" strike="noStrike">
              <a:solidFill>
                <a:schemeClr val="dk1"/>
              </a:solidFill>
              <a:latin typeface="Arial"/>
              <a:ea typeface="Arial"/>
              <a:cs typeface="Arial"/>
              <a:sym typeface="Arial"/>
            </a:endParaRPr>
          </a:p>
        </p:txBody>
      </p:sp>
      <p:pic>
        <p:nvPicPr>
          <p:cNvPr descr="line" id="86" name="Google Shape;86;p7"/>
          <p:cNvPicPr preferRelativeResize="0"/>
          <p:nvPr/>
        </p:nvPicPr>
        <p:blipFill rotWithShape="1">
          <a:blip r:embed="rId4">
            <a:alphaModFix/>
          </a:blip>
          <a:srcRect b="0" l="0" r="0" t="0"/>
          <a:stretch/>
        </p:blipFill>
        <p:spPr>
          <a:xfrm>
            <a:off x="1066800" y="6019800"/>
            <a:ext cx="10071100" cy="25400"/>
          </a:xfrm>
          <a:prstGeom prst="rect">
            <a:avLst/>
          </a:prstGeom>
          <a:noFill/>
          <a:ln>
            <a:noFill/>
          </a:ln>
        </p:spPr>
      </p:pic>
      <p:sp>
        <p:nvSpPr>
          <p:cNvPr id="87" name="Google Shape;87;p7"/>
          <p:cNvSpPr/>
          <p:nvPr/>
        </p:nvSpPr>
        <p:spPr>
          <a:xfrm>
            <a:off x="10566400" y="6238280"/>
            <a:ext cx="812800" cy="23872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3C4043"/>
              </a:buClr>
              <a:buSzPts val="1200"/>
              <a:buFont typeface="Arial"/>
              <a:buNone/>
            </a:pPr>
            <a:r>
              <a:rPr b="0" i="0" lang="en-US" sz="1200" u="none" cap="none" strike="noStrike">
                <a:solidFill>
                  <a:srgbClr val="3C4043"/>
                </a:solidFill>
                <a:latin typeface="Arial"/>
                <a:ea typeface="Arial"/>
                <a:cs typeface="Arial"/>
                <a:sym typeface="Arial"/>
              </a:rPr>
              <a:t>4</a:t>
            </a:r>
            <a:endParaRPr b="0" i="0" sz="1200" u="none" cap="none" strike="noStrike">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0DC"/>
        </a:solidFill>
      </p:bgPr>
    </p:bg>
    <p:spTree>
      <p:nvGrpSpPr>
        <p:cNvPr id="92" name="Shape 92"/>
        <p:cNvGrpSpPr/>
        <p:nvPr/>
      </p:nvGrpSpPr>
      <p:grpSpPr>
        <a:xfrm>
          <a:off x="0" y="0"/>
          <a:ext cx="0" cy="0"/>
          <a:chOff x="0" y="0"/>
          <a:chExt cx="0" cy="0"/>
        </a:xfrm>
      </p:grpSpPr>
      <p:sp>
        <p:nvSpPr>
          <p:cNvPr id="93" name="Google Shape;93;p8"/>
          <p:cNvSpPr/>
          <p:nvPr/>
        </p:nvSpPr>
        <p:spPr>
          <a:xfrm>
            <a:off x="114300" y="114300"/>
            <a:ext cx="5886450" cy="381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C4043"/>
              </a:buClr>
              <a:buSzPts val="2000"/>
              <a:buFont typeface="Arial"/>
              <a:buNone/>
            </a:pPr>
            <a:r>
              <a:rPr b="0" i="0" lang="en-US" sz="2000" u="none" cap="none" strike="noStrike">
                <a:solidFill>
                  <a:srgbClr val="3C4043"/>
                </a:solidFill>
                <a:latin typeface="Arial"/>
                <a:ea typeface="Arial"/>
                <a:cs typeface="Arial"/>
                <a:sym typeface="Arial"/>
              </a:rPr>
              <a:t>Combinational Logic</a:t>
            </a:r>
            <a:endParaRPr b="0" i="0" sz="2000" u="none" cap="none" strike="noStrike">
              <a:solidFill>
                <a:schemeClr val="dk1"/>
              </a:solidFill>
              <a:latin typeface="Arial"/>
              <a:ea typeface="Arial"/>
              <a:cs typeface="Arial"/>
              <a:sym typeface="Arial"/>
            </a:endParaRPr>
          </a:p>
        </p:txBody>
      </p:sp>
      <p:sp>
        <p:nvSpPr>
          <p:cNvPr id="94" name="Google Shape;94;p8"/>
          <p:cNvSpPr txBox="1"/>
          <p:nvPr>
            <p:ph type="title"/>
          </p:nvPr>
        </p:nvSpPr>
        <p:spPr>
          <a:xfrm>
            <a:off x="736600" y="762000"/>
            <a:ext cx="10961878" cy="5842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3C4043"/>
              </a:buClr>
              <a:buSzPts val="4000"/>
              <a:buFont typeface="Arial"/>
              <a:buNone/>
            </a:pPr>
            <a:r>
              <a:rPr b="0" i="0" lang="en-US" sz="4000">
                <a:solidFill>
                  <a:srgbClr val="3C4043"/>
                </a:solidFill>
                <a:latin typeface="Arial"/>
                <a:ea typeface="Arial"/>
                <a:cs typeface="Arial"/>
                <a:sym typeface="Arial"/>
              </a:rPr>
              <a:t>Output Depends Only on Current Inputs</a:t>
            </a:r>
            <a:endParaRPr sz="4000"/>
          </a:p>
        </p:txBody>
      </p:sp>
      <p:pic>
        <p:nvPicPr>
          <p:cNvPr descr="line" id="95" name="Google Shape;95;p8"/>
          <p:cNvPicPr preferRelativeResize="0"/>
          <p:nvPr/>
        </p:nvPicPr>
        <p:blipFill rotWithShape="1">
          <a:blip r:embed="rId3">
            <a:alphaModFix/>
          </a:blip>
          <a:srcRect b="0" l="0" r="0" t="0"/>
          <a:stretch/>
        </p:blipFill>
        <p:spPr>
          <a:xfrm>
            <a:off x="736600" y="1524000"/>
            <a:ext cx="10642600" cy="12700"/>
          </a:xfrm>
          <a:prstGeom prst="rect">
            <a:avLst/>
          </a:prstGeom>
          <a:noFill/>
          <a:ln>
            <a:noFill/>
          </a:ln>
        </p:spPr>
      </p:pic>
      <p:sp>
        <p:nvSpPr>
          <p:cNvPr id="96" name="Google Shape;96;p8"/>
          <p:cNvSpPr/>
          <p:nvPr/>
        </p:nvSpPr>
        <p:spPr>
          <a:xfrm>
            <a:off x="792734" y="1739900"/>
            <a:ext cx="4907026" cy="2082800"/>
          </a:xfrm>
          <a:prstGeom prst="rect">
            <a:avLst/>
          </a:prstGeom>
          <a:noFill/>
          <a:ln>
            <a:noFill/>
          </a:ln>
        </p:spPr>
        <p:txBody>
          <a:bodyPr anchorCtr="0" anchor="t" bIns="0" lIns="0" spcFirstLastPara="1" rIns="0" wrap="square" tIns="0">
            <a:noAutofit/>
          </a:bodyPr>
          <a:lstStyle/>
          <a:p>
            <a:pPr indent="-197866" lvl="0" marL="197866" marR="0" rtl="0" algn="l">
              <a:lnSpc>
                <a:spcPct val="150000"/>
              </a:lnSpc>
              <a:spcBef>
                <a:spcPts val="0"/>
              </a:spcBef>
              <a:spcAft>
                <a:spcPts val="0"/>
              </a:spcAft>
              <a:buClr>
                <a:srgbClr val="3C4043"/>
              </a:buClr>
              <a:buSzPts val="1800"/>
              <a:buFont typeface="Arial"/>
              <a:buChar char="•"/>
            </a:pPr>
            <a:r>
              <a:rPr b="0" i="0" lang="en-US" sz="1800" u="none" cap="none" strike="noStrike">
                <a:solidFill>
                  <a:srgbClr val="3C4043"/>
                </a:solidFill>
                <a:latin typeface="Arial"/>
                <a:ea typeface="Arial"/>
                <a:cs typeface="Arial"/>
                <a:sym typeface="Arial"/>
              </a:rPr>
              <a:t>Change an input → output changes after a tiny gate delay</a:t>
            </a:r>
            <a:endParaRPr b="0" i="0" sz="1800" u="none" cap="none" strike="noStrike">
              <a:solidFill>
                <a:schemeClr val="dk1"/>
              </a:solidFill>
              <a:latin typeface="Arial"/>
              <a:ea typeface="Arial"/>
              <a:cs typeface="Arial"/>
              <a:sym typeface="Arial"/>
            </a:endParaRPr>
          </a:p>
          <a:p>
            <a:pPr indent="-197866" lvl="0" marL="197866" marR="0" rtl="0" algn="l">
              <a:lnSpc>
                <a:spcPct val="150000"/>
              </a:lnSpc>
              <a:spcBef>
                <a:spcPts val="0"/>
              </a:spcBef>
              <a:spcAft>
                <a:spcPts val="0"/>
              </a:spcAft>
              <a:buClr>
                <a:srgbClr val="3C4043"/>
              </a:buClr>
              <a:buSzPts val="1800"/>
              <a:buFont typeface="Arial"/>
              <a:buChar char="•"/>
            </a:pPr>
            <a:r>
              <a:rPr b="0" i="0" lang="en-US" sz="1800" u="none" cap="none" strike="noStrike">
                <a:solidFill>
                  <a:srgbClr val="3C4043"/>
                </a:solidFill>
                <a:latin typeface="Arial"/>
                <a:ea typeface="Arial"/>
                <a:cs typeface="Arial"/>
                <a:sym typeface="Arial"/>
              </a:rPr>
              <a:t>No clock, no stored value</a:t>
            </a:r>
            <a:endParaRPr b="0" i="0" sz="1800" u="none" cap="none" strike="noStrike">
              <a:solidFill>
                <a:schemeClr val="dk1"/>
              </a:solidFill>
              <a:latin typeface="Arial"/>
              <a:ea typeface="Arial"/>
              <a:cs typeface="Arial"/>
              <a:sym typeface="Arial"/>
            </a:endParaRPr>
          </a:p>
          <a:p>
            <a:pPr indent="-197866" lvl="0" marL="197866" marR="0" rtl="0" algn="l">
              <a:lnSpc>
                <a:spcPct val="150000"/>
              </a:lnSpc>
              <a:spcBef>
                <a:spcPts val="0"/>
              </a:spcBef>
              <a:spcAft>
                <a:spcPts val="0"/>
              </a:spcAft>
              <a:buClr>
                <a:srgbClr val="3C4043"/>
              </a:buClr>
              <a:buSzPts val="1800"/>
              <a:buFont typeface="Arial"/>
              <a:buChar char="•"/>
            </a:pPr>
            <a:r>
              <a:rPr b="0" i="0" lang="en-US" sz="1800" u="none" cap="none" strike="noStrike">
                <a:solidFill>
                  <a:srgbClr val="3C4043"/>
                </a:solidFill>
                <a:latin typeface="Arial"/>
                <a:ea typeface="Arial"/>
                <a:cs typeface="Arial"/>
                <a:sym typeface="Arial"/>
              </a:rPr>
              <a:t>Any truth table can be built this way</a:t>
            </a:r>
            <a:endParaRPr b="0" i="0" sz="1800" u="none" cap="none" strike="noStrike">
              <a:solidFill>
                <a:schemeClr val="dk1"/>
              </a:solidFill>
              <a:latin typeface="Arial"/>
              <a:ea typeface="Arial"/>
              <a:cs typeface="Arial"/>
              <a:sym typeface="Arial"/>
            </a:endParaRPr>
          </a:p>
          <a:p>
            <a:pPr indent="-197866" lvl="0" marL="197866" marR="0" rtl="0" algn="l">
              <a:lnSpc>
                <a:spcPct val="150000"/>
              </a:lnSpc>
              <a:spcBef>
                <a:spcPts val="0"/>
              </a:spcBef>
              <a:spcAft>
                <a:spcPts val="0"/>
              </a:spcAft>
              <a:buClr>
                <a:srgbClr val="3C4043"/>
              </a:buClr>
              <a:buSzPts val="1800"/>
              <a:buFont typeface="Arial"/>
              <a:buChar char="•"/>
            </a:pPr>
            <a:r>
              <a:rPr b="0" i="0" lang="en-US" sz="1800" u="none" cap="none" strike="noStrike">
                <a:solidFill>
                  <a:srgbClr val="3C4043"/>
                </a:solidFill>
                <a:latin typeface="Arial"/>
                <a:ea typeface="Arial"/>
                <a:cs typeface="Arial"/>
                <a:sym typeface="Arial"/>
              </a:rPr>
              <a:t>In SystemVerilog: </a:t>
            </a:r>
            <a:r>
              <a:rPr b="1" i="0" lang="en-US" sz="1800" u="none" cap="none" strike="noStrike">
                <a:solidFill>
                  <a:srgbClr val="3C4043"/>
                </a:solidFill>
                <a:latin typeface="Arial"/>
                <a:ea typeface="Arial"/>
                <a:cs typeface="Arial"/>
                <a:sym typeface="Arial"/>
              </a:rPr>
              <a:t>assign</a:t>
            </a:r>
            <a:r>
              <a:rPr b="0" i="0" lang="en-US" sz="1800" u="none" cap="none" strike="noStrike">
                <a:solidFill>
                  <a:srgbClr val="3C4043"/>
                </a:solidFill>
                <a:latin typeface="Arial"/>
                <a:ea typeface="Arial"/>
                <a:cs typeface="Arial"/>
                <a:sym typeface="Arial"/>
              </a:rPr>
              <a:t> or </a:t>
            </a:r>
            <a:r>
              <a:rPr b="1" i="0" lang="en-US" sz="1800" u="none" cap="none" strike="noStrike">
                <a:solidFill>
                  <a:srgbClr val="3C4043"/>
                </a:solidFill>
                <a:latin typeface="Arial"/>
                <a:ea typeface="Arial"/>
                <a:cs typeface="Arial"/>
                <a:sym typeface="Arial"/>
              </a:rPr>
              <a:t>always_comb</a:t>
            </a:r>
            <a:r>
              <a:rPr b="0" i="0" lang="en-US" sz="1800" u="none" cap="none" strike="noStrike">
                <a:solidFill>
                  <a:srgbClr val="3C4043"/>
                </a:solidFill>
                <a:latin typeface="Arial"/>
                <a:ea typeface="Arial"/>
                <a:cs typeface="Arial"/>
                <a:sym typeface="Arial"/>
              </a:rPr>
              <a:t> with blocking </a:t>
            </a:r>
            <a:r>
              <a:rPr b="1" i="0" lang="en-US" sz="1800" u="none" cap="none" strike="noStrike">
                <a:solidFill>
                  <a:srgbClr val="3C4043"/>
                </a:solidFill>
                <a:latin typeface="Arial"/>
                <a:ea typeface="Arial"/>
                <a:cs typeface="Arial"/>
                <a:sym typeface="Arial"/>
              </a:rPr>
              <a:t>=</a:t>
            </a:r>
            <a:endParaRPr b="0" i="0" sz="1800" u="none" cap="none" strike="noStrike">
              <a:solidFill>
                <a:schemeClr val="dk1"/>
              </a:solidFill>
              <a:latin typeface="Arial"/>
              <a:ea typeface="Arial"/>
              <a:cs typeface="Arial"/>
              <a:sym typeface="Arial"/>
            </a:endParaRPr>
          </a:p>
        </p:txBody>
      </p:sp>
      <p:sp>
        <p:nvSpPr>
          <p:cNvPr id="97" name="Google Shape;97;p8"/>
          <p:cNvSpPr/>
          <p:nvPr/>
        </p:nvSpPr>
        <p:spPr>
          <a:xfrm>
            <a:off x="5969000" y="1739900"/>
            <a:ext cx="5410200" cy="2312392"/>
          </a:xfrm>
          <a:prstGeom prst="roundRect">
            <a:avLst>
              <a:gd fmla="val 6591" name="adj"/>
            </a:avLst>
          </a:prstGeom>
          <a:solidFill>
            <a:srgbClr val="2F3237"/>
          </a:solidFill>
          <a:ln>
            <a:noFill/>
          </a:ln>
        </p:spPr>
        <p:txBody>
          <a:bodyPr anchorCtr="0" anchor="t" bIns="183950" lIns="234750" spcFirstLastPara="1" rIns="89200" wrap="square" tIns="209350">
            <a:noAutofit/>
          </a:bodyPr>
          <a:lstStyle/>
          <a:p>
            <a:pPr indent="0" lvl="0" marL="0" marR="0" rtl="0" algn="l">
              <a:lnSpc>
                <a:spcPct val="145000"/>
              </a:lnSpc>
              <a:spcBef>
                <a:spcPts val="0"/>
              </a:spcBef>
              <a:spcAft>
                <a:spcPts val="0"/>
              </a:spcAft>
              <a:buClr>
                <a:srgbClr val="A9C4D6"/>
              </a:buClr>
              <a:buSzPts val="1400"/>
              <a:buFont typeface="Courier New"/>
              <a:buNone/>
            </a:pPr>
            <a:r>
              <a:rPr b="0" i="0" lang="en-US" sz="1400" u="none" cap="none" strike="noStrike">
                <a:solidFill>
                  <a:srgbClr val="A9C4D6"/>
                </a:solidFill>
                <a:latin typeface="Courier New"/>
                <a:ea typeface="Courier New"/>
                <a:cs typeface="Courier New"/>
                <a:sym typeface="Courier New"/>
              </a:rPr>
              <a:t>// continuous assignment</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assign y = (a &amp; b) | c;</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A9C4D6"/>
              </a:buClr>
              <a:buSzPts val="1400"/>
              <a:buFont typeface="Courier New"/>
              <a:buNone/>
            </a:pPr>
            <a:r>
              <a:rPr b="0" i="0" lang="en-US" sz="1400" u="none" cap="none" strike="noStrike">
                <a:solidFill>
                  <a:srgbClr val="A9C4D6"/>
                </a:solidFill>
                <a:latin typeface="Courier New"/>
                <a:ea typeface="Courier New"/>
                <a:cs typeface="Courier New"/>
                <a:sym typeface="Courier New"/>
              </a:rPr>
              <a:t>// same logic, procedural style</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always_comb begin</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  y = (a &amp; b) | c;</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end</a:t>
            </a:r>
            <a:endParaRPr b="0" i="0" sz="1400" u="none" cap="none" strike="noStrike">
              <a:solidFill>
                <a:schemeClr val="dk1"/>
              </a:solidFill>
              <a:latin typeface="Arial"/>
              <a:ea typeface="Arial"/>
              <a:cs typeface="Arial"/>
              <a:sym typeface="Arial"/>
            </a:endParaRPr>
          </a:p>
        </p:txBody>
      </p:sp>
      <p:sp>
        <p:nvSpPr>
          <p:cNvPr id="98" name="Google Shape;98;p8"/>
          <p:cNvSpPr/>
          <p:nvPr/>
        </p:nvSpPr>
        <p:spPr>
          <a:xfrm>
            <a:off x="10566400" y="6238280"/>
            <a:ext cx="812800" cy="23872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3C4043"/>
              </a:buClr>
              <a:buSzPts val="1200"/>
              <a:buFont typeface="Arial"/>
              <a:buNone/>
            </a:pPr>
            <a:r>
              <a:rPr b="0" i="0" lang="en-US" sz="1200" u="none" cap="none" strike="noStrike">
                <a:solidFill>
                  <a:srgbClr val="3C4043"/>
                </a:solidFill>
                <a:latin typeface="Arial"/>
                <a:ea typeface="Arial"/>
                <a:cs typeface="Arial"/>
                <a:sym typeface="Arial"/>
              </a:rPr>
              <a:t>5</a:t>
            </a:r>
            <a:endParaRPr b="0" i="0" sz="1200" u="none" cap="none" strike="noStrike">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DF0DC"/>
        </a:solidFill>
      </p:bgPr>
    </p:bg>
    <p:spTree>
      <p:nvGrpSpPr>
        <p:cNvPr id="103" name="Shape 103"/>
        <p:cNvGrpSpPr/>
        <p:nvPr/>
      </p:nvGrpSpPr>
      <p:grpSpPr>
        <a:xfrm>
          <a:off x="0" y="0"/>
          <a:ext cx="0" cy="0"/>
          <a:chOff x="0" y="0"/>
          <a:chExt cx="0" cy="0"/>
        </a:xfrm>
      </p:grpSpPr>
      <p:sp>
        <p:nvSpPr>
          <p:cNvPr id="104" name="Google Shape;104;p9"/>
          <p:cNvSpPr/>
          <p:nvPr/>
        </p:nvSpPr>
        <p:spPr>
          <a:xfrm>
            <a:off x="114300" y="114300"/>
            <a:ext cx="5886450" cy="381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C4043"/>
              </a:buClr>
              <a:buSzPts val="2000"/>
              <a:buFont typeface="Arial"/>
              <a:buNone/>
            </a:pPr>
            <a:r>
              <a:rPr b="0" i="0" lang="en-US" sz="2000" u="none" cap="none" strike="noStrike">
                <a:solidFill>
                  <a:srgbClr val="3C4043"/>
                </a:solidFill>
                <a:latin typeface="Arial"/>
                <a:ea typeface="Arial"/>
                <a:cs typeface="Arial"/>
                <a:sym typeface="Arial"/>
              </a:rPr>
              <a:t>Combinational Logic</a:t>
            </a:r>
            <a:endParaRPr b="0" i="0" sz="2000" u="none" cap="none" strike="noStrike">
              <a:solidFill>
                <a:schemeClr val="dk1"/>
              </a:solidFill>
              <a:latin typeface="Arial"/>
              <a:ea typeface="Arial"/>
              <a:cs typeface="Arial"/>
              <a:sym typeface="Arial"/>
            </a:endParaRPr>
          </a:p>
        </p:txBody>
      </p:sp>
      <p:sp>
        <p:nvSpPr>
          <p:cNvPr id="105" name="Google Shape;105;p9"/>
          <p:cNvSpPr txBox="1"/>
          <p:nvPr>
            <p:ph type="title"/>
          </p:nvPr>
        </p:nvSpPr>
        <p:spPr>
          <a:xfrm>
            <a:off x="736600" y="762000"/>
            <a:ext cx="10961878" cy="5842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3C4043"/>
              </a:buClr>
              <a:buSzPts val="4000"/>
              <a:buFont typeface="Arial"/>
              <a:buNone/>
            </a:pPr>
            <a:r>
              <a:rPr b="0" i="0" lang="en-US" sz="4000">
                <a:solidFill>
                  <a:srgbClr val="3C4043"/>
                </a:solidFill>
                <a:latin typeface="Arial"/>
                <a:ea typeface="Arial"/>
                <a:cs typeface="Arial"/>
                <a:sym typeface="Arial"/>
              </a:rPr>
              <a:t>Multiplexers</a:t>
            </a:r>
            <a:endParaRPr sz="4000"/>
          </a:p>
        </p:txBody>
      </p:sp>
      <p:pic>
        <p:nvPicPr>
          <p:cNvPr descr="line" id="106" name="Google Shape;106;p9"/>
          <p:cNvPicPr preferRelativeResize="0"/>
          <p:nvPr/>
        </p:nvPicPr>
        <p:blipFill rotWithShape="1">
          <a:blip r:embed="rId3">
            <a:alphaModFix/>
          </a:blip>
          <a:srcRect b="0" l="0" r="0" t="0"/>
          <a:stretch/>
        </p:blipFill>
        <p:spPr>
          <a:xfrm>
            <a:off x="736600" y="1524000"/>
            <a:ext cx="10642600" cy="12700"/>
          </a:xfrm>
          <a:prstGeom prst="rect">
            <a:avLst/>
          </a:prstGeom>
          <a:noFill/>
          <a:ln>
            <a:noFill/>
          </a:ln>
        </p:spPr>
      </p:pic>
      <p:sp>
        <p:nvSpPr>
          <p:cNvPr id="107" name="Google Shape;107;p9"/>
          <p:cNvSpPr/>
          <p:nvPr/>
        </p:nvSpPr>
        <p:spPr>
          <a:xfrm>
            <a:off x="736600" y="1739900"/>
            <a:ext cx="4970780" cy="688314"/>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3C4043"/>
              </a:buClr>
              <a:buSzPts val="1800"/>
              <a:buFont typeface="Arial"/>
              <a:buNone/>
            </a:pPr>
            <a:r>
              <a:rPr b="0" i="0" lang="en-US" sz="1800" u="none" cap="none" strike="noStrike">
                <a:solidFill>
                  <a:srgbClr val="3C4043"/>
                </a:solidFill>
                <a:latin typeface="Arial"/>
                <a:ea typeface="Arial"/>
                <a:cs typeface="Arial"/>
                <a:sym typeface="Arial"/>
              </a:rPr>
              <a:t>A digital switch: </a:t>
            </a:r>
            <a:r>
              <a:rPr b="1" i="0" lang="en-US" sz="1800" u="none" cap="none" strike="noStrike">
                <a:solidFill>
                  <a:srgbClr val="3C4043"/>
                </a:solidFill>
                <a:latin typeface="Arial"/>
                <a:ea typeface="Arial"/>
                <a:cs typeface="Arial"/>
                <a:sym typeface="Arial"/>
              </a:rPr>
              <a:t>select</a:t>
            </a:r>
            <a:r>
              <a:rPr b="0" i="0" lang="en-US" sz="1800" u="none" cap="none" strike="noStrike">
                <a:solidFill>
                  <a:srgbClr val="3C4043"/>
                </a:solidFill>
                <a:latin typeface="Arial"/>
                <a:ea typeface="Arial"/>
                <a:cs typeface="Arial"/>
                <a:sym typeface="Arial"/>
              </a:rPr>
              <a:t> bits choose which input reaches the output.</a:t>
            </a:r>
            <a:endParaRPr b="0" i="0" sz="1800" u="none" cap="none" strike="noStrike">
              <a:solidFill>
                <a:schemeClr val="dk1"/>
              </a:solidFill>
              <a:latin typeface="Arial"/>
              <a:ea typeface="Arial"/>
              <a:cs typeface="Arial"/>
              <a:sym typeface="Arial"/>
            </a:endParaRPr>
          </a:p>
        </p:txBody>
      </p:sp>
      <p:sp>
        <p:nvSpPr>
          <p:cNvPr id="108" name="Google Shape;108;p9"/>
          <p:cNvSpPr/>
          <p:nvPr/>
        </p:nvSpPr>
        <p:spPr>
          <a:xfrm>
            <a:off x="736600" y="2580615"/>
            <a:ext cx="4826000" cy="2209403"/>
          </a:xfrm>
          <a:prstGeom prst="rect">
            <a:avLst/>
          </a:prstGeom>
          <a:solidFill>
            <a:srgbClr val="FFF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aphicFrame>
        <p:nvGraphicFramePr>
          <p:cNvPr id="109" name="Google Shape;109;p9"/>
          <p:cNvGraphicFramePr/>
          <p:nvPr/>
        </p:nvGraphicFramePr>
        <p:xfrm>
          <a:off x="749300" y="2593315"/>
          <a:ext cx="3000000" cy="3000000"/>
        </p:xfrm>
        <a:graphic>
          <a:graphicData uri="http://schemas.openxmlformats.org/drawingml/2006/table">
            <a:tbl>
              <a:tblPr>
                <a:noFill/>
                <a:tableStyleId>{BA11AAC2-A7CE-4588-8191-665CEFB64C56}</a:tableStyleId>
              </a:tblPr>
              <a:tblGrid>
                <a:gridCol w="1925325"/>
                <a:gridCol w="2887975"/>
              </a:tblGrid>
              <a:tr h="439350">
                <a:tc>
                  <a:txBody>
                    <a:bodyPr/>
                    <a:lstStyle/>
                    <a:p>
                      <a:pPr indent="0" lvl="0" marL="0" marR="0" rtl="0" algn="ctr">
                        <a:lnSpc>
                          <a:spcPct val="140000"/>
                        </a:lnSpc>
                        <a:spcBef>
                          <a:spcPts val="0"/>
                        </a:spcBef>
                        <a:spcAft>
                          <a:spcPts val="0"/>
                        </a:spcAft>
                        <a:buClr>
                          <a:srgbClr val="3C4043"/>
                        </a:buClr>
                        <a:buSzPts val="1600"/>
                        <a:buFont typeface="Arial"/>
                        <a:buNone/>
                      </a:pPr>
                      <a:r>
                        <a:rPr b="1" lang="en-US" sz="1600" u="none" cap="none" strike="noStrike">
                          <a:solidFill>
                            <a:srgbClr val="3C4043"/>
                          </a:solidFill>
                          <a:latin typeface="Arial"/>
                          <a:ea typeface="Arial"/>
                          <a:cs typeface="Arial"/>
                          <a:sym typeface="Arial"/>
                        </a:rPr>
                        <a:t>sel</a:t>
                      </a:r>
                      <a:endParaRPr sz="1600" u="none" cap="none" strike="noStrike">
                        <a:latin typeface="Arial"/>
                        <a:ea typeface="Arial"/>
                        <a:cs typeface="Arial"/>
                        <a:sym typeface="Arial"/>
                      </a:endParaRPr>
                    </a:p>
                  </a:txBody>
                  <a:tcPr marT="71125" marB="71125" marR="71125" marL="71125">
                    <a:lnL cap="flat" cmpd="sng" w="12700">
                      <a:solidFill>
                        <a:srgbClr val="CBC6BF"/>
                      </a:solidFill>
                      <a:prstDash val="solid"/>
                      <a:round/>
                      <a:headEnd len="sm" w="sm" type="none"/>
                      <a:tailEnd len="sm" w="sm" type="none"/>
                    </a:lnL>
                    <a:lnR cap="flat" cmpd="sng" w="12700">
                      <a:solidFill>
                        <a:srgbClr val="BCB8B1"/>
                      </a:solidFill>
                      <a:prstDash val="solid"/>
                      <a:round/>
                      <a:headEnd len="sm" w="sm" type="none"/>
                      <a:tailEnd len="sm" w="sm" type="none"/>
                    </a:lnR>
                    <a:lnT cap="flat" cmpd="sng" w="12700">
                      <a:solidFill>
                        <a:srgbClr val="CBC6BF"/>
                      </a:solidFill>
                      <a:prstDash val="solid"/>
                      <a:round/>
                      <a:headEnd len="sm" w="sm" type="none"/>
                      <a:tailEnd len="sm" w="sm" type="none"/>
                    </a:lnT>
                    <a:lnB cap="flat" cmpd="sng" w="12700">
                      <a:solidFill>
                        <a:srgbClr val="BCB8B1"/>
                      </a:solidFill>
                      <a:prstDash val="solid"/>
                      <a:round/>
                      <a:headEnd len="sm" w="sm" type="none"/>
                      <a:tailEnd len="sm" w="sm" type="none"/>
                    </a:lnB>
                    <a:solidFill>
                      <a:srgbClr val="ECE6DE"/>
                    </a:solidFill>
                  </a:tcPr>
                </a:tc>
                <a:tc>
                  <a:txBody>
                    <a:bodyPr/>
                    <a:lstStyle/>
                    <a:p>
                      <a:pPr indent="0" lvl="0" marL="0" marR="0" rtl="0" algn="ctr">
                        <a:lnSpc>
                          <a:spcPct val="140000"/>
                        </a:lnSpc>
                        <a:spcBef>
                          <a:spcPts val="0"/>
                        </a:spcBef>
                        <a:spcAft>
                          <a:spcPts val="0"/>
                        </a:spcAft>
                        <a:buClr>
                          <a:srgbClr val="3C4043"/>
                        </a:buClr>
                        <a:buSzPts val="1600"/>
                        <a:buFont typeface="Arial"/>
                        <a:buNone/>
                      </a:pPr>
                      <a:r>
                        <a:rPr b="1" lang="en-US" sz="1600" u="none" cap="none" strike="noStrike">
                          <a:solidFill>
                            <a:srgbClr val="3C4043"/>
                          </a:solidFill>
                          <a:latin typeface="Arial"/>
                          <a:ea typeface="Arial"/>
                          <a:cs typeface="Arial"/>
                          <a:sym typeface="Arial"/>
                        </a:rPr>
                        <a:t>y</a:t>
                      </a:r>
                      <a:endParaRPr sz="1600" u="none" cap="none" strike="noStrike">
                        <a:latin typeface="Arial"/>
                        <a:ea typeface="Arial"/>
                        <a:cs typeface="Arial"/>
                        <a:sym typeface="Arial"/>
                      </a:endParaRPr>
                    </a:p>
                  </a:txBody>
                  <a:tcPr marT="71125" marB="71125" marR="71125" marL="71125">
                    <a:lnL cap="flat" cmpd="sng" w="12700">
                      <a:solidFill>
                        <a:srgbClr val="BCB8B1"/>
                      </a:solidFill>
                      <a:prstDash val="solid"/>
                      <a:round/>
                      <a:headEnd len="sm" w="sm" type="none"/>
                      <a:tailEnd len="sm" w="sm" type="none"/>
                    </a:lnL>
                    <a:lnR cap="flat" cmpd="sng" w="12700">
                      <a:solidFill>
                        <a:srgbClr val="BCB8B1"/>
                      </a:solidFill>
                      <a:prstDash val="solid"/>
                      <a:round/>
                      <a:headEnd len="sm" w="sm" type="none"/>
                      <a:tailEnd len="sm" w="sm" type="none"/>
                    </a:lnR>
                    <a:lnT cap="flat" cmpd="sng" w="12700">
                      <a:solidFill>
                        <a:srgbClr val="CBC6BF"/>
                      </a:solidFill>
                      <a:prstDash val="solid"/>
                      <a:round/>
                      <a:headEnd len="sm" w="sm" type="none"/>
                      <a:tailEnd len="sm" w="sm" type="none"/>
                    </a:lnT>
                    <a:lnB cap="flat" cmpd="sng" w="12700">
                      <a:solidFill>
                        <a:srgbClr val="BCB8B1"/>
                      </a:solidFill>
                      <a:prstDash val="solid"/>
                      <a:round/>
                      <a:headEnd len="sm" w="sm" type="none"/>
                      <a:tailEnd len="sm" w="sm" type="none"/>
                    </a:lnB>
                    <a:solidFill>
                      <a:srgbClr val="ECE6DE"/>
                    </a:solidFill>
                  </a:tcPr>
                </a:tc>
              </a:tr>
              <a:tr h="439350">
                <a:tc>
                  <a:txBody>
                    <a:bodyPr/>
                    <a:lstStyle/>
                    <a:p>
                      <a:pPr indent="0" lvl="0" marL="0" marR="0" rtl="0" algn="ctr">
                        <a:lnSpc>
                          <a:spcPct val="140000"/>
                        </a:lnSpc>
                        <a:spcBef>
                          <a:spcPts val="0"/>
                        </a:spcBef>
                        <a:spcAft>
                          <a:spcPts val="0"/>
                        </a:spcAft>
                        <a:buClr>
                          <a:srgbClr val="3C4043"/>
                        </a:buClr>
                        <a:buSzPts val="1600"/>
                        <a:buFont typeface="Arial"/>
                        <a:buNone/>
                      </a:pPr>
                      <a:r>
                        <a:rPr lang="en-US" sz="1600" u="none" cap="none" strike="noStrike">
                          <a:solidFill>
                            <a:srgbClr val="3C4043"/>
                          </a:solidFill>
                          <a:latin typeface="Arial"/>
                          <a:ea typeface="Arial"/>
                          <a:cs typeface="Arial"/>
                          <a:sym typeface="Arial"/>
                        </a:rPr>
                        <a:t>00</a:t>
                      </a:r>
                      <a:endParaRPr sz="1600" u="none" cap="none" strike="noStrike">
                        <a:latin typeface="Arial"/>
                        <a:ea typeface="Arial"/>
                        <a:cs typeface="Arial"/>
                        <a:sym typeface="Arial"/>
                      </a:endParaRPr>
                    </a:p>
                  </a:txBody>
                  <a:tcPr marT="71125" marB="71125" marR="71125" marL="71125">
                    <a:lnL cap="flat" cmpd="sng" w="12700">
                      <a:solidFill>
                        <a:srgbClr val="CBC6BF"/>
                      </a:solidFill>
                      <a:prstDash val="solid"/>
                      <a:round/>
                      <a:headEnd len="sm" w="sm" type="none"/>
                      <a:tailEnd len="sm" w="sm" type="none"/>
                    </a:lnL>
                    <a:lnR cap="flat" cmpd="sng" w="12700">
                      <a:solidFill>
                        <a:srgbClr val="CBC6BF"/>
                      </a:solidFill>
                      <a:prstDash val="solid"/>
                      <a:round/>
                      <a:headEnd len="sm" w="sm" type="none"/>
                      <a:tailEnd len="sm" w="sm" type="none"/>
                    </a:lnR>
                    <a:lnT cap="flat" cmpd="sng" w="12700">
                      <a:solidFill>
                        <a:srgbClr val="BCB8B1"/>
                      </a:solidFill>
                      <a:prstDash val="solid"/>
                      <a:round/>
                      <a:headEnd len="sm" w="sm" type="none"/>
                      <a:tailEnd len="sm" w="sm" type="none"/>
                    </a:lnT>
                    <a:lnB cap="flat" cmpd="sng" w="12700">
                      <a:solidFill>
                        <a:srgbClr val="CBC6BF"/>
                      </a:solidFill>
                      <a:prstDash val="solid"/>
                      <a:round/>
                      <a:headEnd len="sm" w="sm" type="none"/>
                      <a:tailEnd len="sm" w="sm" type="none"/>
                    </a:lnB>
                  </a:tcPr>
                </a:tc>
                <a:tc>
                  <a:txBody>
                    <a:bodyPr/>
                    <a:lstStyle/>
                    <a:p>
                      <a:pPr indent="0" lvl="0" marL="0" marR="0" rtl="0" algn="ctr">
                        <a:lnSpc>
                          <a:spcPct val="140000"/>
                        </a:lnSpc>
                        <a:spcBef>
                          <a:spcPts val="0"/>
                        </a:spcBef>
                        <a:spcAft>
                          <a:spcPts val="0"/>
                        </a:spcAft>
                        <a:buClr>
                          <a:srgbClr val="3C4043"/>
                        </a:buClr>
                        <a:buSzPts val="1600"/>
                        <a:buFont typeface="Arial"/>
                        <a:buNone/>
                      </a:pPr>
                      <a:r>
                        <a:rPr lang="en-US" sz="1600" u="none" cap="none" strike="noStrike">
                          <a:solidFill>
                            <a:srgbClr val="3C4043"/>
                          </a:solidFill>
                          <a:latin typeface="Arial"/>
                          <a:ea typeface="Arial"/>
                          <a:cs typeface="Arial"/>
                          <a:sym typeface="Arial"/>
                        </a:rPr>
                        <a:t>a</a:t>
                      </a:r>
                      <a:endParaRPr sz="1600" u="none" cap="none" strike="noStrike">
                        <a:latin typeface="Arial"/>
                        <a:ea typeface="Arial"/>
                        <a:cs typeface="Arial"/>
                        <a:sym typeface="Arial"/>
                      </a:endParaRPr>
                    </a:p>
                  </a:txBody>
                  <a:tcPr marT="71125" marB="71125" marR="71125" marL="71125">
                    <a:lnL cap="flat" cmpd="sng" w="12700">
                      <a:solidFill>
                        <a:srgbClr val="CBC6BF"/>
                      </a:solidFill>
                      <a:prstDash val="solid"/>
                      <a:round/>
                      <a:headEnd len="sm" w="sm" type="none"/>
                      <a:tailEnd len="sm" w="sm" type="none"/>
                    </a:lnL>
                    <a:lnR cap="flat" cmpd="sng" w="12700">
                      <a:solidFill>
                        <a:srgbClr val="CBC6BF"/>
                      </a:solidFill>
                      <a:prstDash val="solid"/>
                      <a:round/>
                      <a:headEnd len="sm" w="sm" type="none"/>
                      <a:tailEnd len="sm" w="sm" type="none"/>
                    </a:lnR>
                    <a:lnT cap="flat" cmpd="sng" w="12700">
                      <a:solidFill>
                        <a:srgbClr val="BCB8B1"/>
                      </a:solidFill>
                      <a:prstDash val="solid"/>
                      <a:round/>
                      <a:headEnd len="sm" w="sm" type="none"/>
                      <a:tailEnd len="sm" w="sm" type="none"/>
                    </a:lnT>
                    <a:lnB cap="flat" cmpd="sng" w="12700">
                      <a:solidFill>
                        <a:srgbClr val="CBC6BF"/>
                      </a:solidFill>
                      <a:prstDash val="solid"/>
                      <a:round/>
                      <a:headEnd len="sm" w="sm" type="none"/>
                      <a:tailEnd len="sm" w="sm" type="none"/>
                    </a:lnB>
                  </a:tcPr>
                </a:tc>
              </a:tr>
              <a:tr h="439350">
                <a:tc>
                  <a:txBody>
                    <a:bodyPr/>
                    <a:lstStyle/>
                    <a:p>
                      <a:pPr indent="0" lvl="0" marL="0" marR="0" rtl="0" algn="ctr">
                        <a:lnSpc>
                          <a:spcPct val="140000"/>
                        </a:lnSpc>
                        <a:spcBef>
                          <a:spcPts val="0"/>
                        </a:spcBef>
                        <a:spcAft>
                          <a:spcPts val="0"/>
                        </a:spcAft>
                        <a:buClr>
                          <a:srgbClr val="3C4043"/>
                        </a:buClr>
                        <a:buSzPts val="1600"/>
                        <a:buFont typeface="Arial"/>
                        <a:buNone/>
                      </a:pPr>
                      <a:r>
                        <a:rPr lang="en-US" sz="1600" u="none" cap="none" strike="noStrike">
                          <a:solidFill>
                            <a:srgbClr val="3C4043"/>
                          </a:solidFill>
                          <a:latin typeface="Arial"/>
                          <a:ea typeface="Arial"/>
                          <a:cs typeface="Arial"/>
                          <a:sym typeface="Arial"/>
                        </a:rPr>
                        <a:t>01</a:t>
                      </a:r>
                      <a:endParaRPr sz="1600" u="none" cap="none" strike="noStrike">
                        <a:latin typeface="Arial"/>
                        <a:ea typeface="Arial"/>
                        <a:cs typeface="Arial"/>
                        <a:sym typeface="Arial"/>
                      </a:endParaRPr>
                    </a:p>
                  </a:txBody>
                  <a:tcPr marT="71125" marB="71125" marR="71125" marL="71125">
                    <a:lnL cap="flat" cmpd="sng" w="12700">
                      <a:solidFill>
                        <a:srgbClr val="CBC6BF"/>
                      </a:solidFill>
                      <a:prstDash val="solid"/>
                      <a:round/>
                      <a:headEnd len="sm" w="sm" type="none"/>
                      <a:tailEnd len="sm" w="sm" type="none"/>
                    </a:lnL>
                    <a:lnR cap="flat" cmpd="sng" w="12700">
                      <a:solidFill>
                        <a:srgbClr val="CBC6BF"/>
                      </a:solidFill>
                      <a:prstDash val="solid"/>
                      <a:round/>
                      <a:headEnd len="sm" w="sm" type="none"/>
                      <a:tailEnd len="sm" w="sm" type="none"/>
                    </a:lnR>
                    <a:lnT cap="flat" cmpd="sng" w="12700">
                      <a:solidFill>
                        <a:srgbClr val="CBC6BF"/>
                      </a:solidFill>
                      <a:prstDash val="solid"/>
                      <a:round/>
                      <a:headEnd len="sm" w="sm" type="none"/>
                      <a:tailEnd len="sm" w="sm" type="none"/>
                    </a:lnT>
                    <a:lnB cap="flat" cmpd="sng" w="12700">
                      <a:solidFill>
                        <a:srgbClr val="CBC6BF"/>
                      </a:solidFill>
                      <a:prstDash val="solid"/>
                      <a:round/>
                      <a:headEnd len="sm" w="sm" type="none"/>
                      <a:tailEnd len="sm" w="sm" type="none"/>
                    </a:lnB>
                  </a:tcPr>
                </a:tc>
                <a:tc>
                  <a:txBody>
                    <a:bodyPr/>
                    <a:lstStyle/>
                    <a:p>
                      <a:pPr indent="0" lvl="0" marL="0" marR="0" rtl="0" algn="ctr">
                        <a:lnSpc>
                          <a:spcPct val="140000"/>
                        </a:lnSpc>
                        <a:spcBef>
                          <a:spcPts val="0"/>
                        </a:spcBef>
                        <a:spcAft>
                          <a:spcPts val="0"/>
                        </a:spcAft>
                        <a:buClr>
                          <a:srgbClr val="3C4043"/>
                        </a:buClr>
                        <a:buSzPts val="1600"/>
                        <a:buFont typeface="Arial"/>
                        <a:buNone/>
                      </a:pPr>
                      <a:r>
                        <a:rPr lang="en-US" sz="1600" u="none" cap="none" strike="noStrike">
                          <a:solidFill>
                            <a:srgbClr val="3C4043"/>
                          </a:solidFill>
                          <a:latin typeface="Arial"/>
                          <a:ea typeface="Arial"/>
                          <a:cs typeface="Arial"/>
                          <a:sym typeface="Arial"/>
                        </a:rPr>
                        <a:t>b</a:t>
                      </a:r>
                      <a:endParaRPr sz="1600" u="none" cap="none" strike="noStrike">
                        <a:latin typeface="Arial"/>
                        <a:ea typeface="Arial"/>
                        <a:cs typeface="Arial"/>
                        <a:sym typeface="Arial"/>
                      </a:endParaRPr>
                    </a:p>
                  </a:txBody>
                  <a:tcPr marT="71125" marB="71125" marR="71125" marL="71125">
                    <a:lnL cap="flat" cmpd="sng" w="12700">
                      <a:solidFill>
                        <a:srgbClr val="CBC6BF"/>
                      </a:solidFill>
                      <a:prstDash val="solid"/>
                      <a:round/>
                      <a:headEnd len="sm" w="sm" type="none"/>
                      <a:tailEnd len="sm" w="sm" type="none"/>
                    </a:lnL>
                    <a:lnR cap="flat" cmpd="sng" w="12700">
                      <a:solidFill>
                        <a:srgbClr val="CBC6BF"/>
                      </a:solidFill>
                      <a:prstDash val="solid"/>
                      <a:round/>
                      <a:headEnd len="sm" w="sm" type="none"/>
                      <a:tailEnd len="sm" w="sm" type="none"/>
                    </a:lnR>
                    <a:lnT cap="flat" cmpd="sng" w="12700">
                      <a:solidFill>
                        <a:srgbClr val="CBC6BF"/>
                      </a:solidFill>
                      <a:prstDash val="solid"/>
                      <a:round/>
                      <a:headEnd len="sm" w="sm" type="none"/>
                      <a:tailEnd len="sm" w="sm" type="none"/>
                    </a:lnT>
                    <a:lnB cap="flat" cmpd="sng" w="12700">
                      <a:solidFill>
                        <a:srgbClr val="CBC6BF"/>
                      </a:solidFill>
                      <a:prstDash val="solid"/>
                      <a:round/>
                      <a:headEnd len="sm" w="sm" type="none"/>
                      <a:tailEnd len="sm" w="sm" type="none"/>
                    </a:lnB>
                  </a:tcPr>
                </a:tc>
              </a:tr>
              <a:tr h="439350">
                <a:tc>
                  <a:txBody>
                    <a:bodyPr/>
                    <a:lstStyle/>
                    <a:p>
                      <a:pPr indent="0" lvl="0" marL="0" marR="0" rtl="0" algn="ctr">
                        <a:lnSpc>
                          <a:spcPct val="140000"/>
                        </a:lnSpc>
                        <a:spcBef>
                          <a:spcPts val="0"/>
                        </a:spcBef>
                        <a:spcAft>
                          <a:spcPts val="0"/>
                        </a:spcAft>
                        <a:buClr>
                          <a:srgbClr val="3C4043"/>
                        </a:buClr>
                        <a:buSzPts val="1600"/>
                        <a:buFont typeface="Arial"/>
                        <a:buNone/>
                      </a:pPr>
                      <a:r>
                        <a:rPr lang="en-US" sz="1600" u="none" cap="none" strike="noStrike">
                          <a:solidFill>
                            <a:srgbClr val="3C4043"/>
                          </a:solidFill>
                          <a:latin typeface="Arial"/>
                          <a:ea typeface="Arial"/>
                          <a:cs typeface="Arial"/>
                          <a:sym typeface="Arial"/>
                        </a:rPr>
                        <a:t>10</a:t>
                      </a:r>
                      <a:endParaRPr sz="1600" u="none" cap="none" strike="noStrike">
                        <a:latin typeface="Arial"/>
                        <a:ea typeface="Arial"/>
                        <a:cs typeface="Arial"/>
                        <a:sym typeface="Arial"/>
                      </a:endParaRPr>
                    </a:p>
                  </a:txBody>
                  <a:tcPr marT="71125" marB="71125" marR="71125" marL="71125">
                    <a:lnL cap="flat" cmpd="sng" w="12700">
                      <a:solidFill>
                        <a:srgbClr val="CBC6BF"/>
                      </a:solidFill>
                      <a:prstDash val="solid"/>
                      <a:round/>
                      <a:headEnd len="sm" w="sm" type="none"/>
                      <a:tailEnd len="sm" w="sm" type="none"/>
                    </a:lnL>
                    <a:lnR cap="flat" cmpd="sng" w="12700">
                      <a:solidFill>
                        <a:srgbClr val="CBC6BF"/>
                      </a:solidFill>
                      <a:prstDash val="solid"/>
                      <a:round/>
                      <a:headEnd len="sm" w="sm" type="none"/>
                      <a:tailEnd len="sm" w="sm" type="none"/>
                    </a:lnR>
                    <a:lnT cap="flat" cmpd="sng" w="12700">
                      <a:solidFill>
                        <a:srgbClr val="CBC6BF"/>
                      </a:solidFill>
                      <a:prstDash val="solid"/>
                      <a:round/>
                      <a:headEnd len="sm" w="sm" type="none"/>
                      <a:tailEnd len="sm" w="sm" type="none"/>
                    </a:lnT>
                    <a:lnB cap="flat" cmpd="sng" w="12700">
                      <a:solidFill>
                        <a:srgbClr val="CBC6BF"/>
                      </a:solidFill>
                      <a:prstDash val="solid"/>
                      <a:round/>
                      <a:headEnd len="sm" w="sm" type="none"/>
                      <a:tailEnd len="sm" w="sm" type="none"/>
                    </a:lnB>
                  </a:tcPr>
                </a:tc>
                <a:tc>
                  <a:txBody>
                    <a:bodyPr/>
                    <a:lstStyle/>
                    <a:p>
                      <a:pPr indent="0" lvl="0" marL="0" marR="0" rtl="0" algn="ctr">
                        <a:lnSpc>
                          <a:spcPct val="140000"/>
                        </a:lnSpc>
                        <a:spcBef>
                          <a:spcPts val="0"/>
                        </a:spcBef>
                        <a:spcAft>
                          <a:spcPts val="0"/>
                        </a:spcAft>
                        <a:buClr>
                          <a:srgbClr val="3C4043"/>
                        </a:buClr>
                        <a:buSzPts val="1600"/>
                        <a:buFont typeface="Arial"/>
                        <a:buNone/>
                      </a:pPr>
                      <a:r>
                        <a:rPr lang="en-US" sz="1600" u="none" cap="none" strike="noStrike">
                          <a:solidFill>
                            <a:srgbClr val="3C4043"/>
                          </a:solidFill>
                          <a:latin typeface="Arial"/>
                          <a:ea typeface="Arial"/>
                          <a:cs typeface="Arial"/>
                          <a:sym typeface="Arial"/>
                        </a:rPr>
                        <a:t>c</a:t>
                      </a:r>
                      <a:endParaRPr sz="1600" u="none" cap="none" strike="noStrike">
                        <a:latin typeface="Arial"/>
                        <a:ea typeface="Arial"/>
                        <a:cs typeface="Arial"/>
                        <a:sym typeface="Arial"/>
                      </a:endParaRPr>
                    </a:p>
                  </a:txBody>
                  <a:tcPr marT="71125" marB="71125" marR="71125" marL="71125">
                    <a:lnL cap="flat" cmpd="sng" w="12700">
                      <a:solidFill>
                        <a:srgbClr val="CBC6BF"/>
                      </a:solidFill>
                      <a:prstDash val="solid"/>
                      <a:round/>
                      <a:headEnd len="sm" w="sm" type="none"/>
                      <a:tailEnd len="sm" w="sm" type="none"/>
                    </a:lnL>
                    <a:lnR cap="flat" cmpd="sng" w="12700">
                      <a:solidFill>
                        <a:srgbClr val="CBC6BF"/>
                      </a:solidFill>
                      <a:prstDash val="solid"/>
                      <a:round/>
                      <a:headEnd len="sm" w="sm" type="none"/>
                      <a:tailEnd len="sm" w="sm" type="none"/>
                    </a:lnR>
                    <a:lnT cap="flat" cmpd="sng" w="12700">
                      <a:solidFill>
                        <a:srgbClr val="CBC6BF"/>
                      </a:solidFill>
                      <a:prstDash val="solid"/>
                      <a:round/>
                      <a:headEnd len="sm" w="sm" type="none"/>
                      <a:tailEnd len="sm" w="sm" type="none"/>
                    </a:lnT>
                    <a:lnB cap="flat" cmpd="sng" w="12700">
                      <a:solidFill>
                        <a:srgbClr val="CBC6BF"/>
                      </a:solidFill>
                      <a:prstDash val="solid"/>
                      <a:round/>
                      <a:headEnd len="sm" w="sm" type="none"/>
                      <a:tailEnd len="sm" w="sm" type="none"/>
                    </a:lnB>
                  </a:tcPr>
                </a:tc>
              </a:tr>
              <a:tr h="439350">
                <a:tc>
                  <a:txBody>
                    <a:bodyPr/>
                    <a:lstStyle/>
                    <a:p>
                      <a:pPr indent="0" lvl="0" marL="0" marR="0" rtl="0" algn="ctr">
                        <a:lnSpc>
                          <a:spcPct val="140000"/>
                        </a:lnSpc>
                        <a:spcBef>
                          <a:spcPts val="0"/>
                        </a:spcBef>
                        <a:spcAft>
                          <a:spcPts val="0"/>
                        </a:spcAft>
                        <a:buClr>
                          <a:srgbClr val="3C4043"/>
                        </a:buClr>
                        <a:buSzPts val="1600"/>
                        <a:buFont typeface="Arial"/>
                        <a:buNone/>
                      </a:pPr>
                      <a:r>
                        <a:rPr lang="en-US" sz="1600" u="none" cap="none" strike="noStrike">
                          <a:solidFill>
                            <a:srgbClr val="3C4043"/>
                          </a:solidFill>
                          <a:latin typeface="Arial"/>
                          <a:ea typeface="Arial"/>
                          <a:cs typeface="Arial"/>
                          <a:sym typeface="Arial"/>
                        </a:rPr>
                        <a:t>11</a:t>
                      </a:r>
                      <a:endParaRPr sz="1600" u="none" cap="none" strike="noStrike">
                        <a:latin typeface="Arial"/>
                        <a:ea typeface="Arial"/>
                        <a:cs typeface="Arial"/>
                        <a:sym typeface="Arial"/>
                      </a:endParaRPr>
                    </a:p>
                  </a:txBody>
                  <a:tcPr marT="71125" marB="71125" marR="71125" marL="71125">
                    <a:lnL cap="flat" cmpd="sng" w="12700">
                      <a:solidFill>
                        <a:srgbClr val="CBC6BF"/>
                      </a:solidFill>
                      <a:prstDash val="solid"/>
                      <a:round/>
                      <a:headEnd len="sm" w="sm" type="none"/>
                      <a:tailEnd len="sm" w="sm" type="none"/>
                    </a:lnL>
                    <a:lnR cap="flat" cmpd="sng" w="12700">
                      <a:solidFill>
                        <a:srgbClr val="CBC6BF"/>
                      </a:solidFill>
                      <a:prstDash val="solid"/>
                      <a:round/>
                      <a:headEnd len="sm" w="sm" type="none"/>
                      <a:tailEnd len="sm" w="sm" type="none"/>
                    </a:lnR>
                    <a:lnT cap="flat" cmpd="sng" w="12700">
                      <a:solidFill>
                        <a:srgbClr val="CBC6BF"/>
                      </a:solidFill>
                      <a:prstDash val="solid"/>
                      <a:round/>
                      <a:headEnd len="sm" w="sm" type="none"/>
                      <a:tailEnd len="sm" w="sm" type="none"/>
                    </a:lnT>
                    <a:lnB cap="flat" cmpd="sng" w="12700">
                      <a:solidFill>
                        <a:srgbClr val="CBC6BF"/>
                      </a:solidFill>
                      <a:prstDash val="solid"/>
                      <a:round/>
                      <a:headEnd len="sm" w="sm" type="none"/>
                      <a:tailEnd len="sm" w="sm" type="none"/>
                    </a:lnB>
                  </a:tcPr>
                </a:tc>
                <a:tc>
                  <a:txBody>
                    <a:bodyPr/>
                    <a:lstStyle/>
                    <a:p>
                      <a:pPr indent="0" lvl="0" marL="0" marR="0" rtl="0" algn="ctr">
                        <a:lnSpc>
                          <a:spcPct val="140000"/>
                        </a:lnSpc>
                        <a:spcBef>
                          <a:spcPts val="0"/>
                        </a:spcBef>
                        <a:spcAft>
                          <a:spcPts val="0"/>
                        </a:spcAft>
                        <a:buClr>
                          <a:srgbClr val="3C4043"/>
                        </a:buClr>
                        <a:buSzPts val="1600"/>
                        <a:buFont typeface="Arial"/>
                        <a:buNone/>
                      </a:pPr>
                      <a:r>
                        <a:rPr lang="en-US" sz="1600" u="none" cap="none" strike="noStrike">
                          <a:solidFill>
                            <a:srgbClr val="3C4043"/>
                          </a:solidFill>
                          <a:latin typeface="Arial"/>
                          <a:ea typeface="Arial"/>
                          <a:cs typeface="Arial"/>
                          <a:sym typeface="Arial"/>
                        </a:rPr>
                        <a:t>d</a:t>
                      </a:r>
                      <a:endParaRPr sz="1600" u="none" cap="none" strike="noStrike">
                        <a:latin typeface="Arial"/>
                        <a:ea typeface="Arial"/>
                        <a:cs typeface="Arial"/>
                        <a:sym typeface="Arial"/>
                      </a:endParaRPr>
                    </a:p>
                  </a:txBody>
                  <a:tcPr marT="71125" marB="71125" marR="71125" marL="71125">
                    <a:lnL cap="flat" cmpd="sng" w="12700">
                      <a:solidFill>
                        <a:srgbClr val="CBC6BF"/>
                      </a:solidFill>
                      <a:prstDash val="solid"/>
                      <a:round/>
                      <a:headEnd len="sm" w="sm" type="none"/>
                      <a:tailEnd len="sm" w="sm" type="none"/>
                    </a:lnL>
                    <a:lnR cap="flat" cmpd="sng" w="12700">
                      <a:solidFill>
                        <a:srgbClr val="CBC6BF"/>
                      </a:solidFill>
                      <a:prstDash val="solid"/>
                      <a:round/>
                      <a:headEnd len="sm" w="sm" type="none"/>
                      <a:tailEnd len="sm" w="sm" type="none"/>
                    </a:lnR>
                    <a:lnT cap="flat" cmpd="sng" w="12700">
                      <a:solidFill>
                        <a:srgbClr val="CBC6BF"/>
                      </a:solidFill>
                      <a:prstDash val="solid"/>
                      <a:round/>
                      <a:headEnd len="sm" w="sm" type="none"/>
                      <a:tailEnd len="sm" w="sm" type="none"/>
                    </a:lnT>
                    <a:lnB cap="flat" cmpd="sng" w="12700">
                      <a:solidFill>
                        <a:srgbClr val="CBC6BF"/>
                      </a:solidFill>
                      <a:prstDash val="solid"/>
                      <a:round/>
                      <a:headEnd len="sm" w="sm" type="none"/>
                      <a:tailEnd len="sm" w="sm" type="none"/>
                    </a:lnB>
                  </a:tcPr>
                </a:tc>
              </a:tr>
            </a:tbl>
          </a:graphicData>
        </a:graphic>
      </p:graphicFrame>
      <p:sp>
        <p:nvSpPr>
          <p:cNvPr id="110" name="Google Shape;110;p9"/>
          <p:cNvSpPr/>
          <p:nvPr/>
        </p:nvSpPr>
        <p:spPr>
          <a:xfrm>
            <a:off x="736600" y="4967818"/>
            <a:ext cx="4970780" cy="292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4E52"/>
              </a:buClr>
              <a:buSzPts val="1500"/>
              <a:buFont typeface="Arial"/>
              <a:buNone/>
            </a:pPr>
            <a:r>
              <a:rPr b="0" i="0" lang="en-US" sz="1500" u="none" cap="none" strike="noStrike">
                <a:solidFill>
                  <a:srgbClr val="4A4E52"/>
                </a:solidFill>
                <a:latin typeface="Arial"/>
                <a:ea typeface="Arial"/>
                <a:cs typeface="Arial"/>
                <a:sym typeface="Arial"/>
              </a:rPr>
              <a:t>n select bits pick from 2ⁿ inputs</a:t>
            </a:r>
            <a:endParaRPr b="0" i="0" sz="1500" u="none" cap="none" strike="noStrike">
              <a:solidFill>
                <a:schemeClr val="dk1"/>
              </a:solidFill>
              <a:latin typeface="Arial"/>
              <a:ea typeface="Arial"/>
              <a:cs typeface="Arial"/>
              <a:sym typeface="Arial"/>
            </a:endParaRPr>
          </a:p>
        </p:txBody>
      </p:sp>
      <p:sp>
        <p:nvSpPr>
          <p:cNvPr id="111" name="Google Shape;111;p9"/>
          <p:cNvSpPr/>
          <p:nvPr/>
        </p:nvSpPr>
        <p:spPr>
          <a:xfrm>
            <a:off x="5969000" y="1739900"/>
            <a:ext cx="5410200" cy="3601244"/>
          </a:xfrm>
          <a:prstGeom prst="roundRect">
            <a:avLst>
              <a:gd fmla="val 4232" name="adj"/>
            </a:avLst>
          </a:prstGeom>
          <a:solidFill>
            <a:srgbClr val="2F3237"/>
          </a:solidFill>
          <a:ln>
            <a:noFill/>
          </a:ln>
        </p:spPr>
        <p:txBody>
          <a:bodyPr anchorCtr="0" anchor="t" bIns="183950" lIns="234750" spcFirstLastPara="1" rIns="89200" wrap="square" tIns="209350">
            <a:noAutofit/>
          </a:bodyPr>
          <a:lstStyle/>
          <a:p>
            <a:pPr indent="0" lvl="0" marL="0" marR="0" rtl="0" algn="l">
              <a:lnSpc>
                <a:spcPct val="145000"/>
              </a:lnSpc>
              <a:spcBef>
                <a:spcPts val="0"/>
              </a:spcBef>
              <a:spcAft>
                <a:spcPts val="0"/>
              </a:spcAft>
              <a:buClr>
                <a:srgbClr val="A9C4D6"/>
              </a:buClr>
              <a:buSzPts val="1400"/>
              <a:buFont typeface="Courier New"/>
              <a:buNone/>
            </a:pPr>
            <a:r>
              <a:rPr b="0" i="0" lang="en-US" sz="1400" u="none" cap="none" strike="noStrike">
                <a:solidFill>
                  <a:srgbClr val="A9C4D6"/>
                </a:solidFill>
                <a:latin typeface="Courier New"/>
                <a:ea typeface="Courier New"/>
                <a:cs typeface="Courier New"/>
                <a:sym typeface="Courier New"/>
              </a:rPr>
              <a:t>// 2:1 mux</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assign y = sel ? b : a;</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A9C4D6"/>
              </a:buClr>
              <a:buSzPts val="1400"/>
              <a:buFont typeface="Courier New"/>
              <a:buNone/>
            </a:pPr>
            <a:r>
              <a:rPr b="0" i="0" lang="en-US" sz="1400" u="none" cap="none" strike="noStrike">
                <a:solidFill>
                  <a:srgbClr val="A9C4D6"/>
                </a:solidFill>
                <a:latin typeface="Courier New"/>
                <a:ea typeface="Courier New"/>
                <a:cs typeface="Courier New"/>
                <a:sym typeface="Courier New"/>
              </a:rPr>
              <a:t>// 4:1 mux</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always_comb begin</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  case (sel)</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    2'b00: y = a;</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    2'b01: y = b;</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    2'b10: y = c;</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    default: y = d;</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  endcase</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end</a:t>
            </a:r>
            <a:endParaRPr b="0" i="0" sz="1400" u="none" cap="none" strike="noStrike">
              <a:solidFill>
                <a:schemeClr val="dk1"/>
              </a:solidFill>
              <a:latin typeface="Arial"/>
              <a:ea typeface="Arial"/>
              <a:cs typeface="Arial"/>
              <a:sym typeface="Arial"/>
            </a:endParaRPr>
          </a:p>
        </p:txBody>
      </p:sp>
      <p:sp>
        <p:nvSpPr>
          <p:cNvPr id="112" name="Google Shape;112;p9"/>
          <p:cNvSpPr/>
          <p:nvPr/>
        </p:nvSpPr>
        <p:spPr>
          <a:xfrm>
            <a:off x="10566400" y="6238280"/>
            <a:ext cx="812800" cy="23872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3C4043"/>
              </a:buClr>
              <a:buSzPts val="1200"/>
              <a:buFont typeface="Arial"/>
              <a:buNone/>
            </a:pPr>
            <a:r>
              <a:rPr b="0" i="0" lang="en-US" sz="1200" u="none" cap="none" strike="noStrike">
                <a:solidFill>
                  <a:srgbClr val="3C4043"/>
                </a:solidFill>
                <a:latin typeface="Arial"/>
                <a:ea typeface="Arial"/>
                <a:cs typeface="Arial"/>
                <a:sym typeface="Arial"/>
              </a:rPr>
              <a:t>6</a:t>
            </a:r>
            <a:endParaRPr b="0" i="0" sz="1200" u="none" cap="none" strike="noStrike">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DF0DC"/>
        </a:solidFill>
      </p:bgPr>
    </p:bg>
    <p:spTree>
      <p:nvGrpSpPr>
        <p:cNvPr id="117" name="Shape 117"/>
        <p:cNvGrpSpPr/>
        <p:nvPr/>
      </p:nvGrpSpPr>
      <p:grpSpPr>
        <a:xfrm>
          <a:off x="0" y="0"/>
          <a:ext cx="0" cy="0"/>
          <a:chOff x="0" y="0"/>
          <a:chExt cx="0" cy="0"/>
        </a:xfrm>
      </p:grpSpPr>
      <p:sp>
        <p:nvSpPr>
          <p:cNvPr id="118" name="Google Shape;118;p10"/>
          <p:cNvSpPr/>
          <p:nvPr/>
        </p:nvSpPr>
        <p:spPr>
          <a:xfrm>
            <a:off x="114300" y="114300"/>
            <a:ext cx="5886450" cy="381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C4043"/>
              </a:buClr>
              <a:buSzPts val="2000"/>
              <a:buFont typeface="Arial"/>
              <a:buNone/>
            </a:pPr>
            <a:r>
              <a:rPr b="0" i="0" lang="en-US" sz="2000" u="none" cap="none" strike="noStrike">
                <a:solidFill>
                  <a:srgbClr val="3C4043"/>
                </a:solidFill>
                <a:latin typeface="Arial"/>
                <a:ea typeface="Arial"/>
                <a:cs typeface="Arial"/>
                <a:sym typeface="Arial"/>
              </a:rPr>
              <a:t>Combinational Logic</a:t>
            </a:r>
            <a:endParaRPr b="0" i="0" sz="2000" u="none" cap="none" strike="noStrike">
              <a:solidFill>
                <a:schemeClr val="dk1"/>
              </a:solidFill>
              <a:latin typeface="Arial"/>
              <a:ea typeface="Arial"/>
              <a:cs typeface="Arial"/>
              <a:sym typeface="Arial"/>
            </a:endParaRPr>
          </a:p>
        </p:txBody>
      </p:sp>
      <p:sp>
        <p:nvSpPr>
          <p:cNvPr id="119" name="Google Shape;119;p10"/>
          <p:cNvSpPr txBox="1"/>
          <p:nvPr>
            <p:ph type="title"/>
          </p:nvPr>
        </p:nvSpPr>
        <p:spPr>
          <a:xfrm>
            <a:off x="736600" y="762000"/>
            <a:ext cx="10961878" cy="5842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3C4043"/>
              </a:buClr>
              <a:buSzPts val="4000"/>
              <a:buFont typeface="Arial"/>
              <a:buNone/>
            </a:pPr>
            <a:r>
              <a:rPr b="0" i="0" lang="en-US" sz="4000">
                <a:solidFill>
                  <a:srgbClr val="3C4043"/>
                </a:solidFill>
                <a:latin typeface="Arial"/>
                <a:ea typeface="Arial"/>
                <a:cs typeface="Arial"/>
                <a:sym typeface="Arial"/>
              </a:rPr>
              <a:t>Decoders</a:t>
            </a:r>
            <a:endParaRPr sz="4000"/>
          </a:p>
        </p:txBody>
      </p:sp>
      <p:pic>
        <p:nvPicPr>
          <p:cNvPr descr="line" id="120" name="Google Shape;120;p10"/>
          <p:cNvPicPr preferRelativeResize="0"/>
          <p:nvPr/>
        </p:nvPicPr>
        <p:blipFill rotWithShape="1">
          <a:blip r:embed="rId3">
            <a:alphaModFix/>
          </a:blip>
          <a:srcRect b="0" l="0" r="0" t="0"/>
          <a:stretch/>
        </p:blipFill>
        <p:spPr>
          <a:xfrm>
            <a:off x="736600" y="1524000"/>
            <a:ext cx="10642600" cy="12700"/>
          </a:xfrm>
          <a:prstGeom prst="rect">
            <a:avLst/>
          </a:prstGeom>
          <a:noFill/>
          <a:ln>
            <a:noFill/>
          </a:ln>
        </p:spPr>
      </p:pic>
      <p:sp>
        <p:nvSpPr>
          <p:cNvPr id="121" name="Google Shape;121;p10"/>
          <p:cNvSpPr/>
          <p:nvPr/>
        </p:nvSpPr>
        <p:spPr>
          <a:xfrm>
            <a:off x="736600" y="1739900"/>
            <a:ext cx="4970780" cy="688314"/>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3C4043"/>
              </a:buClr>
              <a:buSzPts val="1800"/>
              <a:buFont typeface="Arial"/>
              <a:buNone/>
            </a:pPr>
            <a:r>
              <a:rPr b="0" i="0" lang="en-US" sz="1800" u="none" cap="none" strike="noStrike">
                <a:solidFill>
                  <a:srgbClr val="3C4043"/>
                </a:solidFill>
                <a:latin typeface="Arial"/>
                <a:ea typeface="Arial"/>
                <a:cs typeface="Arial"/>
                <a:sym typeface="Arial"/>
              </a:rPr>
              <a:t>Turns an n-bit code into 2ⁿ lines, with exactly </a:t>
            </a:r>
            <a:r>
              <a:rPr b="1" i="0" lang="en-US" sz="1800" u="none" cap="none" strike="noStrike">
                <a:solidFill>
                  <a:srgbClr val="3C4043"/>
                </a:solidFill>
                <a:latin typeface="Arial"/>
                <a:ea typeface="Arial"/>
                <a:cs typeface="Arial"/>
                <a:sym typeface="Arial"/>
              </a:rPr>
              <a:t>one</a:t>
            </a:r>
            <a:r>
              <a:rPr b="0" i="0" lang="en-US" sz="1800" u="none" cap="none" strike="noStrike">
                <a:solidFill>
                  <a:srgbClr val="3C4043"/>
                </a:solidFill>
                <a:latin typeface="Arial"/>
                <a:ea typeface="Arial"/>
                <a:cs typeface="Arial"/>
                <a:sym typeface="Arial"/>
              </a:rPr>
              <a:t> line high (one-hot).</a:t>
            </a:r>
            <a:endParaRPr b="0" i="0" sz="1800" u="none" cap="none" strike="noStrike">
              <a:solidFill>
                <a:schemeClr val="dk1"/>
              </a:solidFill>
              <a:latin typeface="Arial"/>
              <a:ea typeface="Arial"/>
              <a:cs typeface="Arial"/>
              <a:sym typeface="Arial"/>
            </a:endParaRPr>
          </a:p>
        </p:txBody>
      </p:sp>
      <p:sp>
        <p:nvSpPr>
          <p:cNvPr id="122" name="Google Shape;122;p10"/>
          <p:cNvSpPr/>
          <p:nvPr/>
        </p:nvSpPr>
        <p:spPr>
          <a:xfrm>
            <a:off x="736600" y="2580615"/>
            <a:ext cx="4826000" cy="2209403"/>
          </a:xfrm>
          <a:prstGeom prst="rect">
            <a:avLst/>
          </a:prstGeom>
          <a:solidFill>
            <a:srgbClr val="FFF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aphicFrame>
        <p:nvGraphicFramePr>
          <p:cNvPr id="123" name="Google Shape;123;p10"/>
          <p:cNvGraphicFramePr/>
          <p:nvPr/>
        </p:nvGraphicFramePr>
        <p:xfrm>
          <a:off x="749300" y="2593315"/>
          <a:ext cx="3000000" cy="3000000"/>
        </p:xfrm>
        <a:graphic>
          <a:graphicData uri="http://schemas.openxmlformats.org/drawingml/2006/table">
            <a:tbl>
              <a:tblPr>
                <a:noFill/>
                <a:tableStyleId>{BA11AAC2-A7CE-4588-8191-665CEFB64C56}</a:tableStyleId>
              </a:tblPr>
              <a:tblGrid>
                <a:gridCol w="1925325"/>
                <a:gridCol w="2887975"/>
              </a:tblGrid>
              <a:tr h="439350">
                <a:tc>
                  <a:txBody>
                    <a:bodyPr/>
                    <a:lstStyle/>
                    <a:p>
                      <a:pPr indent="0" lvl="0" marL="0" marR="0" rtl="0" algn="ctr">
                        <a:lnSpc>
                          <a:spcPct val="140000"/>
                        </a:lnSpc>
                        <a:spcBef>
                          <a:spcPts val="0"/>
                        </a:spcBef>
                        <a:spcAft>
                          <a:spcPts val="0"/>
                        </a:spcAft>
                        <a:buClr>
                          <a:srgbClr val="3C4043"/>
                        </a:buClr>
                        <a:buSzPts val="1600"/>
                        <a:buFont typeface="Arial"/>
                        <a:buNone/>
                      </a:pPr>
                      <a:r>
                        <a:rPr b="1" lang="en-US" sz="1600" u="none" cap="none" strike="noStrike">
                          <a:solidFill>
                            <a:srgbClr val="3C4043"/>
                          </a:solidFill>
                          <a:latin typeface="Arial"/>
                          <a:ea typeface="Arial"/>
                          <a:cs typeface="Arial"/>
                          <a:sym typeface="Arial"/>
                        </a:rPr>
                        <a:t>in</a:t>
                      </a:r>
                      <a:endParaRPr sz="1600" u="none" cap="none" strike="noStrike">
                        <a:latin typeface="Arial"/>
                        <a:ea typeface="Arial"/>
                        <a:cs typeface="Arial"/>
                        <a:sym typeface="Arial"/>
                      </a:endParaRPr>
                    </a:p>
                  </a:txBody>
                  <a:tcPr marT="71125" marB="71125" marR="71125" marL="71125">
                    <a:lnL cap="flat" cmpd="sng" w="12700">
                      <a:solidFill>
                        <a:srgbClr val="CBC6BF"/>
                      </a:solidFill>
                      <a:prstDash val="solid"/>
                      <a:round/>
                      <a:headEnd len="sm" w="sm" type="none"/>
                      <a:tailEnd len="sm" w="sm" type="none"/>
                    </a:lnL>
                    <a:lnR cap="flat" cmpd="sng" w="12700">
                      <a:solidFill>
                        <a:srgbClr val="BCB8B1"/>
                      </a:solidFill>
                      <a:prstDash val="solid"/>
                      <a:round/>
                      <a:headEnd len="sm" w="sm" type="none"/>
                      <a:tailEnd len="sm" w="sm" type="none"/>
                    </a:lnR>
                    <a:lnT cap="flat" cmpd="sng" w="12700">
                      <a:solidFill>
                        <a:srgbClr val="CBC6BF"/>
                      </a:solidFill>
                      <a:prstDash val="solid"/>
                      <a:round/>
                      <a:headEnd len="sm" w="sm" type="none"/>
                      <a:tailEnd len="sm" w="sm" type="none"/>
                    </a:lnT>
                    <a:lnB cap="flat" cmpd="sng" w="12700">
                      <a:solidFill>
                        <a:srgbClr val="BCB8B1"/>
                      </a:solidFill>
                      <a:prstDash val="solid"/>
                      <a:round/>
                      <a:headEnd len="sm" w="sm" type="none"/>
                      <a:tailEnd len="sm" w="sm" type="none"/>
                    </a:lnB>
                    <a:solidFill>
                      <a:srgbClr val="ECE6DE"/>
                    </a:solidFill>
                  </a:tcPr>
                </a:tc>
                <a:tc>
                  <a:txBody>
                    <a:bodyPr/>
                    <a:lstStyle/>
                    <a:p>
                      <a:pPr indent="0" lvl="0" marL="0" marR="0" rtl="0" algn="ctr">
                        <a:lnSpc>
                          <a:spcPct val="140000"/>
                        </a:lnSpc>
                        <a:spcBef>
                          <a:spcPts val="0"/>
                        </a:spcBef>
                        <a:spcAft>
                          <a:spcPts val="0"/>
                        </a:spcAft>
                        <a:buClr>
                          <a:srgbClr val="3C4043"/>
                        </a:buClr>
                        <a:buSzPts val="1600"/>
                        <a:buFont typeface="Arial"/>
                        <a:buNone/>
                      </a:pPr>
                      <a:r>
                        <a:rPr b="1" lang="en-US" sz="1600" u="none" cap="none" strike="noStrike">
                          <a:solidFill>
                            <a:srgbClr val="3C4043"/>
                          </a:solidFill>
                          <a:latin typeface="Arial"/>
                          <a:ea typeface="Arial"/>
                          <a:cs typeface="Arial"/>
                          <a:sym typeface="Arial"/>
                        </a:rPr>
                        <a:t>out</a:t>
                      </a:r>
                      <a:endParaRPr sz="1600" u="none" cap="none" strike="noStrike">
                        <a:latin typeface="Arial"/>
                        <a:ea typeface="Arial"/>
                        <a:cs typeface="Arial"/>
                        <a:sym typeface="Arial"/>
                      </a:endParaRPr>
                    </a:p>
                  </a:txBody>
                  <a:tcPr marT="71125" marB="71125" marR="71125" marL="71125">
                    <a:lnL cap="flat" cmpd="sng" w="12700">
                      <a:solidFill>
                        <a:srgbClr val="BCB8B1"/>
                      </a:solidFill>
                      <a:prstDash val="solid"/>
                      <a:round/>
                      <a:headEnd len="sm" w="sm" type="none"/>
                      <a:tailEnd len="sm" w="sm" type="none"/>
                    </a:lnL>
                    <a:lnR cap="flat" cmpd="sng" w="12700">
                      <a:solidFill>
                        <a:srgbClr val="BCB8B1"/>
                      </a:solidFill>
                      <a:prstDash val="solid"/>
                      <a:round/>
                      <a:headEnd len="sm" w="sm" type="none"/>
                      <a:tailEnd len="sm" w="sm" type="none"/>
                    </a:lnR>
                    <a:lnT cap="flat" cmpd="sng" w="12700">
                      <a:solidFill>
                        <a:srgbClr val="CBC6BF"/>
                      </a:solidFill>
                      <a:prstDash val="solid"/>
                      <a:round/>
                      <a:headEnd len="sm" w="sm" type="none"/>
                      <a:tailEnd len="sm" w="sm" type="none"/>
                    </a:lnT>
                    <a:lnB cap="flat" cmpd="sng" w="12700">
                      <a:solidFill>
                        <a:srgbClr val="BCB8B1"/>
                      </a:solidFill>
                      <a:prstDash val="solid"/>
                      <a:round/>
                      <a:headEnd len="sm" w="sm" type="none"/>
                      <a:tailEnd len="sm" w="sm" type="none"/>
                    </a:lnB>
                    <a:solidFill>
                      <a:srgbClr val="ECE6DE"/>
                    </a:solidFill>
                  </a:tcPr>
                </a:tc>
              </a:tr>
              <a:tr h="439350">
                <a:tc>
                  <a:txBody>
                    <a:bodyPr/>
                    <a:lstStyle/>
                    <a:p>
                      <a:pPr indent="0" lvl="0" marL="0" marR="0" rtl="0" algn="ctr">
                        <a:lnSpc>
                          <a:spcPct val="140000"/>
                        </a:lnSpc>
                        <a:spcBef>
                          <a:spcPts val="0"/>
                        </a:spcBef>
                        <a:spcAft>
                          <a:spcPts val="0"/>
                        </a:spcAft>
                        <a:buClr>
                          <a:srgbClr val="3C4043"/>
                        </a:buClr>
                        <a:buSzPts val="1600"/>
                        <a:buFont typeface="Arial"/>
                        <a:buNone/>
                      </a:pPr>
                      <a:r>
                        <a:rPr lang="en-US" sz="1600" u="none" cap="none" strike="noStrike">
                          <a:solidFill>
                            <a:srgbClr val="3C4043"/>
                          </a:solidFill>
                          <a:latin typeface="Arial"/>
                          <a:ea typeface="Arial"/>
                          <a:cs typeface="Arial"/>
                          <a:sym typeface="Arial"/>
                        </a:rPr>
                        <a:t>00</a:t>
                      </a:r>
                      <a:endParaRPr sz="1600" u="none" cap="none" strike="noStrike">
                        <a:latin typeface="Arial"/>
                        <a:ea typeface="Arial"/>
                        <a:cs typeface="Arial"/>
                        <a:sym typeface="Arial"/>
                      </a:endParaRPr>
                    </a:p>
                  </a:txBody>
                  <a:tcPr marT="71125" marB="71125" marR="71125" marL="71125">
                    <a:lnL cap="flat" cmpd="sng" w="12700">
                      <a:solidFill>
                        <a:srgbClr val="CBC6BF"/>
                      </a:solidFill>
                      <a:prstDash val="solid"/>
                      <a:round/>
                      <a:headEnd len="sm" w="sm" type="none"/>
                      <a:tailEnd len="sm" w="sm" type="none"/>
                    </a:lnL>
                    <a:lnR cap="flat" cmpd="sng" w="12700">
                      <a:solidFill>
                        <a:srgbClr val="CBC6BF"/>
                      </a:solidFill>
                      <a:prstDash val="solid"/>
                      <a:round/>
                      <a:headEnd len="sm" w="sm" type="none"/>
                      <a:tailEnd len="sm" w="sm" type="none"/>
                    </a:lnR>
                    <a:lnT cap="flat" cmpd="sng" w="12700">
                      <a:solidFill>
                        <a:srgbClr val="BCB8B1"/>
                      </a:solidFill>
                      <a:prstDash val="solid"/>
                      <a:round/>
                      <a:headEnd len="sm" w="sm" type="none"/>
                      <a:tailEnd len="sm" w="sm" type="none"/>
                    </a:lnT>
                    <a:lnB cap="flat" cmpd="sng" w="12700">
                      <a:solidFill>
                        <a:srgbClr val="CBC6BF"/>
                      </a:solidFill>
                      <a:prstDash val="solid"/>
                      <a:round/>
                      <a:headEnd len="sm" w="sm" type="none"/>
                      <a:tailEnd len="sm" w="sm" type="none"/>
                    </a:lnB>
                  </a:tcPr>
                </a:tc>
                <a:tc>
                  <a:txBody>
                    <a:bodyPr/>
                    <a:lstStyle/>
                    <a:p>
                      <a:pPr indent="0" lvl="0" marL="0" marR="0" rtl="0" algn="ctr">
                        <a:lnSpc>
                          <a:spcPct val="140000"/>
                        </a:lnSpc>
                        <a:spcBef>
                          <a:spcPts val="0"/>
                        </a:spcBef>
                        <a:spcAft>
                          <a:spcPts val="0"/>
                        </a:spcAft>
                        <a:buClr>
                          <a:srgbClr val="3C4043"/>
                        </a:buClr>
                        <a:buSzPts val="1600"/>
                        <a:buFont typeface="Arial"/>
                        <a:buNone/>
                      </a:pPr>
                      <a:r>
                        <a:rPr lang="en-US" sz="1600" u="none" cap="none" strike="noStrike">
                          <a:solidFill>
                            <a:srgbClr val="3C4043"/>
                          </a:solidFill>
                          <a:latin typeface="Arial"/>
                          <a:ea typeface="Arial"/>
                          <a:cs typeface="Arial"/>
                          <a:sym typeface="Arial"/>
                        </a:rPr>
                        <a:t>0001</a:t>
                      </a:r>
                      <a:endParaRPr sz="1600" u="none" cap="none" strike="noStrike">
                        <a:latin typeface="Arial"/>
                        <a:ea typeface="Arial"/>
                        <a:cs typeface="Arial"/>
                        <a:sym typeface="Arial"/>
                      </a:endParaRPr>
                    </a:p>
                  </a:txBody>
                  <a:tcPr marT="71125" marB="71125" marR="71125" marL="71125">
                    <a:lnL cap="flat" cmpd="sng" w="12700">
                      <a:solidFill>
                        <a:srgbClr val="CBC6BF"/>
                      </a:solidFill>
                      <a:prstDash val="solid"/>
                      <a:round/>
                      <a:headEnd len="sm" w="sm" type="none"/>
                      <a:tailEnd len="sm" w="sm" type="none"/>
                    </a:lnL>
                    <a:lnR cap="flat" cmpd="sng" w="12700">
                      <a:solidFill>
                        <a:srgbClr val="CBC6BF"/>
                      </a:solidFill>
                      <a:prstDash val="solid"/>
                      <a:round/>
                      <a:headEnd len="sm" w="sm" type="none"/>
                      <a:tailEnd len="sm" w="sm" type="none"/>
                    </a:lnR>
                    <a:lnT cap="flat" cmpd="sng" w="12700">
                      <a:solidFill>
                        <a:srgbClr val="BCB8B1"/>
                      </a:solidFill>
                      <a:prstDash val="solid"/>
                      <a:round/>
                      <a:headEnd len="sm" w="sm" type="none"/>
                      <a:tailEnd len="sm" w="sm" type="none"/>
                    </a:lnT>
                    <a:lnB cap="flat" cmpd="sng" w="12700">
                      <a:solidFill>
                        <a:srgbClr val="CBC6BF"/>
                      </a:solidFill>
                      <a:prstDash val="solid"/>
                      <a:round/>
                      <a:headEnd len="sm" w="sm" type="none"/>
                      <a:tailEnd len="sm" w="sm" type="none"/>
                    </a:lnB>
                  </a:tcPr>
                </a:tc>
              </a:tr>
              <a:tr h="439350">
                <a:tc>
                  <a:txBody>
                    <a:bodyPr/>
                    <a:lstStyle/>
                    <a:p>
                      <a:pPr indent="0" lvl="0" marL="0" marR="0" rtl="0" algn="ctr">
                        <a:lnSpc>
                          <a:spcPct val="140000"/>
                        </a:lnSpc>
                        <a:spcBef>
                          <a:spcPts val="0"/>
                        </a:spcBef>
                        <a:spcAft>
                          <a:spcPts val="0"/>
                        </a:spcAft>
                        <a:buClr>
                          <a:srgbClr val="3C4043"/>
                        </a:buClr>
                        <a:buSzPts val="1600"/>
                        <a:buFont typeface="Arial"/>
                        <a:buNone/>
                      </a:pPr>
                      <a:r>
                        <a:rPr lang="en-US" sz="1600" u="none" cap="none" strike="noStrike">
                          <a:solidFill>
                            <a:srgbClr val="3C4043"/>
                          </a:solidFill>
                          <a:latin typeface="Arial"/>
                          <a:ea typeface="Arial"/>
                          <a:cs typeface="Arial"/>
                          <a:sym typeface="Arial"/>
                        </a:rPr>
                        <a:t>01</a:t>
                      </a:r>
                      <a:endParaRPr sz="1600" u="none" cap="none" strike="noStrike">
                        <a:latin typeface="Arial"/>
                        <a:ea typeface="Arial"/>
                        <a:cs typeface="Arial"/>
                        <a:sym typeface="Arial"/>
                      </a:endParaRPr>
                    </a:p>
                  </a:txBody>
                  <a:tcPr marT="71125" marB="71125" marR="71125" marL="71125">
                    <a:lnL cap="flat" cmpd="sng" w="12700">
                      <a:solidFill>
                        <a:srgbClr val="CBC6BF"/>
                      </a:solidFill>
                      <a:prstDash val="solid"/>
                      <a:round/>
                      <a:headEnd len="sm" w="sm" type="none"/>
                      <a:tailEnd len="sm" w="sm" type="none"/>
                    </a:lnL>
                    <a:lnR cap="flat" cmpd="sng" w="12700">
                      <a:solidFill>
                        <a:srgbClr val="CBC6BF"/>
                      </a:solidFill>
                      <a:prstDash val="solid"/>
                      <a:round/>
                      <a:headEnd len="sm" w="sm" type="none"/>
                      <a:tailEnd len="sm" w="sm" type="none"/>
                    </a:lnR>
                    <a:lnT cap="flat" cmpd="sng" w="12700">
                      <a:solidFill>
                        <a:srgbClr val="CBC6BF"/>
                      </a:solidFill>
                      <a:prstDash val="solid"/>
                      <a:round/>
                      <a:headEnd len="sm" w="sm" type="none"/>
                      <a:tailEnd len="sm" w="sm" type="none"/>
                    </a:lnT>
                    <a:lnB cap="flat" cmpd="sng" w="12700">
                      <a:solidFill>
                        <a:srgbClr val="CBC6BF"/>
                      </a:solidFill>
                      <a:prstDash val="solid"/>
                      <a:round/>
                      <a:headEnd len="sm" w="sm" type="none"/>
                      <a:tailEnd len="sm" w="sm" type="none"/>
                    </a:lnB>
                  </a:tcPr>
                </a:tc>
                <a:tc>
                  <a:txBody>
                    <a:bodyPr/>
                    <a:lstStyle/>
                    <a:p>
                      <a:pPr indent="0" lvl="0" marL="0" marR="0" rtl="0" algn="ctr">
                        <a:lnSpc>
                          <a:spcPct val="140000"/>
                        </a:lnSpc>
                        <a:spcBef>
                          <a:spcPts val="0"/>
                        </a:spcBef>
                        <a:spcAft>
                          <a:spcPts val="0"/>
                        </a:spcAft>
                        <a:buClr>
                          <a:srgbClr val="3C4043"/>
                        </a:buClr>
                        <a:buSzPts val="1600"/>
                        <a:buFont typeface="Arial"/>
                        <a:buNone/>
                      </a:pPr>
                      <a:r>
                        <a:rPr lang="en-US" sz="1600" u="none" cap="none" strike="noStrike">
                          <a:solidFill>
                            <a:srgbClr val="3C4043"/>
                          </a:solidFill>
                          <a:latin typeface="Arial"/>
                          <a:ea typeface="Arial"/>
                          <a:cs typeface="Arial"/>
                          <a:sym typeface="Arial"/>
                        </a:rPr>
                        <a:t>0010</a:t>
                      </a:r>
                      <a:endParaRPr sz="1600" u="none" cap="none" strike="noStrike">
                        <a:latin typeface="Arial"/>
                        <a:ea typeface="Arial"/>
                        <a:cs typeface="Arial"/>
                        <a:sym typeface="Arial"/>
                      </a:endParaRPr>
                    </a:p>
                  </a:txBody>
                  <a:tcPr marT="71125" marB="71125" marR="71125" marL="71125">
                    <a:lnL cap="flat" cmpd="sng" w="12700">
                      <a:solidFill>
                        <a:srgbClr val="CBC6BF"/>
                      </a:solidFill>
                      <a:prstDash val="solid"/>
                      <a:round/>
                      <a:headEnd len="sm" w="sm" type="none"/>
                      <a:tailEnd len="sm" w="sm" type="none"/>
                    </a:lnL>
                    <a:lnR cap="flat" cmpd="sng" w="12700">
                      <a:solidFill>
                        <a:srgbClr val="CBC6BF"/>
                      </a:solidFill>
                      <a:prstDash val="solid"/>
                      <a:round/>
                      <a:headEnd len="sm" w="sm" type="none"/>
                      <a:tailEnd len="sm" w="sm" type="none"/>
                    </a:lnR>
                    <a:lnT cap="flat" cmpd="sng" w="12700">
                      <a:solidFill>
                        <a:srgbClr val="CBC6BF"/>
                      </a:solidFill>
                      <a:prstDash val="solid"/>
                      <a:round/>
                      <a:headEnd len="sm" w="sm" type="none"/>
                      <a:tailEnd len="sm" w="sm" type="none"/>
                    </a:lnT>
                    <a:lnB cap="flat" cmpd="sng" w="12700">
                      <a:solidFill>
                        <a:srgbClr val="CBC6BF"/>
                      </a:solidFill>
                      <a:prstDash val="solid"/>
                      <a:round/>
                      <a:headEnd len="sm" w="sm" type="none"/>
                      <a:tailEnd len="sm" w="sm" type="none"/>
                    </a:lnB>
                  </a:tcPr>
                </a:tc>
              </a:tr>
              <a:tr h="439350">
                <a:tc>
                  <a:txBody>
                    <a:bodyPr/>
                    <a:lstStyle/>
                    <a:p>
                      <a:pPr indent="0" lvl="0" marL="0" marR="0" rtl="0" algn="ctr">
                        <a:lnSpc>
                          <a:spcPct val="140000"/>
                        </a:lnSpc>
                        <a:spcBef>
                          <a:spcPts val="0"/>
                        </a:spcBef>
                        <a:spcAft>
                          <a:spcPts val="0"/>
                        </a:spcAft>
                        <a:buClr>
                          <a:srgbClr val="3C4043"/>
                        </a:buClr>
                        <a:buSzPts val="1600"/>
                        <a:buFont typeface="Arial"/>
                        <a:buNone/>
                      </a:pPr>
                      <a:r>
                        <a:rPr lang="en-US" sz="1600" u="none" cap="none" strike="noStrike">
                          <a:solidFill>
                            <a:srgbClr val="3C4043"/>
                          </a:solidFill>
                          <a:latin typeface="Arial"/>
                          <a:ea typeface="Arial"/>
                          <a:cs typeface="Arial"/>
                          <a:sym typeface="Arial"/>
                        </a:rPr>
                        <a:t>10</a:t>
                      </a:r>
                      <a:endParaRPr sz="1600" u="none" cap="none" strike="noStrike">
                        <a:latin typeface="Arial"/>
                        <a:ea typeface="Arial"/>
                        <a:cs typeface="Arial"/>
                        <a:sym typeface="Arial"/>
                      </a:endParaRPr>
                    </a:p>
                  </a:txBody>
                  <a:tcPr marT="71125" marB="71125" marR="71125" marL="71125">
                    <a:lnL cap="flat" cmpd="sng" w="12700">
                      <a:solidFill>
                        <a:srgbClr val="CBC6BF"/>
                      </a:solidFill>
                      <a:prstDash val="solid"/>
                      <a:round/>
                      <a:headEnd len="sm" w="sm" type="none"/>
                      <a:tailEnd len="sm" w="sm" type="none"/>
                    </a:lnL>
                    <a:lnR cap="flat" cmpd="sng" w="12700">
                      <a:solidFill>
                        <a:srgbClr val="CBC6BF"/>
                      </a:solidFill>
                      <a:prstDash val="solid"/>
                      <a:round/>
                      <a:headEnd len="sm" w="sm" type="none"/>
                      <a:tailEnd len="sm" w="sm" type="none"/>
                    </a:lnR>
                    <a:lnT cap="flat" cmpd="sng" w="12700">
                      <a:solidFill>
                        <a:srgbClr val="CBC6BF"/>
                      </a:solidFill>
                      <a:prstDash val="solid"/>
                      <a:round/>
                      <a:headEnd len="sm" w="sm" type="none"/>
                      <a:tailEnd len="sm" w="sm" type="none"/>
                    </a:lnT>
                    <a:lnB cap="flat" cmpd="sng" w="12700">
                      <a:solidFill>
                        <a:srgbClr val="CBC6BF"/>
                      </a:solidFill>
                      <a:prstDash val="solid"/>
                      <a:round/>
                      <a:headEnd len="sm" w="sm" type="none"/>
                      <a:tailEnd len="sm" w="sm" type="none"/>
                    </a:lnB>
                  </a:tcPr>
                </a:tc>
                <a:tc>
                  <a:txBody>
                    <a:bodyPr/>
                    <a:lstStyle/>
                    <a:p>
                      <a:pPr indent="0" lvl="0" marL="0" marR="0" rtl="0" algn="ctr">
                        <a:lnSpc>
                          <a:spcPct val="140000"/>
                        </a:lnSpc>
                        <a:spcBef>
                          <a:spcPts val="0"/>
                        </a:spcBef>
                        <a:spcAft>
                          <a:spcPts val="0"/>
                        </a:spcAft>
                        <a:buClr>
                          <a:srgbClr val="3C4043"/>
                        </a:buClr>
                        <a:buSzPts val="1600"/>
                        <a:buFont typeface="Arial"/>
                        <a:buNone/>
                      </a:pPr>
                      <a:r>
                        <a:rPr lang="en-US" sz="1600" u="none" cap="none" strike="noStrike">
                          <a:solidFill>
                            <a:srgbClr val="3C4043"/>
                          </a:solidFill>
                          <a:latin typeface="Arial"/>
                          <a:ea typeface="Arial"/>
                          <a:cs typeface="Arial"/>
                          <a:sym typeface="Arial"/>
                        </a:rPr>
                        <a:t>0100</a:t>
                      </a:r>
                      <a:endParaRPr sz="1600" u="none" cap="none" strike="noStrike">
                        <a:latin typeface="Arial"/>
                        <a:ea typeface="Arial"/>
                        <a:cs typeface="Arial"/>
                        <a:sym typeface="Arial"/>
                      </a:endParaRPr>
                    </a:p>
                  </a:txBody>
                  <a:tcPr marT="71125" marB="71125" marR="71125" marL="71125">
                    <a:lnL cap="flat" cmpd="sng" w="12700">
                      <a:solidFill>
                        <a:srgbClr val="CBC6BF"/>
                      </a:solidFill>
                      <a:prstDash val="solid"/>
                      <a:round/>
                      <a:headEnd len="sm" w="sm" type="none"/>
                      <a:tailEnd len="sm" w="sm" type="none"/>
                    </a:lnL>
                    <a:lnR cap="flat" cmpd="sng" w="12700">
                      <a:solidFill>
                        <a:srgbClr val="CBC6BF"/>
                      </a:solidFill>
                      <a:prstDash val="solid"/>
                      <a:round/>
                      <a:headEnd len="sm" w="sm" type="none"/>
                      <a:tailEnd len="sm" w="sm" type="none"/>
                    </a:lnR>
                    <a:lnT cap="flat" cmpd="sng" w="12700">
                      <a:solidFill>
                        <a:srgbClr val="CBC6BF"/>
                      </a:solidFill>
                      <a:prstDash val="solid"/>
                      <a:round/>
                      <a:headEnd len="sm" w="sm" type="none"/>
                      <a:tailEnd len="sm" w="sm" type="none"/>
                    </a:lnT>
                    <a:lnB cap="flat" cmpd="sng" w="12700">
                      <a:solidFill>
                        <a:srgbClr val="CBC6BF"/>
                      </a:solidFill>
                      <a:prstDash val="solid"/>
                      <a:round/>
                      <a:headEnd len="sm" w="sm" type="none"/>
                      <a:tailEnd len="sm" w="sm" type="none"/>
                    </a:lnB>
                  </a:tcPr>
                </a:tc>
              </a:tr>
              <a:tr h="439350">
                <a:tc>
                  <a:txBody>
                    <a:bodyPr/>
                    <a:lstStyle/>
                    <a:p>
                      <a:pPr indent="0" lvl="0" marL="0" marR="0" rtl="0" algn="ctr">
                        <a:lnSpc>
                          <a:spcPct val="140000"/>
                        </a:lnSpc>
                        <a:spcBef>
                          <a:spcPts val="0"/>
                        </a:spcBef>
                        <a:spcAft>
                          <a:spcPts val="0"/>
                        </a:spcAft>
                        <a:buClr>
                          <a:srgbClr val="3C4043"/>
                        </a:buClr>
                        <a:buSzPts val="1600"/>
                        <a:buFont typeface="Arial"/>
                        <a:buNone/>
                      </a:pPr>
                      <a:r>
                        <a:rPr lang="en-US" sz="1600" u="none" cap="none" strike="noStrike">
                          <a:solidFill>
                            <a:srgbClr val="3C4043"/>
                          </a:solidFill>
                          <a:latin typeface="Arial"/>
                          <a:ea typeface="Arial"/>
                          <a:cs typeface="Arial"/>
                          <a:sym typeface="Arial"/>
                        </a:rPr>
                        <a:t>11</a:t>
                      </a:r>
                      <a:endParaRPr sz="1600" u="none" cap="none" strike="noStrike">
                        <a:latin typeface="Arial"/>
                        <a:ea typeface="Arial"/>
                        <a:cs typeface="Arial"/>
                        <a:sym typeface="Arial"/>
                      </a:endParaRPr>
                    </a:p>
                  </a:txBody>
                  <a:tcPr marT="71125" marB="71125" marR="71125" marL="71125">
                    <a:lnL cap="flat" cmpd="sng" w="12700">
                      <a:solidFill>
                        <a:srgbClr val="CBC6BF"/>
                      </a:solidFill>
                      <a:prstDash val="solid"/>
                      <a:round/>
                      <a:headEnd len="sm" w="sm" type="none"/>
                      <a:tailEnd len="sm" w="sm" type="none"/>
                    </a:lnL>
                    <a:lnR cap="flat" cmpd="sng" w="12700">
                      <a:solidFill>
                        <a:srgbClr val="CBC6BF"/>
                      </a:solidFill>
                      <a:prstDash val="solid"/>
                      <a:round/>
                      <a:headEnd len="sm" w="sm" type="none"/>
                      <a:tailEnd len="sm" w="sm" type="none"/>
                    </a:lnR>
                    <a:lnT cap="flat" cmpd="sng" w="12700">
                      <a:solidFill>
                        <a:srgbClr val="CBC6BF"/>
                      </a:solidFill>
                      <a:prstDash val="solid"/>
                      <a:round/>
                      <a:headEnd len="sm" w="sm" type="none"/>
                      <a:tailEnd len="sm" w="sm" type="none"/>
                    </a:lnT>
                    <a:lnB cap="flat" cmpd="sng" w="12700">
                      <a:solidFill>
                        <a:srgbClr val="CBC6BF"/>
                      </a:solidFill>
                      <a:prstDash val="solid"/>
                      <a:round/>
                      <a:headEnd len="sm" w="sm" type="none"/>
                      <a:tailEnd len="sm" w="sm" type="none"/>
                    </a:lnB>
                  </a:tcPr>
                </a:tc>
                <a:tc>
                  <a:txBody>
                    <a:bodyPr/>
                    <a:lstStyle/>
                    <a:p>
                      <a:pPr indent="0" lvl="0" marL="0" marR="0" rtl="0" algn="ctr">
                        <a:lnSpc>
                          <a:spcPct val="140000"/>
                        </a:lnSpc>
                        <a:spcBef>
                          <a:spcPts val="0"/>
                        </a:spcBef>
                        <a:spcAft>
                          <a:spcPts val="0"/>
                        </a:spcAft>
                        <a:buClr>
                          <a:srgbClr val="3C4043"/>
                        </a:buClr>
                        <a:buSzPts val="1600"/>
                        <a:buFont typeface="Arial"/>
                        <a:buNone/>
                      </a:pPr>
                      <a:r>
                        <a:rPr lang="en-US" sz="1600" u="none" cap="none" strike="noStrike">
                          <a:solidFill>
                            <a:srgbClr val="3C4043"/>
                          </a:solidFill>
                          <a:latin typeface="Arial"/>
                          <a:ea typeface="Arial"/>
                          <a:cs typeface="Arial"/>
                          <a:sym typeface="Arial"/>
                        </a:rPr>
                        <a:t>1000</a:t>
                      </a:r>
                      <a:endParaRPr sz="1600" u="none" cap="none" strike="noStrike">
                        <a:latin typeface="Arial"/>
                        <a:ea typeface="Arial"/>
                        <a:cs typeface="Arial"/>
                        <a:sym typeface="Arial"/>
                      </a:endParaRPr>
                    </a:p>
                  </a:txBody>
                  <a:tcPr marT="71125" marB="71125" marR="71125" marL="71125">
                    <a:lnL cap="flat" cmpd="sng" w="12700">
                      <a:solidFill>
                        <a:srgbClr val="CBC6BF"/>
                      </a:solidFill>
                      <a:prstDash val="solid"/>
                      <a:round/>
                      <a:headEnd len="sm" w="sm" type="none"/>
                      <a:tailEnd len="sm" w="sm" type="none"/>
                    </a:lnL>
                    <a:lnR cap="flat" cmpd="sng" w="12700">
                      <a:solidFill>
                        <a:srgbClr val="CBC6BF"/>
                      </a:solidFill>
                      <a:prstDash val="solid"/>
                      <a:round/>
                      <a:headEnd len="sm" w="sm" type="none"/>
                      <a:tailEnd len="sm" w="sm" type="none"/>
                    </a:lnR>
                    <a:lnT cap="flat" cmpd="sng" w="12700">
                      <a:solidFill>
                        <a:srgbClr val="CBC6BF"/>
                      </a:solidFill>
                      <a:prstDash val="solid"/>
                      <a:round/>
                      <a:headEnd len="sm" w="sm" type="none"/>
                      <a:tailEnd len="sm" w="sm" type="none"/>
                    </a:lnT>
                    <a:lnB cap="flat" cmpd="sng" w="12700">
                      <a:solidFill>
                        <a:srgbClr val="CBC6BF"/>
                      </a:solidFill>
                      <a:prstDash val="solid"/>
                      <a:round/>
                      <a:headEnd len="sm" w="sm" type="none"/>
                      <a:tailEnd len="sm" w="sm" type="none"/>
                    </a:lnB>
                  </a:tcPr>
                </a:tc>
              </a:tr>
            </a:tbl>
          </a:graphicData>
        </a:graphic>
      </p:graphicFrame>
      <p:sp>
        <p:nvSpPr>
          <p:cNvPr id="124" name="Google Shape;124;p10"/>
          <p:cNvSpPr/>
          <p:nvPr/>
        </p:nvSpPr>
        <p:spPr>
          <a:xfrm>
            <a:off x="736600" y="4967818"/>
            <a:ext cx="4970780" cy="55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4E52"/>
              </a:buClr>
              <a:buSzPts val="1500"/>
              <a:buFont typeface="Arial"/>
              <a:buNone/>
            </a:pPr>
            <a:r>
              <a:rPr b="0" i="0" lang="en-US" sz="1500" u="none" cap="none" strike="noStrike">
                <a:solidFill>
                  <a:srgbClr val="4A4E52"/>
                </a:solidFill>
                <a:latin typeface="Arial"/>
                <a:ea typeface="Arial"/>
                <a:cs typeface="Arial"/>
                <a:sym typeface="Arial"/>
              </a:rPr>
              <a:t>Uses: address decoding, picking one display digit, 7-segment drivers</a:t>
            </a:r>
            <a:endParaRPr b="0" i="0" sz="1500" u="none" cap="none" strike="noStrike">
              <a:solidFill>
                <a:schemeClr val="dk1"/>
              </a:solidFill>
              <a:latin typeface="Arial"/>
              <a:ea typeface="Arial"/>
              <a:cs typeface="Arial"/>
              <a:sym typeface="Arial"/>
            </a:endParaRPr>
          </a:p>
        </p:txBody>
      </p:sp>
      <p:sp>
        <p:nvSpPr>
          <p:cNvPr id="125" name="Google Shape;125;p10"/>
          <p:cNvSpPr/>
          <p:nvPr/>
        </p:nvSpPr>
        <p:spPr>
          <a:xfrm>
            <a:off x="5969000" y="1739900"/>
            <a:ext cx="5410200" cy="3343473"/>
          </a:xfrm>
          <a:prstGeom prst="roundRect">
            <a:avLst>
              <a:gd fmla="val 4558" name="adj"/>
            </a:avLst>
          </a:prstGeom>
          <a:solidFill>
            <a:srgbClr val="2F3237"/>
          </a:solidFill>
          <a:ln>
            <a:noFill/>
          </a:ln>
        </p:spPr>
        <p:txBody>
          <a:bodyPr anchorCtr="0" anchor="t" bIns="183950" lIns="234750" spcFirstLastPara="1" rIns="89200" wrap="square" tIns="209350">
            <a:noAutofit/>
          </a:bodyPr>
          <a:lstStyle/>
          <a:p>
            <a:pPr indent="0" lvl="0" marL="0" marR="0" rtl="0" algn="l">
              <a:lnSpc>
                <a:spcPct val="145000"/>
              </a:lnSpc>
              <a:spcBef>
                <a:spcPts val="0"/>
              </a:spcBef>
              <a:spcAft>
                <a:spcPts val="0"/>
              </a:spcAft>
              <a:buClr>
                <a:srgbClr val="A9C4D6"/>
              </a:buClr>
              <a:buSzPts val="1400"/>
              <a:buFont typeface="Courier New"/>
              <a:buNone/>
            </a:pPr>
            <a:r>
              <a:rPr b="0" i="0" lang="en-US" sz="1400" u="none" cap="none" strike="noStrike">
                <a:solidFill>
                  <a:srgbClr val="A9C4D6"/>
                </a:solidFill>
                <a:latin typeface="Courier New"/>
                <a:ea typeface="Courier New"/>
                <a:cs typeface="Courier New"/>
                <a:sym typeface="Courier New"/>
              </a:rPr>
              <a:t>// 2-to-4 decoder</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always_comb begin</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  out = 4'b0000;</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  out[in] = 1'b1;</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end</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A9C4D6"/>
              </a:buClr>
              <a:buSzPts val="1400"/>
              <a:buFont typeface="Courier New"/>
              <a:buNone/>
            </a:pPr>
            <a:r>
              <a:rPr b="0" i="0" lang="en-US" sz="1400" u="none" cap="none" strike="noStrike">
                <a:solidFill>
                  <a:srgbClr val="A9C4D6"/>
                </a:solidFill>
                <a:latin typeface="Courier New"/>
                <a:ea typeface="Courier New"/>
                <a:cs typeface="Courier New"/>
                <a:sym typeface="Courier New"/>
              </a:rPr>
              <a:t>// or spelled out</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assign out = (in == 2'd0) ? 4'b0001 :</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             (in == 2'd1) ? 4'b0010 :</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             (in == 2'd2) ? 4'b0100 :</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                             4'b1000;</a:t>
            </a:r>
            <a:endParaRPr b="0" i="0" sz="1400" u="none" cap="none" strike="noStrike">
              <a:solidFill>
                <a:schemeClr val="dk1"/>
              </a:solidFill>
              <a:latin typeface="Arial"/>
              <a:ea typeface="Arial"/>
              <a:cs typeface="Arial"/>
              <a:sym typeface="Arial"/>
            </a:endParaRPr>
          </a:p>
        </p:txBody>
      </p:sp>
      <p:sp>
        <p:nvSpPr>
          <p:cNvPr id="126" name="Google Shape;126;p10"/>
          <p:cNvSpPr/>
          <p:nvPr/>
        </p:nvSpPr>
        <p:spPr>
          <a:xfrm>
            <a:off x="10566400" y="6238280"/>
            <a:ext cx="812800" cy="23872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3C4043"/>
              </a:buClr>
              <a:buSzPts val="1200"/>
              <a:buFont typeface="Arial"/>
              <a:buNone/>
            </a:pPr>
            <a:r>
              <a:rPr b="0" i="0" lang="en-US" sz="1200" u="none" cap="none" strike="noStrike">
                <a:solidFill>
                  <a:srgbClr val="3C4043"/>
                </a:solidFill>
                <a:latin typeface="Arial"/>
                <a:ea typeface="Arial"/>
                <a:cs typeface="Arial"/>
                <a:sym typeface="Arial"/>
              </a:rPr>
              <a:t>7</a:t>
            </a:r>
            <a:endParaRPr b="0" i="0" sz="1200" u="none" cap="none" strike="noStrike">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DF0DC"/>
        </a:solidFill>
      </p:bgPr>
    </p:bg>
    <p:spTree>
      <p:nvGrpSpPr>
        <p:cNvPr id="131" name="Shape 131"/>
        <p:cNvGrpSpPr/>
        <p:nvPr/>
      </p:nvGrpSpPr>
      <p:grpSpPr>
        <a:xfrm>
          <a:off x="0" y="0"/>
          <a:ext cx="0" cy="0"/>
          <a:chOff x="0" y="0"/>
          <a:chExt cx="0" cy="0"/>
        </a:xfrm>
      </p:grpSpPr>
      <p:sp>
        <p:nvSpPr>
          <p:cNvPr id="132" name="Google Shape;132;p11"/>
          <p:cNvSpPr/>
          <p:nvPr/>
        </p:nvSpPr>
        <p:spPr>
          <a:xfrm>
            <a:off x="114300" y="114300"/>
            <a:ext cx="5886450" cy="381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C4043"/>
              </a:buClr>
              <a:buSzPts val="2000"/>
              <a:buFont typeface="Arial"/>
              <a:buNone/>
            </a:pPr>
            <a:r>
              <a:rPr b="0" i="0" lang="en-US" sz="2000" u="none" cap="none" strike="noStrike">
                <a:solidFill>
                  <a:srgbClr val="3C4043"/>
                </a:solidFill>
                <a:latin typeface="Arial"/>
                <a:ea typeface="Arial"/>
                <a:cs typeface="Arial"/>
                <a:sym typeface="Arial"/>
              </a:rPr>
              <a:t>Combinational Logic</a:t>
            </a:r>
            <a:endParaRPr b="0" i="0" sz="2000" u="none" cap="none" strike="noStrike">
              <a:solidFill>
                <a:schemeClr val="dk1"/>
              </a:solidFill>
              <a:latin typeface="Arial"/>
              <a:ea typeface="Arial"/>
              <a:cs typeface="Arial"/>
              <a:sym typeface="Arial"/>
            </a:endParaRPr>
          </a:p>
        </p:txBody>
      </p:sp>
      <p:sp>
        <p:nvSpPr>
          <p:cNvPr id="133" name="Google Shape;133;p11"/>
          <p:cNvSpPr txBox="1"/>
          <p:nvPr>
            <p:ph type="title"/>
          </p:nvPr>
        </p:nvSpPr>
        <p:spPr>
          <a:xfrm>
            <a:off x="736600" y="762000"/>
            <a:ext cx="10961878" cy="5842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3C4043"/>
              </a:buClr>
              <a:buSzPts val="4000"/>
              <a:buFont typeface="Arial"/>
              <a:buNone/>
            </a:pPr>
            <a:r>
              <a:rPr b="0" i="0" lang="en-US" sz="4000">
                <a:solidFill>
                  <a:srgbClr val="3C4043"/>
                </a:solidFill>
                <a:latin typeface="Arial"/>
                <a:ea typeface="Arial"/>
                <a:cs typeface="Arial"/>
                <a:sym typeface="Arial"/>
              </a:rPr>
              <a:t>Adders</a:t>
            </a:r>
            <a:endParaRPr sz="4000"/>
          </a:p>
        </p:txBody>
      </p:sp>
      <p:pic>
        <p:nvPicPr>
          <p:cNvPr descr="line" id="134" name="Google Shape;134;p11"/>
          <p:cNvPicPr preferRelativeResize="0"/>
          <p:nvPr/>
        </p:nvPicPr>
        <p:blipFill rotWithShape="1">
          <a:blip r:embed="rId3">
            <a:alphaModFix/>
          </a:blip>
          <a:srcRect b="0" l="0" r="0" t="0"/>
          <a:stretch/>
        </p:blipFill>
        <p:spPr>
          <a:xfrm>
            <a:off x="736600" y="1524000"/>
            <a:ext cx="10642600" cy="12700"/>
          </a:xfrm>
          <a:prstGeom prst="rect">
            <a:avLst/>
          </a:prstGeom>
          <a:noFill/>
          <a:ln>
            <a:noFill/>
          </a:ln>
        </p:spPr>
      </p:pic>
      <p:sp>
        <p:nvSpPr>
          <p:cNvPr id="135" name="Google Shape;135;p11"/>
          <p:cNvSpPr/>
          <p:nvPr/>
        </p:nvSpPr>
        <p:spPr>
          <a:xfrm>
            <a:off x="736600" y="1739900"/>
            <a:ext cx="4826000" cy="1209014"/>
          </a:xfrm>
          <a:prstGeom prst="roundRect">
            <a:avLst>
              <a:gd fmla="val 10504" name="adj"/>
            </a:avLst>
          </a:prstGeom>
          <a:solidFill>
            <a:srgbClr val="FFF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1"/>
          <p:cNvSpPr/>
          <p:nvPr/>
        </p:nvSpPr>
        <p:spPr>
          <a:xfrm>
            <a:off x="965200" y="1917700"/>
            <a:ext cx="4499864" cy="269214"/>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6F9E"/>
              </a:buClr>
              <a:buSzPts val="1600"/>
              <a:buFont typeface="Arial"/>
              <a:buNone/>
            </a:pPr>
            <a:r>
              <a:rPr b="1" i="0" lang="en-US" sz="1600" u="none" cap="none" strike="noStrike">
                <a:solidFill>
                  <a:srgbClr val="1B6F9E"/>
                </a:solidFill>
                <a:latin typeface="Arial"/>
                <a:ea typeface="Arial"/>
                <a:cs typeface="Arial"/>
                <a:sym typeface="Arial"/>
              </a:rPr>
              <a:t>Half adder (2 bits in)</a:t>
            </a:r>
            <a:endParaRPr b="0" i="0" sz="1600" u="none" cap="none" strike="noStrike">
              <a:solidFill>
                <a:schemeClr val="dk1"/>
              </a:solidFill>
              <a:latin typeface="Arial"/>
              <a:ea typeface="Arial"/>
              <a:cs typeface="Arial"/>
              <a:sym typeface="Arial"/>
            </a:endParaRPr>
          </a:p>
        </p:txBody>
      </p:sp>
      <p:sp>
        <p:nvSpPr>
          <p:cNvPr id="137" name="Google Shape;137;p11"/>
          <p:cNvSpPr/>
          <p:nvPr/>
        </p:nvSpPr>
        <p:spPr>
          <a:xfrm>
            <a:off x="965200" y="2237715"/>
            <a:ext cx="4499864" cy="55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C4043"/>
              </a:buClr>
              <a:buSzPts val="1500"/>
              <a:buFont typeface="Courier New"/>
              <a:buNone/>
            </a:pPr>
            <a:r>
              <a:rPr b="0" i="0" lang="en-US" sz="1500" u="none" cap="none" strike="noStrike">
                <a:solidFill>
                  <a:srgbClr val="3C4043"/>
                </a:solidFill>
                <a:latin typeface="Courier New"/>
                <a:ea typeface="Courier New"/>
                <a:cs typeface="Courier New"/>
                <a:sym typeface="Courier New"/>
              </a:rPr>
              <a:t>sum = a ^ b</a:t>
            </a:r>
            <a:endParaRPr b="0" i="0" sz="1500" u="none" cap="none" strike="noStrike">
              <a:solidFill>
                <a:schemeClr val="dk1"/>
              </a:solidFill>
              <a:latin typeface="Arial"/>
              <a:ea typeface="Arial"/>
              <a:cs typeface="Arial"/>
              <a:sym typeface="Arial"/>
            </a:endParaRPr>
          </a:p>
          <a:p>
            <a:pPr indent="0" lvl="0" marL="0" marR="0" rtl="0" algn="l">
              <a:lnSpc>
                <a:spcPct val="140000"/>
              </a:lnSpc>
              <a:spcBef>
                <a:spcPts val="0"/>
              </a:spcBef>
              <a:spcAft>
                <a:spcPts val="0"/>
              </a:spcAft>
              <a:buClr>
                <a:srgbClr val="3C4043"/>
              </a:buClr>
              <a:buSzPts val="1500"/>
              <a:buFont typeface="Courier New"/>
              <a:buNone/>
            </a:pPr>
            <a:r>
              <a:rPr b="0" i="0" lang="en-US" sz="1500" u="none" cap="none" strike="noStrike">
                <a:solidFill>
                  <a:srgbClr val="3C4043"/>
                </a:solidFill>
                <a:latin typeface="Courier New"/>
                <a:ea typeface="Courier New"/>
                <a:cs typeface="Courier New"/>
                <a:sym typeface="Courier New"/>
              </a:rPr>
              <a:t>carry = a &amp; b</a:t>
            </a:r>
            <a:endParaRPr b="0" i="0" sz="1500" u="none" cap="none" strike="noStrike">
              <a:solidFill>
                <a:schemeClr val="dk1"/>
              </a:solidFill>
              <a:latin typeface="Arial"/>
              <a:ea typeface="Arial"/>
              <a:cs typeface="Arial"/>
              <a:sym typeface="Arial"/>
            </a:endParaRPr>
          </a:p>
        </p:txBody>
      </p:sp>
      <p:sp>
        <p:nvSpPr>
          <p:cNvPr id="138" name="Google Shape;138;p11"/>
          <p:cNvSpPr/>
          <p:nvPr/>
        </p:nvSpPr>
        <p:spPr>
          <a:xfrm>
            <a:off x="736600" y="3101315"/>
            <a:ext cx="4826000" cy="1209014"/>
          </a:xfrm>
          <a:prstGeom prst="roundRect">
            <a:avLst>
              <a:gd fmla="val 10504" name="adj"/>
            </a:avLst>
          </a:prstGeom>
          <a:solidFill>
            <a:srgbClr val="FFF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1"/>
          <p:cNvSpPr/>
          <p:nvPr/>
        </p:nvSpPr>
        <p:spPr>
          <a:xfrm>
            <a:off x="965200" y="3279115"/>
            <a:ext cx="4499864" cy="269214"/>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6F9E"/>
              </a:buClr>
              <a:buSzPts val="1600"/>
              <a:buFont typeface="Arial"/>
              <a:buNone/>
            </a:pPr>
            <a:r>
              <a:rPr b="1" i="0" lang="en-US" sz="1600" u="none" cap="none" strike="noStrike">
                <a:solidFill>
                  <a:srgbClr val="1B6F9E"/>
                </a:solidFill>
                <a:latin typeface="Arial"/>
                <a:ea typeface="Arial"/>
                <a:cs typeface="Arial"/>
                <a:sym typeface="Arial"/>
              </a:rPr>
              <a:t>Full adder (adds carry-in)</a:t>
            </a:r>
            <a:endParaRPr b="0" i="0" sz="1600" u="none" cap="none" strike="noStrike">
              <a:solidFill>
                <a:schemeClr val="dk1"/>
              </a:solidFill>
              <a:latin typeface="Arial"/>
              <a:ea typeface="Arial"/>
              <a:cs typeface="Arial"/>
              <a:sym typeface="Arial"/>
            </a:endParaRPr>
          </a:p>
        </p:txBody>
      </p:sp>
      <p:sp>
        <p:nvSpPr>
          <p:cNvPr id="140" name="Google Shape;140;p11"/>
          <p:cNvSpPr/>
          <p:nvPr/>
        </p:nvSpPr>
        <p:spPr>
          <a:xfrm>
            <a:off x="965200" y="3599129"/>
            <a:ext cx="4499864" cy="55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C4043"/>
              </a:buClr>
              <a:buSzPts val="1500"/>
              <a:buFont typeface="Courier New"/>
              <a:buNone/>
            </a:pPr>
            <a:r>
              <a:rPr b="0" i="0" lang="en-US" sz="1500" u="none" cap="none" strike="noStrike">
                <a:solidFill>
                  <a:srgbClr val="3C4043"/>
                </a:solidFill>
                <a:latin typeface="Courier New"/>
                <a:ea typeface="Courier New"/>
                <a:cs typeface="Courier New"/>
                <a:sym typeface="Courier New"/>
              </a:rPr>
              <a:t>sum = a ^ b ^ cin</a:t>
            </a:r>
            <a:endParaRPr b="0" i="0" sz="1500" u="none" cap="none" strike="noStrike">
              <a:solidFill>
                <a:schemeClr val="dk1"/>
              </a:solidFill>
              <a:latin typeface="Arial"/>
              <a:ea typeface="Arial"/>
              <a:cs typeface="Arial"/>
              <a:sym typeface="Arial"/>
            </a:endParaRPr>
          </a:p>
          <a:p>
            <a:pPr indent="0" lvl="0" marL="0" marR="0" rtl="0" algn="l">
              <a:lnSpc>
                <a:spcPct val="140000"/>
              </a:lnSpc>
              <a:spcBef>
                <a:spcPts val="0"/>
              </a:spcBef>
              <a:spcAft>
                <a:spcPts val="0"/>
              </a:spcAft>
              <a:buClr>
                <a:srgbClr val="3C4043"/>
              </a:buClr>
              <a:buSzPts val="1500"/>
              <a:buFont typeface="Courier New"/>
              <a:buNone/>
            </a:pPr>
            <a:r>
              <a:rPr b="0" i="0" lang="en-US" sz="1500" u="none" cap="none" strike="noStrike">
                <a:solidFill>
                  <a:srgbClr val="3C4043"/>
                </a:solidFill>
                <a:latin typeface="Courier New"/>
                <a:ea typeface="Courier New"/>
                <a:cs typeface="Courier New"/>
                <a:sym typeface="Courier New"/>
              </a:rPr>
              <a:t>cout = (a&amp;b) | (cin&amp;(a^b))</a:t>
            </a:r>
            <a:endParaRPr b="0" i="0" sz="1500" u="none" cap="none" strike="noStrike">
              <a:solidFill>
                <a:schemeClr val="dk1"/>
              </a:solidFill>
              <a:latin typeface="Arial"/>
              <a:ea typeface="Arial"/>
              <a:cs typeface="Arial"/>
              <a:sym typeface="Arial"/>
            </a:endParaRPr>
          </a:p>
        </p:txBody>
      </p:sp>
      <p:sp>
        <p:nvSpPr>
          <p:cNvPr id="141" name="Google Shape;141;p11"/>
          <p:cNvSpPr/>
          <p:nvPr/>
        </p:nvSpPr>
        <p:spPr>
          <a:xfrm>
            <a:off x="736600" y="4462729"/>
            <a:ext cx="4970780" cy="55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4E52"/>
              </a:buClr>
              <a:buSzPts val="1500"/>
              <a:buFont typeface="Arial"/>
              <a:buNone/>
            </a:pPr>
            <a:r>
              <a:rPr b="0" i="0" lang="en-US" sz="1500" u="none" cap="none" strike="noStrike">
                <a:solidFill>
                  <a:srgbClr val="4A4E52"/>
                </a:solidFill>
                <a:latin typeface="Arial"/>
                <a:ea typeface="Arial"/>
                <a:cs typeface="Arial"/>
                <a:sym typeface="Arial"/>
              </a:rPr>
              <a:t>Chain n full adders = </a:t>
            </a:r>
            <a:r>
              <a:rPr b="1" i="0" lang="en-US" sz="1500" u="none" cap="none" strike="noStrike">
                <a:solidFill>
                  <a:srgbClr val="4A4E52"/>
                </a:solidFill>
                <a:latin typeface="Arial"/>
                <a:ea typeface="Arial"/>
                <a:cs typeface="Arial"/>
                <a:sym typeface="Arial"/>
              </a:rPr>
              <a:t>ripple-carry</a:t>
            </a:r>
            <a:r>
              <a:rPr b="0" i="0" lang="en-US" sz="1500" u="none" cap="none" strike="noStrike">
                <a:solidFill>
                  <a:srgbClr val="4A4E52"/>
                </a:solidFill>
                <a:latin typeface="Arial"/>
                <a:ea typeface="Arial"/>
                <a:cs typeface="Arial"/>
                <a:sym typeface="Arial"/>
              </a:rPr>
              <a:t> adder: each carry feeds the next bit</a:t>
            </a:r>
            <a:endParaRPr b="0" i="0" sz="1500" u="none" cap="none" strike="noStrike">
              <a:solidFill>
                <a:schemeClr val="dk1"/>
              </a:solidFill>
              <a:latin typeface="Arial"/>
              <a:ea typeface="Arial"/>
              <a:cs typeface="Arial"/>
              <a:sym typeface="Arial"/>
            </a:endParaRPr>
          </a:p>
        </p:txBody>
      </p:sp>
      <p:sp>
        <p:nvSpPr>
          <p:cNvPr id="142" name="Google Shape;142;p11"/>
          <p:cNvSpPr/>
          <p:nvPr/>
        </p:nvSpPr>
        <p:spPr>
          <a:xfrm>
            <a:off x="5969000" y="1739900"/>
            <a:ext cx="5410200" cy="2570163"/>
          </a:xfrm>
          <a:prstGeom prst="roundRect">
            <a:avLst>
              <a:gd fmla="val 5930" name="adj"/>
            </a:avLst>
          </a:prstGeom>
          <a:solidFill>
            <a:srgbClr val="2F3237"/>
          </a:solidFill>
          <a:ln>
            <a:noFill/>
          </a:ln>
        </p:spPr>
        <p:txBody>
          <a:bodyPr anchorCtr="0" anchor="t" bIns="183950" lIns="234750" spcFirstLastPara="1" rIns="89200" wrap="square" tIns="209350">
            <a:noAutofit/>
          </a:bodyPr>
          <a:lstStyle/>
          <a:p>
            <a:pPr indent="0" lvl="0" marL="0" marR="0" rtl="0" algn="l">
              <a:lnSpc>
                <a:spcPct val="145000"/>
              </a:lnSpc>
              <a:spcBef>
                <a:spcPts val="0"/>
              </a:spcBef>
              <a:spcAft>
                <a:spcPts val="0"/>
              </a:spcAft>
              <a:buClr>
                <a:srgbClr val="A9C4D6"/>
              </a:buClr>
              <a:buSzPts val="1400"/>
              <a:buFont typeface="Courier New"/>
              <a:buNone/>
            </a:pPr>
            <a:r>
              <a:rPr b="0" i="0" lang="en-US" sz="1400" u="none" cap="none" strike="noStrike">
                <a:solidFill>
                  <a:srgbClr val="A9C4D6"/>
                </a:solidFill>
                <a:latin typeface="Courier New"/>
                <a:ea typeface="Courier New"/>
                <a:cs typeface="Courier New"/>
                <a:sym typeface="Courier New"/>
              </a:rPr>
              <a:t>// 4-bit adder in one line</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logic [3:0] a, b, sum;</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logic cin, cout;</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assign {cout, sum} = a + b + cin;</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A9C4D6"/>
              </a:buClr>
              <a:buSzPts val="1400"/>
              <a:buFont typeface="Courier New"/>
              <a:buNone/>
            </a:pPr>
            <a:r>
              <a:rPr b="0" i="0" lang="en-US" sz="1400" u="none" cap="none" strike="noStrike">
                <a:solidFill>
                  <a:srgbClr val="A9C4D6"/>
                </a:solidFill>
                <a:latin typeface="Courier New"/>
                <a:ea typeface="Courier New"/>
                <a:cs typeface="Courier New"/>
                <a:sym typeface="Courier New"/>
              </a:rPr>
              <a:t>// {cout, sum} is 5 bits wide,</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A9C4D6"/>
              </a:buClr>
              <a:buSzPts val="1400"/>
              <a:buFont typeface="Courier New"/>
              <a:buNone/>
            </a:pPr>
            <a:r>
              <a:rPr b="0" i="0" lang="en-US" sz="1400" u="none" cap="none" strike="noStrike">
                <a:solidFill>
                  <a:srgbClr val="A9C4D6"/>
                </a:solidFill>
                <a:latin typeface="Courier New"/>
                <a:ea typeface="Courier New"/>
                <a:cs typeface="Courier New"/>
                <a:sym typeface="Courier New"/>
              </a:rPr>
              <a:t>// so the carry-out is kept</a:t>
            </a:r>
            <a:endParaRPr b="0" i="0" sz="1400" u="none" cap="none" strike="noStrike">
              <a:solidFill>
                <a:schemeClr val="dk1"/>
              </a:solidFill>
              <a:latin typeface="Arial"/>
              <a:ea typeface="Arial"/>
              <a:cs typeface="Arial"/>
              <a:sym typeface="Arial"/>
            </a:endParaRPr>
          </a:p>
        </p:txBody>
      </p:sp>
      <p:sp>
        <p:nvSpPr>
          <p:cNvPr id="143" name="Google Shape;143;p11"/>
          <p:cNvSpPr/>
          <p:nvPr/>
        </p:nvSpPr>
        <p:spPr>
          <a:xfrm>
            <a:off x="10566400" y="6238280"/>
            <a:ext cx="812800" cy="23872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3C4043"/>
              </a:buClr>
              <a:buSzPts val="1200"/>
              <a:buFont typeface="Arial"/>
              <a:buNone/>
            </a:pPr>
            <a:r>
              <a:rPr b="0" i="0" lang="en-US" sz="1200" u="none" cap="none" strike="noStrike">
                <a:solidFill>
                  <a:srgbClr val="3C4043"/>
                </a:solidFill>
                <a:latin typeface="Arial"/>
                <a:ea typeface="Arial"/>
                <a:cs typeface="Arial"/>
                <a:sym typeface="Arial"/>
              </a:rPr>
              <a:t>8</a:t>
            </a:r>
            <a:endParaRPr b="0" i="0" sz="1200" u="none" cap="none" strike="noStrike">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DF0DC"/>
        </a:solidFill>
      </p:bgPr>
    </p:bg>
    <p:spTree>
      <p:nvGrpSpPr>
        <p:cNvPr id="148" name="Shape 148"/>
        <p:cNvGrpSpPr/>
        <p:nvPr/>
      </p:nvGrpSpPr>
      <p:grpSpPr>
        <a:xfrm>
          <a:off x="0" y="0"/>
          <a:ext cx="0" cy="0"/>
          <a:chOff x="0" y="0"/>
          <a:chExt cx="0" cy="0"/>
        </a:xfrm>
      </p:grpSpPr>
      <p:sp>
        <p:nvSpPr>
          <p:cNvPr id="149" name="Google Shape;149;p12"/>
          <p:cNvSpPr/>
          <p:nvPr/>
        </p:nvSpPr>
        <p:spPr>
          <a:xfrm>
            <a:off x="114300" y="114300"/>
            <a:ext cx="5886450" cy="381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C4043"/>
              </a:buClr>
              <a:buSzPts val="2000"/>
              <a:buFont typeface="Arial"/>
              <a:buNone/>
            </a:pPr>
            <a:r>
              <a:rPr b="0" i="0" lang="en-US" sz="2000" u="none" cap="none" strike="noStrike">
                <a:solidFill>
                  <a:srgbClr val="3C4043"/>
                </a:solidFill>
                <a:latin typeface="Arial"/>
                <a:ea typeface="Arial"/>
                <a:cs typeface="Arial"/>
                <a:sym typeface="Arial"/>
              </a:rPr>
              <a:t>Combinational Logic</a:t>
            </a:r>
            <a:endParaRPr b="0" i="0" sz="2000" u="none" cap="none" strike="noStrike">
              <a:solidFill>
                <a:schemeClr val="dk1"/>
              </a:solidFill>
              <a:latin typeface="Arial"/>
              <a:ea typeface="Arial"/>
              <a:cs typeface="Arial"/>
              <a:sym typeface="Arial"/>
            </a:endParaRPr>
          </a:p>
        </p:txBody>
      </p:sp>
      <p:sp>
        <p:nvSpPr>
          <p:cNvPr id="150" name="Google Shape;150;p12"/>
          <p:cNvSpPr txBox="1"/>
          <p:nvPr>
            <p:ph type="title"/>
          </p:nvPr>
        </p:nvSpPr>
        <p:spPr>
          <a:xfrm>
            <a:off x="736600" y="762000"/>
            <a:ext cx="10961878" cy="5842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3C4043"/>
              </a:buClr>
              <a:buSzPts val="4000"/>
              <a:buFont typeface="Arial"/>
              <a:buNone/>
            </a:pPr>
            <a:r>
              <a:rPr b="0" i="0" lang="en-US" sz="4000">
                <a:solidFill>
                  <a:srgbClr val="3C4043"/>
                </a:solidFill>
                <a:latin typeface="Arial"/>
                <a:ea typeface="Arial"/>
                <a:cs typeface="Arial"/>
                <a:sym typeface="Arial"/>
              </a:rPr>
              <a:t>Comparators</a:t>
            </a:r>
            <a:endParaRPr sz="4000"/>
          </a:p>
        </p:txBody>
      </p:sp>
      <p:pic>
        <p:nvPicPr>
          <p:cNvPr descr="line" id="151" name="Google Shape;151;p12"/>
          <p:cNvPicPr preferRelativeResize="0"/>
          <p:nvPr/>
        </p:nvPicPr>
        <p:blipFill rotWithShape="1">
          <a:blip r:embed="rId3">
            <a:alphaModFix/>
          </a:blip>
          <a:srcRect b="0" l="0" r="0" t="0"/>
          <a:stretch/>
        </p:blipFill>
        <p:spPr>
          <a:xfrm>
            <a:off x="736600" y="1524000"/>
            <a:ext cx="10642600" cy="12700"/>
          </a:xfrm>
          <a:prstGeom prst="rect">
            <a:avLst/>
          </a:prstGeom>
          <a:noFill/>
          <a:ln>
            <a:noFill/>
          </a:ln>
        </p:spPr>
      </p:pic>
      <p:sp>
        <p:nvSpPr>
          <p:cNvPr id="152" name="Google Shape;152;p12"/>
          <p:cNvSpPr/>
          <p:nvPr/>
        </p:nvSpPr>
        <p:spPr>
          <a:xfrm>
            <a:off x="736600" y="1739900"/>
            <a:ext cx="4970780" cy="688314"/>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3C4043"/>
              </a:buClr>
              <a:buSzPts val="1800"/>
              <a:buFont typeface="Arial"/>
              <a:buNone/>
            </a:pPr>
            <a:r>
              <a:rPr b="0" i="0" lang="en-US" sz="1800" u="none" cap="none" strike="noStrike">
                <a:solidFill>
                  <a:srgbClr val="3C4043"/>
                </a:solidFill>
                <a:latin typeface="Arial"/>
                <a:ea typeface="Arial"/>
                <a:cs typeface="Arial"/>
                <a:sym typeface="Arial"/>
              </a:rPr>
              <a:t>Compare two numbers and output single-bit flags.</a:t>
            </a:r>
            <a:endParaRPr b="0" i="0" sz="1800" u="none" cap="none" strike="noStrike">
              <a:solidFill>
                <a:schemeClr val="dk1"/>
              </a:solidFill>
              <a:latin typeface="Arial"/>
              <a:ea typeface="Arial"/>
              <a:cs typeface="Arial"/>
              <a:sym typeface="Arial"/>
            </a:endParaRPr>
          </a:p>
        </p:txBody>
      </p:sp>
      <p:sp>
        <p:nvSpPr>
          <p:cNvPr id="153" name="Google Shape;153;p12"/>
          <p:cNvSpPr/>
          <p:nvPr/>
        </p:nvSpPr>
        <p:spPr>
          <a:xfrm>
            <a:off x="806196" y="2580618"/>
            <a:ext cx="4893564" cy="1320800"/>
          </a:xfrm>
          <a:prstGeom prst="rect">
            <a:avLst/>
          </a:prstGeom>
          <a:noFill/>
          <a:ln>
            <a:noFill/>
          </a:ln>
        </p:spPr>
        <p:txBody>
          <a:bodyPr anchorCtr="0" anchor="t" bIns="0" lIns="0" spcFirstLastPara="1" rIns="0" wrap="square" tIns="0">
            <a:noAutofit/>
          </a:bodyPr>
          <a:lstStyle/>
          <a:p>
            <a:pPr indent="-184404" lvl="0" marL="184404" marR="0" rtl="0" algn="l">
              <a:lnSpc>
                <a:spcPct val="150000"/>
              </a:lnSpc>
              <a:spcBef>
                <a:spcPts val="0"/>
              </a:spcBef>
              <a:spcAft>
                <a:spcPts val="0"/>
              </a:spcAft>
              <a:buClr>
                <a:srgbClr val="3C4043"/>
              </a:buClr>
              <a:buSzPts val="1700"/>
              <a:buFont typeface="Arial"/>
              <a:buChar char="•"/>
            </a:pPr>
            <a:r>
              <a:rPr b="1" i="0" lang="en-US" sz="1700" u="none" cap="none" strike="noStrike">
                <a:solidFill>
                  <a:srgbClr val="3C4043"/>
                </a:solidFill>
                <a:latin typeface="Arial"/>
                <a:ea typeface="Arial"/>
                <a:cs typeface="Arial"/>
                <a:sym typeface="Arial"/>
              </a:rPr>
              <a:t>Equality:</a:t>
            </a:r>
            <a:r>
              <a:rPr b="0" i="0" lang="en-US" sz="1700" u="none" cap="none" strike="noStrike">
                <a:solidFill>
                  <a:srgbClr val="3C4043"/>
                </a:solidFill>
                <a:latin typeface="Arial"/>
                <a:ea typeface="Arial"/>
                <a:cs typeface="Arial"/>
                <a:sym typeface="Arial"/>
              </a:rPr>
              <a:t> XNOR each bit pair, then AND them all</a:t>
            </a:r>
            <a:endParaRPr b="0" i="0" sz="1700" u="none" cap="none" strike="noStrike">
              <a:solidFill>
                <a:schemeClr val="dk1"/>
              </a:solidFill>
              <a:latin typeface="Arial"/>
              <a:ea typeface="Arial"/>
              <a:cs typeface="Arial"/>
              <a:sym typeface="Arial"/>
            </a:endParaRPr>
          </a:p>
          <a:p>
            <a:pPr indent="-184404" lvl="0" marL="184404" marR="0" rtl="0" algn="l">
              <a:lnSpc>
                <a:spcPct val="150000"/>
              </a:lnSpc>
              <a:spcBef>
                <a:spcPts val="0"/>
              </a:spcBef>
              <a:spcAft>
                <a:spcPts val="0"/>
              </a:spcAft>
              <a:buClr>
                <a:srgbClr val="3C4043"/>
              </a:buClr>
              <a:buSzPts val="1700"/>
              <a:buFont typeface="Arial"/>
              <a:buChar char="•"/>
            </a:pPr>
            <a:r>
              <a:rPr b="1" i="0" lang="en-US" sz="1700" u="none" cap="none" strike="noStrike">
                <a:solidFill>
                  <a:srgbClr val="3C4043"/>
                </a:solidFill>
                <a:latin typeface="Arial"/>
                <a:ea typeface="Arial"/>
                <a:cs typeface="Arial"/>
                <a:sym typeface="Arial"/>
              </a:rPr>
              <a:t>Less / greater:</a:t>
            </a:r>
            <a:r>
              <a:rPr b="0" i="0" lang="en-US" sz="1700" u="none" cap="none" strike="noStrike">
                <a:solidFill>
                  <a:srgbClr val="3C4043"/>
                </a:solidFill>
                <a:latin typeface="Arial"/>
                <a:ea typeface="Arial"/>
                <a:cs typeface="Arial"/>
                <a:sym typeface="Arial"/>
              </a:rPr>
              <a:t> a subtraction and check the sign or borrow</a:t>
            </a:r>
            <a:endParaRPr b="0" i="0" sz="1700" u="none" cap="none" strike="noStrike">
              <a:solidFill>
                <a:schemeClr val="dk1"/>
              </a:solidFill>
              <a:latin typeface="Arial"/>
              <a:ea typeface="Arial"/>
              <a:cs typeface="Arial"/>
              <a:sym typeface="Arial"/>
            </a:endParaRPr>
          </a:p>
        </p:txBody>
      </p:sp>
      <p:sp>
        <p:nvSpPr>
          <p:cNvPr id="154" name="Google Shape;154;p12"/>
          <p:cNvSpPr/>
          <p:nvPr/>
        </p:nvSpPr>
        <p:spPr>
          <a:xfrm>
            <a:off x="736600" y="4053818"/>
            <a:ext cx="4826000" cy="1145514"/>
          </a:xfrm>
          <a:prstGeom prst="roundRect">
            <a:avLst>
              <a:gd fmla="val 11087" name="adj"/>
            </a:avLst>
          </a:prstGeom>
          <a:solidFill>
            <a:srgbClr val="FFF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2"/>
          <p:cNvSpPr/>
          <p:nvPr/>
        </p:nvSpPr>
        <p:spPr>
          <a:xfrm>
            <a:off x="736600" y="4053818"/>
            <a:ext cx="4826000" cy="1145514"/>
          </a:xfrm>
          <a:custGeom>
            <a:rect b="b" l="l" r="r" t="t"/>
            <a:pathLst>
              <a:path extrusionOk="0" h="1145514" w="4826000">
                <a:moveTo>
                  <a:pt x="127000" y="1145514"/>
                </a:moveTo>
                <a:lnTo>
                  <a:pt x="127000" y="1145514"/>
                </a:lnTo>
                <a:cubicBezTo>
                  <a:pt x="56860" y="1145514"/>
                  <a:pt x="0" y="1088654"/>
                  <a:pt x="0" y="1018514"/>
                </a:cubicBezTo>
                <a:lnTo>
                  <a:pt x="0" y="127000"/>
                </a:lnTo>
                <a:cubicBezTo>
                  <a:pt x="0" y="56860"/>
                  <a:pt x="56860" y="0"/>
                  <a:pt x="127000" y="0"/>
                </a:cubicBezTo>
                <a:lnTo>
                  <a:pt x="127000" y="0"/>
                </a:lnTo>
                <a:cubicBezTo>
                  <a:pt x="84916" y="0"/>
                  <a:pt x="50800" y="56860"/>
                  <a:pt x="50800" y="127000"/>
                </a:cubicBezTo>
                <a:lnTo>
                  <a:pt x="50800" y="1018514"/>
                </a:lnTo>
                <a:cubicBezTo>
                  <a:pt x="50800" y="1088654"/>
                  <a:pt x="84916" y="1145514"/>
                  <a:pt x="127000" y="1145514"/>
                </a:cubicBezTo>
                <a:close/>
              </a:path>
            </a:pathLst>
          </a:custGeom>
          <a:solidFill>
            <a:srgbClr val="B546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2"/>
          <p:cNvSpPr/>
          <p:nvPr/>
        </p:nvSpPr>
        <p:spPr>
          <a:xfrm>
            <a:off x="1016000" y="4231618"/>
            <a:ext cx="4447540" cy="254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B5462A"/>
              </a:buClr>
              <a:buSzPts val="1500"/>
              <a:buFont typeface="Arial"/>
              <a:buNone/>
            </a:pPr>
            <a:r>
              <a:rPr b="1" i="0" lang="en-US" sz="1500" u="none" cap="none" strike="noStrike">
                <a:solidFill>
                  <a:srgbClr val="B5462A"/>
                </a:solidFill>
                <a:latin typeface="Arial"/>
                <a:ea typeface="Arial"/>
                <a:cs typeface="Arial"/>
                <a:sym typeface="Arial"/>
              </a:rPr>
              <a:t>Watch out: signed vs. unsigned</a:t>
            </a:r>
            <a:endParaRPr b="0" i="0" sz="1500" u="none" cap="none" strike="noStrike">
              <a:solidFill>
                <a:schemeClr val="dk1"/>
              </a:solidFill>
              <a:latin typeface="Arial"/>
              <a:ea typeface="Arial"/>
              <a:cs typeface="Arial"/>
              <a:sym typeface="Arial"/>
            </a:endParaRPr>
          </a:p>
        </p:txBody>
      </p:sp>
      <p:sp>
        <p:nvSpPr>
          <p:cNvPr id="157" name="Google Shape;157;p12"/>
          <p:cNvSpPr/>
          <p:nvPr/>
        </p:nvSpPr>
        <p:spPr>
          <a:xfrm>
            <a:off x="1016000" y="4523718"/>
            <a:ext cx="4447540" cy="523214"/>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4E52"/>
              </a:buClr>
              <a:buSzPts val="1400"/>
              <a:buFont typeface="Arial"/>
              <a:buNone/>
            </a:pPr>
            <a:r>
              <a:rPr b="0" i="0" lang="en-US" sz="1400" u="none" cap="none" strike="noStrike">
                <a:solidFill>
                  <a:srgbClr val="4A4E52"/>
                </a:solidFill>
                <a:latin typeface="Arial"/>
                <a:ea typeface="Arial"/>
                <a:cs typeface="Arial"/>
                <a:sym typeface="Arial"/>
              </a:rPr>
              <a:t>4'b1111 is 15 unsigned but −1 signed. Declare signals </a:t>
            </a:r>
            <a:r>
              <a:rPr b="1" i="0" lang="en-US" sz="1400" u="none" cap="none" strike="noStrike">
                <a:solidFill>
                  <a:srgbClr val="4A4E52"/>
                </a:solidFill>
                <a:latin typeface="Arial"/>
                <a:ea typeface="Arial"/>
                <a:cs typeface="Arial"/>
                <a:sym typeface="Arial"/>
              </a:rPr>
              <a:t>signed</a:t>
            </a:r>
            <a:r>
              <a:rPr b="0" i="0" lang="en-US" sz="1400" u="none" cap="none" strike="noStrike">
                <a:solidFill>
                  <a:srgbClr val="4A4E52"/>
                </a:solidFill>
                <a:latin typeface="Arial"/>
                <a:ea typeface="Arial"/>
                <a:cs typeface="Arial"/>
                <a:sym typeface="Arial"/>
              </a:rPr>
              <a:t> when you mean it.</a:t>
            </a:r>
            <a:endParaRPr b="0" i="0" sz="1400" u="none" cap="none" strike="noStrike">
              <a:solidFill>
                <a:schemeClr val="dk1"/>
              </a:solidFill>
              <a:latin typeface="Arial"/>
              <a:ea typeface="Arial"/>
              <a:cs typeface="Arial"/>
              <a:sym typeface="Arial"/>
            </a:endParaRPr>
          </a:p>
        </p:txBody>
      </p:sp>
      <p:sp>
        <p:nvSpPr>
          <p:cNvPr id="158" name="Google Shape;158;p12"/>
          <p:cNvSpPr/>
          <p:nvPr/>
        </p:nvSpPr>
        <p:spPr>
          <a:xfrm>
            <a:off x="5969000" y="1739900"/>
            <a:ext cx="5410200" cy="2570163"/>
          </a:xfrm>
          <a:prstGeom prst="roundRect">
            <a:avLst>
              <a:gd fmla="val 5930" name="adj"/>
            </a:avLst>
          </a:prstGeom>
          <a:solidFill>
            <a:srgbClr val="2F3237"/>
          </a:solidFill>
          <a:ln>
            <a:noFill/>
          </a:ln>
        </p:spPr>
        <p:txBody>
          <a:bodyPr anchorCtr="0" anchor="t" bIns="183950" lIns="234750" spcFirstLastPara="1" rIns="89200" wrap="square" tIns="209350">
            <a:noAutofit/>
          </a:bodyPr>
          <a:lstStyle/>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logic [7:0] a, b;</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assign eq = (a == b);</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assign lt = (a &lt;  b);</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assign gt = (a &gt;  b);</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A9C4D6"/>
              </a:buClr>
              <a:buSzPts val="1400"/>
              <a:buFont typeface="Courier New"/>
              <a:buNone/>
            </a:pPr>
            <a:r>
              <a:rPr b="0" i="0" lang="en-US" sz="1400" u="none" cap="none" strike="noStrike">
                <a:solidFill>
                  <a:srgbClr val="A9C4D6"/>
                </a:solidFill>
                <a:latin typeface="Courier New"/>
                <a:ea typeface="Courier New"/>
                <a:cs typeface="Courier New"/>
                <a:sym typeface="Courier New"/>
              </a:rPr>
              <a:t>// equality by hand:</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assign eq2 = &amp;(~(a ^ b));</a:t>
            </a:r>
            <a:endParaRPr b="0" i="0" sz="1400" u="none" cap="none" strike="noStrike">
              <a:solidFill>
                <a:schemeClr val="dk1"/>
              </a:solidFill>
              <a:latin typeface="Arial"/>
              <a:ea typeface="Arial"/>
              <a:cs typeface="Arial"/>
              <a:sym typeface="Arial"/>
            </a:endParaRPr>
          </a:p>
        </p:txBody>
      </p:sp>
      <p:sp>
        <p:nvSpPr>
          <p:cNvPr id="159" name="Google Shape;159;p12"/>
          <p:cNvSpPr/>
          <p:nvPr/>
        </p:nvSpPr>
        <p:spPr>
          <a:xfrm>
            <a:off x="10566400" y="6238280"/>
            <a:ext cx="812800" cy="23872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3C4043"/>
              </a:buClr>
              <a:buSzPts val="1200"/>
              <a:buFont typeface="Arial"/>
              <a:buNone/>
            </a:pPr>
            <a:r>
              <a:rPr b="0" i="0" lang="en-US" sz="1200" u="none" cap="none" strike="noStrike">
                <a:solidFill>
                  <a:srgbClr val="3C4043"/>
                </a:solidFill>
                <a:latin typeface="Arial"/>
                <a:ea typeface="Arial"/>
                <a:cs typeface="Arial"/>
                <a:sym typeface="Arial"/>
              </a:rPr>
              <a:t>9</a:t>
            </a:r>
            <a:endParaRPr b="0" i="0" sz="1200" u="none" cap="none" strike="noStrike">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DF0DC"/>
        </a:solidFill>
      </p:bgPr>
    </p:bg>
    <p:spTree>
      <p:nvGrpSpPr>
        <p:cNvPr id="164" name="Shape 164"/>
        <p:cNvGrpSpPr/>
        <p:nvPr/>
      </p:nvGrpSpPr>
      <p:grpSpPr>
        <a:xfrm>
          <a:off x="0" y="0"/>
          <a:ext cx="0" cy="0"/>
          <a:chOff x="0" y="0"/>
          <a:chExt cx="0" cy="0"/>
        </a:xfrm>
      </p:grpSpPr>
      <p:sp>
        <p:nvSpPr>
          <p:cNvPr id="165" name="Google Shape;165;p13"/>
          <p:cNvSpPr/>
          <p:nvPr/>
        </p:nvSpPr>
        <p:spPr>
          <a:xfrm>
            <a:off x="114300" y="114300"/>
            <a:ext cx="5886450" cy="381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C4043"/>
              </a:buClr>
              <a:buSzPts val="2000"/>
              <a:buFont typeface="Arial"/>
              <a:buNone/>
            </a:pPr>
            <a:r>
              <a:rPr b="0" i="0" lang="en-US" sz="2000" u="none" cap="none" strike="noStrike">
                <a:solidFill>
                  <a:srgbClr val="3C4043"/>
                </a:solidFill>
                <a:latin typeface="Arial"/>
                <a:ea typeface="Arial"/>
                <a:cs typeface="Arial"/>
                <a:sym typeface="Arial"/>
              </a:rPr>
              <a:t>Combinational Logic</a:t>
            </a:r>
            <a:endParaRPr b="0" i="0" sz="2000" u="none" cap="none" strike="noStrike">
              <a:solidFill>
                <a:schemeClr val="dk1"/>
              </a:solidFill>
              <a:latin typeface="Arial"/>
              <a:ea typeface="Arial"/>
              <a:cs typeface="Arial"/>
              <a:sym typeface="Arial"/>
            </a:endParaRPr>
          </a:p>
        </p:txBody>
      </p:sp>
      <p:sp>
        <p:nvSpPr>
          <p:cNvPr id="166" name="Google Shape;166;p13"/>
          <p:cNvSpPr txBox="1"/>
          <p:nvPr>
            <p:ph type="title"/>
          </p:nvPr>
        </p:nvSpPr>
        <p:spPr>
          <a:xfrm>
            <a:off x="736600" y="762000"/>
            <a:ext cx="10961878" cy="5842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3C4043"/>
              </a:buClr>
              <a:buSzPts val="4000"/>
              <a:buFont typeface="Arial"/>
              <a:buNone/>
            </a:pPr>
            <a:r>
              <a:rPr b="0" i="0" lang="en-US" sz="4000">
                <a:solidFill>
                  <a:srgbClr val="3C4043"/>
                </a:solidFill>
                <a:latin typeface="Arial"/>
                <a:ea typeface="Arial"/>
                <a:cs typeface="Arial"/>
                <a:sym typeface="Arial"/>
              </a:rPr>
              <a:t>Priority Encoders</a:t>
            </a:r>
            <a:endParaRPr sz="4000"/>
          </a:p>
        </p:txBody>
      </p:sp>
      <p:pic>
        <p:nvPicPr>
          <p:cNvPr descr="line" id="167" name="Google Shape;167;p13"/>
          <p:cNvPicPr preferRelativeResize="0"/>
          <p:nvPr/>
        </p:nvPicPr>
        <p:blipFill rotWithShape="1">
          <a:blip r:embed="rId3">
            <a:alphaModFix/>
          </a:blip>
          <a:srcRect b="0" l="0" r="0" t="0"/>
          <a:stretch/>
        </p:blipFill>
        <p:spPr>
          <a:xfrm>
            <a:off x="736600" y="1524000"/>
            <a:ext cx="10642600" cy="12700"/>
          </a:xfrm>
          <a:prstGeom prst="rect">
            <a:avLst/>
          </a:prstGeom>
          <a:noFill/>
          <a:ln>
            <a:noFill/>
          </a:ln>
        </p:spPr>
      </p:pic>
      <p:sp>
        <p:nvSpPr>
          <p:cNvPr id="168" name="Google Shape;168;p13"/>
          <p:cNvSpPr/>
          <p:nvPr/>
        </p:nvSpPr>
        <p:spPr>
          <a:xfrm>
            <a:off x="736600" y="1739900"/>
            <a:ext cx="4970780" cy="688314"/>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3C4043"/>
              </a:buClr>
              <a:buSzPts val="1800"/>
              <a:buFont typeface="Arial"/>
              <a:buNone/>
            </a:pPr>
            <a:r>
              <a:rPr b="0" i="0" lang="en-US" sz="1800" u="none" cap="none" strike="noStrike">
                <a:solidFill>
                  <a:srgbClr val="3C4043"/>
                </a:solidFill>
                <a:latin typeface="Arial"/>
                <a:ea typeface="Arial"/>
                <a:cs typeface="Arial"/>
                <a:sym typeface="Arial"/>
              </a:rPr>
              <a:t>Several requests at once? Output the index of the </a:t>
            </a:r>
            <a:r>
              <a:rPr b="1" i="0" lang="en-US" sz="1800" u="none" cap="none" strike="noStrike">
                <a:solidFill>
                  <a:srgbClr val="3C4043"/>
                </a:solidFill>
                <a:latin typeface="Arial"/>
                <a:ea typeface="Arial"/>
                <a:cs typeface="Arial"/>
                <a:sym typeface="Arial"/>
              </a:rPr>
              <a:t>highest-priority</a:t>
            </a:r>
            <a:r>
              <a:rPr b="0" i="0" lang="en-US" sz="1800" u="none" cap="none" strike="noStrike">
                <a:solidFill>
                  <a:srgbClr val="3C4043"/>
                </a:solidFill>
                <a:latin typeface="Arial"/>
                <a:ea typeface="Arial"/>
                <a:cs typeface="Arial"/>
                <a:sym typeface="Arial"/>
              </a:rPr>
              <a:t> one.</a:t>
            </a:r>
            <a:endParaRPr b="0" i="0" sz="1800" u="none" cap="none" strike="noStrike">
              <a:solidFill>
                <a:schemeClr val="dk1"/>
              </a:solidFill>
              <a:latin typeface="Arial"/>
              <a:ea typeface="Arial"/>
              <a:cs typeface="Arial"/>
              <a:sym typeface="Arial"/>
            </a:endParaRPr>
          </a:p>
        </p:txBody>
      </p:sp>
      <p:sp>
        <p:nvSpPr>
          <p:cNvPr id="169" name="Google Shape;169;p13"/>
          <p:cNvSpPr/>
          <p:nvPr/>
        </p:nvSpPr>
        <p:spPr>
          <a:xfrm>
            <a:off x="736600" y="2580618"/>
            <a:ext cx="4826000" cy="2489200"/>
          </a:xfrm>
          <a:prstGeom prst="rect">
            <a:avLst/>
          </a:prstGeom>
          <a:solidFill>
            <a:srgbClr val="FFF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aphicFrame>
        <p:nvGraphicFramePr>
          <p:cNvPr id="170" name="Google Shape;170;p13"/>
          <p:cNvGraphicFramePr/>
          <p:nvPr/>
        </p:nvGraphicFramePr>
        <p:xfrm>
          <a:off x="749300" y="2593318"/>
          <a:ext cx="3000000" cy="3000000"/>
        </p:xfrm>
        <a:graphic>
          <a:graphicData uri="http://schemas.openxmlformats.org/drawingml/2006/table">
            <a:tbl>
              <a:tblPr>
                <a:noFill/>
                <a:tableStyleId>{BA11AAC2-A7CE-4588-8191-665CEFB64C56}</a:tableStyleId>
              </a:tblPr>
              <a:tblGrid>
                <a:gridCol w="1636525"/>
                <a:gridCol w="1588400"/>
                <a:gridCol w="1588400"/>
              </a:tblGrid>
              <a:tr h="412750">
                <a:tc>
                  <a:txBody>
                    <a:bodyPr/>
                    <a:lstStyle/>
                    <a:p>
                      <a:pPr indent="0" lvl="0" marL="0" marR="0" rtl="0" algn="ctr">
                        <a:lnSpc>
                          <a:spcPct val="140000"/>
                        </a:lnSpc>
                        <a:spcBef>
                          <a:spcPts val="0"/>
                        </a:spcBef>
                        <a:spcAft>
                          <a:spcPts val="0"/>
                        </a:spcAft>
                        <a:buClr>
                          <a:srgbClr val="3C4043"/>
                        </a:buClr>
                        <a:buSzPts val="1500"/>
                        <a:buFont typeface="Arial"/>
                        <a:buNone/>
                      </a:pPr>
                      <a:r>
                        <a:rPr b="1" lang="en-US" sz="1500" u="none" cap="none" strike="noStrike">
                          <a:solidFill>
                            <a:srgbClr val="3C4043"/>
                          </a:solidFill>
                          <a:latin typeface="Arial"/>
                          <a:ea typeface="Arial"/>
                          <a:cs typeface="Arial"/>
                          <a:sym typeface="Arial"/>
                        </a:rPr>
                        <a:t>req[3:0]</a:t>
                      </a:r>
                      <a:endParaRPr sz="1500" u="none" cap="none" strike="noStrike">
                        <a:latin typeface="Arial"/>
                        <a:ea typeface="Arial"/>
                        <a:cs typeface="Arial"/>
                        <a:sym typeface="Arial"/>
                      </a:endParaRPr>
                    </a:p>
                  </a:txBody>
                  <a:tcPr marT="66675" marB="66675" marR="66675" marL="66675">
                    <a:lnL cap="flat" cmpd="sng" w="12700">
                      <a:solidFill>
                        <a:srgbClr val="CBC6BF"/>
                      </a:solidFill>
                      <a:prstDash val="solid"/>
                      <a:round/>
                      <a:headEnd len="sm" w="sm" type="none"/>
                      <a:tailEnd len="sm" w="sm" type="none"/>
                    </a:lnL>
                    <a:lnR cap="flat" cmpd="sng" w="12700">
                      <a:solidFill>
                        <a:srgbClr val="BCB8B1"/>
                      </a:solidFill>
                      <a:prstDash val="solid"/>
                      <a:round/>
                      <a:headEnd len="sm" w="sm" type="none"/>
                      <a:tailEnd len="sm" w="sm" type="none"/>
                    </a:lnR>
                    <a:lnT cap="flat" cmpd="sng" w="12700">
                      <a:solidFill>
                        <a:srgbClr val="CBC6BF"/>
                      </a:solidFill>
                      <a:prstDash val="solid"/>
                      <a:round/>
                      <a:headEnd len="sm" w="sm" type="none"/>
                      <a:tailEnd len="sm" w="sm" type="none"/>
                    </a:lnT>
                    <a:lnB cap="flat" cmpd="sng" w="12700">
                      <a:solidFill>
                        <a:srgbClr val="BCB8B1"/>
                      </a:solidFill>
                      <a:prstDash val="solid"/>
                      <a:round/>
                      <a:headEnd len="sm" w="sm" type="none"/>
                      <a:tailEnd len="sm" w="sm" type="none"/>
                    </a:lnB>
                    <a:solidFill>
                      <a:srgbClr val="ECE6DE"/>
                    </a:solidFill>
                  </a:tcPr>
                </a:tc>
                <a:tc>
                  <a:txBody>
                    <a:bodyPr/>
                    <a:lstStyle/>
                    <a:p>
                      <a:pPr indent="0" lvl="0" marL="0" marR="0" rtl="0" algn="ctr">
                        <a:lnSpc>
                          <a:spcPct val="140000"/>
                        </a:lnSpc>
                        <a:spcBef>
                          <a:spcPts val="0"/>
                        </a:spcBef>
                        <a:spcAft>
                          <a:spcPts val="0"/>
                        </a:spcAft>
                        <a:buClr>
                          <a:srgbClr val="3C4043"/>
                        </a:buClr>
                        <a:buSzPts val="1500"/>
                        <a:buFont typeface="Arial"/>
                        <a:buNone/>
                      </a:pPr>
                      <a:r>
                        <a:rPr b="1" lang="en-US" sz="1500" u="none" cap="none" strike="noStrike">
                          <a:solidFill>
                            <a:srgbClr val="3C4043"/>
                          </a:solidFill>
                          <a:latin typeface="Arial"/>
                          <a:ea typeface="Arial"/>
                          <a:cs typeface="Arial"/>
                          <a:sym typeface="Arial"/>
                        </a:rPr>
                        <a:t>idx</a:t>
                      </a:r>
                      <a:endParaRPr sz="1500" u="none" cap="none" strike="noStrike">
                        <a:latin typeface="Arial"/>
                        <a:ea typeface="Arial"/>
                        <a:cs typeface="Arial"/>
                        <a:sym typeface="Arial"/>
                      </a:endParaRPr>
                    </a:p>
                  </a:txBody>
                  <a:tcPr marT="66675" marB="66675" marR="66675" marL="66675">
                    <a:lnL cap="flat" cmpd="sng" w="12700">
                      <a:solidFill>
                        <a:srgbClr val="BCB8B1"/>
                      </a:solidFill>
                      <a:prstDash val="solid"/>
                      <a:round/>
                      <a:headEnd len="sm" w="sm" type="none"/>
                      <a:tailEnd len="sm" w="sm" type="none"/>
                    </a:lnL>
                    <a:lnR cap="flat" cmpd="sng" w="12700">
                      <a:solidFill>
                        <a:srgbClr val="BCB8B1"/>
                      </a:solidFill>
                      <a:prstDash val="solid"/>
                      <a:round/>
                      <a:headEnd len="sm" w="sm" type="none"/>
                      <a:tailEnd len="sm" w="sm" type="none"/>
                    </a:lnR>
                    <a:lnT cap="flat" cmpd="sng" w="12700">
                      <a:solidFill>
                        <a:srgbClr val="CBC6BF"/>
                      </a:solidFill>
                      <a:prstDash val="solid"/>
                      <a:round/>
                      <a:headEnd len="sm" w="sm" type="none"/>
                      <a:tailEnd len="sm" w="sm" type="none"/>
                    </a:lnT>
                    <a:lnB cap="flat" cmpd="sng" w="12700">
                      <a:solidFill>
                        <a:srgbClr val="BCB8B1"/>
                      </a:solidFill>
                      <a:prstDash val="solid"/>
                      <a:round/>
                      <a:headEnd len="sm" w="sm" type="none"/>
                      <a:tailEnd len="sm" w="sm" type="none"/>
                    </a:lnB>
                    <a:solidFill>
                      <a:srgbClr val="ECE6DE"/>
                    </a:solidFill>
                  </a:tcPr>
                </a:tc>
                <a:tc>
                  <a:txBody>
                    <a:bodyPr/>
                    <a:lstStyle/>
                    <a:p>
                      <a:pPr indent="0" lvl="0" marL="0" marR="0" rtl="0" algn="ctr">
                        <a:lnSpc>
                          <a:spcPct val="140000"/>
                        </a:lnSpc>
                        <a:spcBef>
                          <a:spcPts val="0"/>
                        </a:spcBef>
                        <a:spcAft>
                          <a:spcPts val="0"/>
                        </a:spcAft>
                        <a:buClr>
                          <a:srgbClr val="3C4043"/>
                        </a:buClr>
                        <a:buSzPts val="1500"/>
                        <a:buFont typeface="Arial"/>
                        <a:buNone/>
                      </a:pPr>
                      <a:r>
                        <a:rPr b="1" lang="en-US" sz="1500" u="none" cap="none" strike="noStrike">
                          <a:solidFill>
                            <a:srgbClr val="3C4043"/>
                          </a:solidFill>
                          <a:latin typeface="Arial"/>
                          <a:ea typeface="Arial"/>
                          <a:cs typeface="Arial"/>
                          <a:sym typeface="Arial"/>
                        </a:rPr>
                        <a:t>valid</a:t>
                      </a:r>
                      <a:endParaRPr sz="1500" u="none" cap="none" strike="noStrike">
                        <a:latin typeface="Arial"/>
                        <a:ea typeface="Arial"/>
                        <a:cs typeface="Arial"/>
                        <a:sym typeface="Arial"/>
                      </a:endParaRPr>
                    </a:p>
                  </a:txBody>
                  <a:tcPr marT="66675" marB="66675" marR="66675" marL="66675">
                    <a:lnL cap="flat" cmpd="sng" w="12700">
                      <a:solidFill>
                        <a:srgbClr val="BCB8B1"/>
                      </a:solidFill>
                      <a:prstDash val="solid"/>
                      <a:round/>
                      <a:headEnd len="sm" w="sm" type="none"/>
                      <a:tailEnd len="sm" w="sm" type="none"/>
                    </a:lnL>
                    <a:lnR cap="flat" cmpd="sng" w="12700">
                      <a:solidFill>
                        <a:srgbClr val="BCB8B1"/>
                      </a:solidFill>
                      <a:prstDash val="solid"/>
                      <a:round/>
                      <a:headEnd len="sm" w="sm" type="none"/>
                      <a:tailEnd len="sm" w="sm" type="none"/>
                    </a:lnR>
                    <a:lnT cap="flat" cmpd="sng" w="12700">
                      <a:solidFill>
                        <a:srgbClr val="CBC6BF"/>
                      </a:solidFill>
                      <a:prstDash val="solid"/>
                      <a:round/>
                      <a:headEnd len="sm" w="sm" type="none"/>
                      <a:tailEnd len="sm" w="sm" type="none"/>
                    </a:lnT>
                    <a:lnB cap="flat" cmpd="sng" w="12700">
                      <a:solidFill>
                        <a:srgbClr val="BCB8B1"/>
                      </a:solidFill>
                      <a:prstDash val="solid"/>
                      <a:round/>
                      <a:headEnd len="sm" w="sm" type="none"/>
                      <a:tailEnd len="sm" w="sm" type="none"/>
                    </a:lnB>
                    <a:solidFill>
                      <a:srgbClr val="ECE6DE"/>
                    </a:solidFill>
                  </a:tcPr>
                </a:tc>
              </a:tr>
              <a:tr h="412750">
                <a:tc>
                  <a:txBody>
                    <a:bodyPr/>
                    <a:lstStyle/>
                    <a:p>
                      <a:pPr indent="0" lvl="0" marL="0" marR="0" rtl="0" algn="ctr">
                        <a:lnSpc>
                          <a:spcPct val="140000"/>
                        </a:lnSpc>
                        <a:spcBef>
                          <a:spcPts val="0"/>
                        </a:spcBef>
                        <a:spcAft>
                          <a:spcPts val="0"/>
                        </a:spcAft>
                        <a:buClr>
                          <a:srgbClr val="3C4043"/>
                        </a:buClr>
                        <a:buSzPts val="1500"/>
                        <a:buFont typeface="Arial"/>
                        <a:buNone/>
                      </a:pPr>
                      <a:r>
                        <a:rPr lang="en-US" sz="1500" u="none" cap="none" strike="noStrike">
                          <a:solidFill>
                            <a:srgbClr val="3C4043"/>
                          </a:solidFill>
                          <a:latin typeface="Arial"/>
                          <a:ea typeface="Arial"/>
                          <a:cs typeface="Arial"/>
                          <a:sym typeface="Arial"/>
                        </a:rPr>
                        <a:t>1xxx</a:t>
                      </a:r>
                      <a:endParaRPr sz="1500" u="none" cap="none" strike="noStrike">
                        <a:latin typeface="Arial"/>
                        <a:ea typeface="Arial"/>
                        <a:cs typeface="Arial"/>
                        <a:sym typeface="Arial"/>
                      </a:endParaRPr>
                    </a:p>
                  </a:txBody>
                  <a:tcPr marT="66675" marB="66675" marR="66675" marL="66675">
                    <a:lnL cap="flat" cmpd="sng" w="12700">
                      <a:solidFill>
                        <a:srgbClr val="CBC6BF"/>
                      </a:solidFill>
                      <a:prstDash val="solid"/>
                      <a:round/>
                      <a:headEnd len="sm" w="sm" type="none"/>
                      <a:tailEnd len="sm" w="sm" type="none"/>
                    </a:lnL>
                    <a:lnR cap="flat" cmpd="sng" w="12700">
                      <a:solidFill>
                        <a:srgbClr val="CBC6BF"/>
                      </a:solidFill>
                      <a:prstDash val="solid"/>
                      <a:round/>
                      <a:headEnd len="sm" w="sm" type="none"/>
                      <a:tailEnd len="sm" w="sm" type="none"/>
                    </a:lnR>
                    <a:lnT cap="flat" cmpd="sng" w="12700">
                      <a:solidFill>
                        <a:srgbClr val="BCB8B1"/>
                      </a:solidFill>
                      <a:prstDash val="solid"/>
                      <a:round/>
                      <a:headEnd len="sm" w="sm" type="none"/>
                      <a:tailEnd len="sm" w="sm" type="none"/>
                    </a:lnT>
                    <a:lnB cap="flat" cmpd="sng" w="12700">
                      <a:solidFill>
                        <a:srgbClr val="CBC6BF"/>
                      </a:solidFill>
                      <a:prstDash val="solid"/>
                      <a:round/>
                      <a:headEnd len="sm" w="sm" type="none"/>
                      <a:tailEnd len="sm" w="sm" type="none"/>
                    </a:lnB>
                  </a:tcPr>
                </a:tc>
                <a:tc>
                  <a:txBody>
                    <a:bodyPr/>
                    <a:lstStyle/>
                    <a:p>
                      <a:pPr indent="0" lvl="0" marL="0" marR="0" rtl="0" algn="ctr">
                        <a:lnSpc>
                          <a:spcPct val="140000"/>
                        </a:lnSpc>
                        <a:spcBef>
                          <a:spcPts val="0"/>
                        </a:spcBef>
                        <a:spcAft>
                          <a:spcPts val="0"/>
                        </a:spcAft>
                        <a:buClr>
                          <a:srgbClr val="3C4043"/>
                        </a:buClr>
                        <a:buSzPts val="1500"/>
                        <a:buFont typeface="Arial"/>
                        <a:buNone/>
                      </a:pPr>
                      <a:r>
                        <a:rPr lang="en-US" sz="1500" u="none" cap="none" strike="noStrike">
                          <a:solidFill>
                            <a:srgbClr val="3C4043"/>
                          </a:solidFill>
                          <a:latin typeface="Arial"/>
                          <a:ea typeface="Arial"/>
                          <a:cs typeface="Arial"/>
                          <a:sym typeface="Arial"/>
                        </a:rPr>
                        <a:t>3</a:t>
                      </a:r>
                      <a:endParaRPr sz="1500" u="none" cap="none" strike="noStrike">
                        <a:latin typeface="Arial"/>
                        <a:ea typeface="Arial"/>
                        <a:cs typeface="Arial"/>
                        <a:sym typeface="Arial"/>
                      </a:endParaRPr>
                    </a:p>
                  </a:txBody>
                  <a:tcPr marT="66675" marB="66675" marR="66675" marL="66675">
                    <a:lnL cap="flat" cmpd="sng" w="12700">
                      <a:solidFill>
                        <a:srgbClr val="CBC6BF"/>
                      </a:solidFill>
                      <a:prstDash val="solid"/>
                      <a:round/>
                      <a:headEnd len="sm" w="sm" type="none"/>
                      <a:tailEnd len="sm" w="sm" type="none"/>
                    </a:lnL>
                    <a:lnR cap="flat" cmpd="sng" w="12700">
                      <a:solidFill>
                        <a:srgbClr val="CBC6BF"/>
                      </a:solidFill>
                      <a:prstDash val="solid"/>
                      <a:round/>
                      <a:headEnd len="sm" w="sm" type="none"/>
                      <a:tailEnd len="sm" w="sm" type="none"/>
                    </a:lnR>
                    <a:lnT cap="flat" cmpd="sng" w="12700">
                      <a:solidFill>
                        <a:srgbClr val="BCB8B1"/>
                      </a:solidFill>
                      <a:prstDash val="solid"/>
                      <a:round/>
                      <a:headEnd len="sm" w="sm" type="none"/>
                      <a:tailEnd len="sm" w="sm" type="none"/>
                    </a:lnT>
                    <a:lnB cap="flat" cmpd="sng" w="12700">
                      <a:solidFill>
                        <a:srgbClr val="CBC6BF"/>
                      </a:solidFill>
                      <a:prstDash val="solid"/>
                      <a:round/>
                      <a:headEnd len="sm" w="sm" type="none"/>
                      <a:tailEnd len="sm" w="sm" type="none"/>
                    </a:lnB>
                  </a:tcPr>
                </a:tc>
                <a:tc>
                  <a:txBody>
                    <a:bodyPr/>
                    <a:lstStyle/>
                    <a:p>
                      <a:pPr indent="0" lvl="0" marL="0" marR="0" rtl="0" algn="ctr">
                        <a:lnSpc>
                          <a:spcPct val="140000"/>
                        </a:lnSpc>
                        <a:spcBef>
                          <a:spcPts val="0"/>
                        </a:spcBef>
                        <a:spcAft>
                          <a:spcPts val="0"/>
                        </a:spcAft>
                        <a:buClr>
                          <a:srgbClr val="3C4043"/>
                        </a:buClr>
                        <a:buSzPts val="1500"/>
                        <a:buFont typeface="Arial"/>
                        <a:buNone/>
                      </a:pPr>
                      <a:r>
                        <a:rPr lang="en-US" sz="1500" u="none" cap="none" strike="noStrike">
                          <a:solidFill>
                            <a:srgbClr val="3C4043"/>
                          </a:solidFill>
                          <a:latin typeface="Arial"/>
                          <a:ea typeface="Arial"/>
                          <a:cs typeface="Arial"/>
                          <a:sym typeface="Arial"/>
                        </a:rPr>
                        <a:t>1</a:t>
                      </a:r>
                      <a:endParaRPr sz="1500" u="none" cap="none" strike="noStrike">
                        <a:latin typeface="Arial"/>
                        <a:ea typeface="Arial"/>
                        <a:cs typeface="Arial"/>
                        <a:sym typeface="Arial"/>
                      </a:endParaRPr>
                    </a:p>
                  </a:txBody>
                  <a:tcPr marT="66675" marB="66675" marR="66675" marL="66675">
                    <a:lnL cap="flat" cmpd="sng" w="12700">
                      <a:solidFill>
                        <a:srgbClr val="CBC6BF"/>
                      </a:solidFill>
                      <a:prstDash val="solid"/>
                      <a:round/>
                      <a:headEnd len="sm" w="sm" type="none"/>
                      <a:tailEnd len="sm" w="sm" type="none"/>
                    </a:lnL>
                    <a:lnR cap="flat" cmpd="sng" w="12700">
                      <a:solidFill>
                        <a:srgbClr val="CBC6BF"/>
                      </a:solidFill>
                      <a:prstDash val="solid"/>
                      <a:round/>
                      <a:headEnd len="sm" w="sm" type="none"/>
                      <a:tailEnd len="sm" w="sm" type="none"/>
                    </a:lnR>
                    <a:lnT cap="flat" cmpd="sng" w="12700">
                      <a:solidFill>
                        <a:srgbClr val="BCB8B1"/>
                      </a:solidFill>
                      <a:prstDash val="solid"/>
                      <a:round/>
                      <a:headEnd len="sm" w="sm" type="none"/>
                      <a:tailEnd len="sm" w="sm" type="none"/>
                    </a:lnT>
                    <a:lnB cap="flat" cmpd="sng" w="12700">
                      <a:solidFill>
                        <a:srgbClr val="CBC6BF"/>
                      </a:solidFill>
                      <a:prstDash val="solid"/>
                      <a:round/>
                      <a:headEnd len="sm" w="sm" type="none"/>
                      <a:tailEnd len="sm" w="sm" type="none"/>
                    </a:lnB>
                  </a:tcPr>
                </a:tc>
              </a:tr>
              <a:tr h="412750">
                <a:tc>
                  <a:txBody>
                    <a:bodyPr/>
                    <a:lstStyle/>
                    <a:p>
                      <a:pPr indent="0" lvl="0" marL="0" marR="0" rtl="0" algn="ctr">
                        <a:lnSpc>
                          <a:spcPct val="140000"/>
                        </a:lnSpc>
                        <a:spcBef>
                          <a:spcPts val="0"/>
                        </a:spcBef>
                        <a:spcAft>
                          <a:spcPts val="0"/>
                        </a:spcAft>
                        <a:buClr>
                          <a:srgbClr val="3C4043"/>
                        </a:buClr>
                        <a:buSzPts val="1500"/>
                        <a:buFont typeface="Arial"/>
                        <a:buNone/>
                      </a:pPr>
                      <a:r>
                        <a:rPr lang="en-US" sz="1500" u="none" cap="none" strike="noStrike">
                          <a:solidFill>
                            <a:srgbClr val="3C4043"/>
                          </a:solidFill>
                          <a:latin typeface="Arial"/>
                          <a:ea typeface="Arial"/>
                          <a:cs typeface="Arial"/>
                          <a:sym typeface="Arial"/>
                        </a:rPr>
                        <a:t>01xx</a:t>
                      </a:r>
                      <a:endParaRPr sz="1500" u="none" cap="none" strike="noStrike">
                        <a:latin typeface="Arial"/>
                        <a:ea typeface="Arial"/>
                        <a:cs typeface="Arial"/>
                        <a:sym typeface="Arial"/>
                      </a:endParaRPr>
                    </a:p>
                  </a:txBody>
                  <a:tcPr marT="66675" marB="66675" marR="66675" marL="66675">
                    <a:lnL cap="flat" cmpd="sng" w="12700">
                      <a:solidFill>
                        <a:srgbClr val="CBC6BF"/>
                      </a:solidFill>
                      <a:prstDash val="solid"/>
                      <a:round/>
                      <a:headEnd len="sm" w="sm" type="none"/>
                      <a:tailEnd len="sm" w="sm" type="none"/>
                    </a:lnL>
                    <a:lnR cap="flat" cmpd="sng" w="12700">
                      <a:solidFill>
                        <a:srgbClr val="CBC6BF"/>
                      </a:solidFill>
                      <a:prstDash val="solid"/>
                      <a:round/>
                      <a:headEnd len="sm" w="sm" type="none"/>
                      <a:tailEnd len="sm" w="sm" type="none"/>
                    </a:lnR>
                    <a:lnT cap="flat" cmpd="sng" w="12700">
                      <a:solidFill>
                        <a:srgbClr val="CBC6BF"/>
                      </a:solidFill>
                      <a:prstDash val="solid"/>
                      <a:round/>
                      <a:headEnd len="sm" w="sm" type="none"/>
                      <a:tailEnd len="sm" w="sm" type="none"/>
                    </a:lnT>
                    <a:lnB cap="flat" cmpd="sng" w="12700">
                      <a:solidFill>
                        <a:srgbClr val="CBC6BF"/>
                      </a:solidFill>
                      <a:prstDash val="solid"/>
                      <a:round/>
                      <a:headEnd len="sm" w="sm" type="none"/>
                      <a:tailEnd len="sm" w="sm" type="none"/>
                    </a:lnB>
                  </a:tcPr>
                </a:tc>
                <a:tc>
                  <a:txBody>
                    <a:bodyPr/>
                    <a:lstStyle/>
                    <a:p>
                      <a:pPr indent="0" lvl="0" marL="0" marR="0" rtl="0" algn="ctr">
                        <a:lnSpc>
                          <a:spcPct val="140000"/>
                        </a:lnSpc>
                        <a:spcBef>
                          <a:spcPts val="0"/>
                        </a:spcBef>
                        <a:spcAft>
                          <a:spcPts val="0"/>
                        </a:spcAft>
                        <a:buClr>
                          <a:srgbClr val="3C4043"/>
                        </a:buClr>
                        <a:buSzPts val="1500"/>
                        <a:buFont typeface="Arial"/>
                        <a:buNone/>
                      </a:pPr>
                      <a:r>
                        <a:rPr lang="en-US" sz="1500" u="none" cap="none" strike="noStrike">
                          <a:solidFill>
                            <a:srgbClr val="3C4043"/>
                          </a:solidFill>
                          <a:latin typeface="Arial"/>
                          <a:ea typeface="Arial"/>
                          <a:cs typeface="Arial"/>
                          <a:sym typeface="Arial"/>
                        </a:rPr>
                        <a:t>2</a:t>
                      </a:r>
                      <a:endParaRPr sz="1500" u="none" cap="none" strike="noStrike">
                        <a:latin typeface="Arial"/>
                        <a:ea typeface="Arial"/>
                        <a:cs typeface="Arial"/>
                        <a:sym typeface="Arial"/>
                      </a:endParaRPr>
                    </a:p>
                  </a:txBody>
                  <a:tcPr marT="66675" marB="66675" marR="66675" marL="66675">
                    <a:lnL cap="flat" cmpd="sng" w="12700">
                      <a:solidFill>
                        <a:srgbClr val="CBC6BF"/>
                      </a:solidFill>
                      <a:prstDash val="solid"/>
                      <a:round/>
                      <a:headEnd len="sm" w="sm" type="none"/>
                      <a:tailEnd len="sm" w="sm" type="none"/>
                    </a:lnL>
                    <a:lnR cap="flat" cmpd="sng" w="12700">
                      <a:solidFill>
                        <a:srgbClr val="CBC6BF"/>
                      </a:solidFill>
                      <a:prstDash val="solid"/>
                      <a:round/>
                      <a:headEnd len="sm" w="sm" type="none"/>
                      <a:tailEnd len="sm" w="sm" type="none"/>
                    </a:lnR>
                    <a:lnT cap="flat" cmpd="sng" w="12700">
                      <a:solidFill>
                        <a:srgbClr val="CBC6BF"/>
                      </a:solidFill>
                      <a:prstDash val="solid"/>
                      <a:round/>
                      <a:headEnd len="sm" w="sm" type="none"/>
                      <a:tailEnd len="sm" w="sm" type="none"/>
                    </a:lnT>
                    <a:lnB cap="flat" cmpd="sng" w="12700">
                      <a:solidFill>
                        <a:srgbClr val="CBC6BF"/>
                      </a:solidFill>
                      <a:prstDash val="solid"/>
                      <a:round/>
                      <a:headEnd len="sm" w="sm" type="none"/>
                      <a:tailEnd len="sm" w="sm" type="none"/>
                    </a:lnB>
                  </a:tcPr>
                </a:tc>
                <a:tc>
                  <a:txBody>
                    <a:bodyPr/>
                    <a:lstStyle/>
                    <a:p>
                      <a:pPr indent="0" lvl="0" marL="0" marR="0" rtl="0" algn="ctr">
                        <a:lnSpc>
                          <a:spcPct val="140000"/>
                        </a:lnSpc>
                        <a:spcBef>
                          <a:spcPts val="0"/>
                        </a:spcBef>
                        <a:spcAft>
                          <a:spcPts val="0"/>
                        </a:spcAft>
                        <a:buClr>
                          <a:srgbClr val="3C4043"/>
                        </a:buClr>
                        <a:buSzPts val="1500"/>
                        <a:buFont typeface="Arial"/>
                        <a:buNone/>
                      </a:pPr>
                      <a:r>
                        <a:rPr lang="en-US" sz="1500" u="none" cap="none" strike="noStrike">
                          <a:solidFill>
                            <a:srgbClr val="3C4043"/>
                          </a:solidFill>
                          <a:latin typeface="Arial"/>
                          <a:ea typeface="Arial"/>
                          <a:cs typeface="Arial"/>
                          <a:sym typeface="Arial"/>
                        </a:rPr>
                        <a:t>1</a:t>
                      </a:r>
                      <a:endParaRPr sz="1500" u="none" cap="none" strike="noStrike">
                        <a:latin typeface="Arial"/>
                        <a:ea typeface="Arial"/>
                        <a:cs typeface="Arial"/>
                        <a:sym typeface="Arial"/>
                      </a:endParaRPr>
                    </a:p>
                  </a:txBody>
                  <a:tcPr marT="66675" marB="66675" marR="66675" marL="66675">
                    <a:lnL cap="flat" cmpd="sng" w="12700">
                      <a:solidFill>
                        <a:srgbClr val="CBC6BF"/>
                      </a:solidFill>
                      <a:prstDash val="solid"/>
                      <a:round/>
                      <a:headEnd len="sm" w="sm" type="none"/>
                      <a:tailEnd len="sm" w="sm" type="none"/>
                    </a:lnL>
                    <a:lnR cap="flat" cmpd="sng" w="12700">
                      <a:solidFill>
                        <a:srgbClr val="CBC6BF"/>
                      </a:solidFill>
                      <a:prstDash val="solid"/>
                      <a:round/>
                      <a:headEnd len="sm" w="sm" type="none"/>
                      <a:tailEnd len="sm" w="sm" type="none"/>
                    </a:lnR>
                    <a:lnT cap="flat" cmpd="sng" w="12700">
                      <a:solidFill>
                        <a:srgbClr val="CBC6BF"/>
                      </a:solidFill>
                      <a:prstDash val="solid"/>
                      <a:round/>
                      <a:headEnd len="sm" w="sm" type="none"/>
                      <a:tailEnd len="sm" w="sm" type="none"/>
                    </a:lnT>
                    <a:lnB cap="flat" cmpd="sng" w="12700">
                      <a:solidFill>
                        <a:srgbClr val="CBC6BF"/>
                      </a:solidFill>
                      <a:prstDash val="solid"/>
                      <a:round/>
                      <a:headEnd len="sm" w="sm" type="none"/>
                      <a:tailEnd len="sm" w="sm" type="none"/>
                    </a:lnB>
                  </a:tcPr>
                </a:tc>
              </a:tr>
              <a:tr h="412750">
                <a:tc>
                  <a:txBody>
                    <a:bodyPr/>
                    <a:lstStyle/>
                    <a:p>
                      <a:pPr indent="0" lvl="0" marL="0" marR="0" rtl="0" algn="ctr">
                        <a:lnSpc>
                          <a:spcPct val="140000"/>
                        </a:lnSpc>
                        <a:spcBef>
                          <a:spcPts val="0"/>
                        </a:spcBef>
                        <a:spcAft>
                          <a:spcPts val="0"/>
                        </a:spcAft>
                        <a:buClr>
                          <a:srgbClr val="3C4043"/>
                        </a:buClr>
                        <a:buSzPts val="1500"/>
                        <a:buFont typeface="Arial"/>
                        <a:buNone/>
                      </a:pPr>
                      <a:r>
                        <a:rPr lang="en-US" sz="1500" u="none" cap="none" strike="noStrike">
                          <a:solidFill>
                            <a:srgbClr val="3C4043"/>
                          </a:solidFill>
                          <a:latin typeface="Arial"/>
                          <a:ea typeface="Arial"/>
                          <a:cs typeface="Arial"/>
                          <a:sym typeface="Arial"/>
                        </a:rPr>
                        <a:t>001x</a:t>
                      </a:r>
                      <a:endParaRPr sz="1500" u="none" cap="none" strike="noStrike">
                        <a:latin typeface="Arial"/>
                        <a:ea typeface="Arial"/>
                        <a:cs typeface="Arial"/>
                        <a:sym typeface="Arial"/>
                      </a:endParaRPr>
                    </a:p>
                  </a:txBody>
                  <a:tcPr marT="66675" marB="66675" marR="66675" marL="66675">
                    <a:lnL cap="flat" cmpd="sng" w="12700">
                      <a:solidFill>
                        <a:srgbClr val="CBC6BF"/>
                      </a:solidFill>
                      <a:prstDash val="solid"/>
                      <a:round/>
                      <a:headEnd len="sm" w="sm" type="none"/>
                      <a:tailEnd len="sm" w="sm" type="none"/>
                    </a:lnL>
                    <a:lnR cap="flat" cmpd="sng" w="12700">
                      <a:solidFill>
                        <a:srgbClr val="CBC6BF"/>
                      </a:solidFill>
                      <a:prstDash val="solid"/>
                      <a:round/>
                      <a:headEnd len="sm" w="sm" type="none"/>
                      <a:tailEnd len="sm" w="sm" type="none"/>
                    </a:lnR>
                    <a:lnT cap="flat" cmpd="sng" w="12700">
                      <a:solidFill>
                        <a:srgbClr val="CBC6BF"/>
                      </a:solidFill>
                      <a:prstDash val="solid"/>
                      <a:round/>
                      <a:headEnd len="sm" w="sm" type="none"/>
                      <a:tailEnd len="sm" w="sm" type="none"/>
                    </a:lnT>
                    <a:lnB cap="flat" cmpd="sng" w="12700">
                      <a:solidFill>
                        <a:srgbClr val="CBC6BF"/>
                      </a:solidFill>
                      <a:prstDash val="solid"/>
                      <a:round/>
                      <a:headEnd len="sm" w="sm" type="none"/>
                      <a:tailEnd len="sm" w="sm" type="none"/>
                    </a:lnB>
                  </a:tcPr>
                </a:tc>
                <a:tc>
                  <a:txBody>
                    <a:bodyPr/>
                    <a:lstStyle/>
                    <a:p>
                      <a:pPr indent="0" lvl="0" marL="0" marR="0" rtl="0" algn="ctr">
                        <a:lnSpc>
                          <a:spcPct val="140000"/>
                        </a:lnSpc>
                        <a:spcBef>
                          <a:spcPts val="0"/>
                        </a:spcBef>
                        <a:spcAft>
                          <a:spcPts val="0"/>
                        </a:spcAft>
                        <a:buClr>
                          <a:srgbClr val="3C4043"/>
                        </a:buClr>
                        <a:buSzPts val="1500"/>
                        <a:buFont typeface="Arial"/>
                        <a:buNone/>
                      </a:pPr>
                      <a:r>
                        <a:rPr lang="en-US" sz="1500" u="none" cap="none" strike="noStrike">
                          <a:solidFill>
                            <a:srgbClr val="3C4043"/>
                          </a:solidFill>
                          <a:latin typeface="Arial"/>
                          <a:ea typeface="Arial"/>
                          <a:cs typeface="Arial"/>
                          <a:sym typeface="Arial"/>
                        </a:rPr>
                        <a:t>1</a:t>
                      </a:r>
                      <a:endParaRPr sz="1500" u="none" cap="none" strike="noStrike">
                        <a:latin typeface="Arial"/>
                        <a:ea typeface="Arial"/>
                        <a:cs typeface="Arial"/>
                        <a:sym typeface="Arial"/>
                      </a:endParaRPr>
                    </a:p>
                  </a:txBody>
                  <a:tcPr marT="66675" marB="66675" marR="66675" marL="66675">
                    <a:lnL cap="flat" cmpd="sng" w="12700">
                      <a:solidFill>
                        <a:srgbClr val="CBC6BF"/>
                      </a:solidFill>
                      <a:prstDash val="solid"/>
                      <a:round/>
                      <a:headEnd len="sm" w="sm" type="none"/>
                      <a:tailEnd len="sm" w="sm" type="none"/>
                    </a:lnL>
                    <a:lnR cap="flat" cmpd="sng" w="12700">
                      <a:solidFill>
                        <a:srgbClr val="CBC6BF"/>
                      </a:solidFill>
                      <a:prstDash val="solid"/>
                      <a:round/>
                      <a:headEnd len="sm" w="sm" type="none"/>
                      <a:tailEnd len="sm" w="sm" type="none"/>
                    </a:lnR>
                    <a:lnT cap="flat" cmpd="sng" w="12700">
                      <a:solidFill>
                        <a:srgbClr val="CBC6BF"/>
                      </a:solidFill>
                      <a:prstDash val="solid"/>
                      <a:round/>
                      <a:headEnd len="sm" w="sm" type="none"/>
                      <a:tailEnd len="sm" w="sm" type="none"/>
                    </a:lnT>
                    <a:lnB cap="flat" cmpd="sng" w="12700">
                      <a:solidFill>
                        <a:srgbClr val="CBC6BF"/>
                      </a:solidFill>
                      <a:prstDash val="solid"/>
                      <a:round/>
                      <a:headEnd len="sm" w="sm" type="none"/>
                      <a:tailEnd len="sm" w="sm" type="none"/>
                    </a:lnB>
                  </a:tcPr>
                </a:tc>
                <a:tc>
                  <a:txBody>
                    <a:bodyPr/>
                    <a:lstStyle/>
                    <a:p>
                      <a:pPr indent="0" lvl="0" marL="0" marR="0" rtl="0" algn="ctr">
                        <a:lnSpc>
                          <a:spcPct val="140000"/>
                        </a:lnSpc>
                        <a:spcBef>
                          <a:spcPts val="0"/>
                        </a:spcBef>
                        <a:spcAft>
                          <a:spcPts val="0"/>
                        </a:spcAft>
                        <a:buClr>
                          <a:srgbClr val="3C4043"/>
                        </a:buClr>
                        <a:buSzPts val="1500"/>
                        <a:buFont typeface="Arial"/>
                        <a:buNone/>
                      </a:pPr>
                      <a:r>
                        <a:rPr lang="en-US" sz="1500" u="none" cap="none" strike="noStrike">
                          <a:solidFill>
                            <a:srgbClr val="3C4043"/>
                          </a:solidFill>
                          <a:latin typeface="Arial"/>
                          <a:ea typeface="Arial"/>
                          <a:cs typeface="Arial"/>
                          <a:sym typeface="Arial"/>
                        </a:rPr>
                        <a:t>1</a:t>
                      </a:r>
                      <a:endParaRPr sz="1500" u="none" cap="none" strike="noStrike">
                        <a:latin typeface="Arial"/>
                        <a:ea typeface="Arial"/>
                        <a:cs typeface="Arial"/>
                        <a:sym typeface="Arial"/>
                      </a:endParaRPr>
                    </a:p>
                  </a:txBody>
                  <a:tcPr marT="66675" marB="66675" marR="66675" marL="66675">
                    <a:lnL cap="flat" cmpd="sng" w="12700">
                      <a:solidFill>
                        <a:srgbClr val="CBC6BF"/>
                      </a:solidFill>
                      <a:prstDash val="solid"/>
                      <a:round/>
                      <a:headEnd len="sm" w="sm" type="none"/>
                      <a:tailEnd len="sm" w="sm" type="none"/>
                    </a:lnL>
                    <a:lnR cap="flat" cmpd="sng" w="12700">
                      <a:solidFill>
                        <a:srgbClr val="CBC6BF"/>
                      </a:solidFill>
                      <a:prstDash val="solid"/>
                      <a:round/>
                      <a:headEnd len="sm" w="sm" type="none"/>
                      <a:tailEnd len="sm" w="sm" type="none"/>
                    </a:lnR>
                    <a:lnT cap="flat" cmpd="sng" w="12700">
                      <a:solidFill>
                        <a:srgbClr val="CBC6BF"/>
                      </a:solidFill>
                      <a:prstDash val="solid"/>
                      <a:round/>
                      <a:headEnd len="sm" w="sm" type="none"/>
                      <a:tailEnd len="sm" w="sm" type="none"/>
                    </a:lnT>
                    <a:lnB cap="flat" cmpd="sng" w="12700">
                      <a:solidFill>
                        <a:srgbClr val="CBC6BF"/>
                      </a:solidFill>
                      <a:prstDash val="solid"/>
                      <a:round/>
                      <a:headEnd len="sm" w="sm" type="none"/>
                      <a:tailEnd len="sm" w="sm" type="none"/>
                    </a:lnB>
                  </a:tcPr>
                </a:tc>
              </a:tr>
              <a:tr h="412750">
                <a:tc>
                  <a:txBody>
                    <a:bodyPr/>
                    <a:lstStyle/>
                    <a:p>
                      <a:pPr indent="0" lvl="0" marL="0" marR="0" rtl="0" algn="ctr">
                        <a:lnSpc>
                          <a:spcPct val="140000"/>
                        </a:lnSpc>
                        <a:spcBef>
                          <a:spcPts val="0"/>
                        </a:spcBef>
                        <a:spcAft>
                          <a:spcPts val="0"/>
                        </a:spcAft>
                        <a:buClr>
                          <a:srgbClr val="3C4043"/>
                        </a:buClr>
                        <a:buSzPts val="1500"/>
                        <a:buFont typeface="Arial"/>
                        <a:buNone/>
                      </a:pPr>
                      <a:r>
                        <a:rPr lang="en-US" sz="1500" u="none" cap="none" strike="noStrike">
                          <a:solidFill>
                            <a:srgbClr val="3C4043"/>
                          </a:solidFill>
                          <a:latin typeface="Arial"/>
                          <a:ea typeface="Arial"/>
                          <a:cs typeface="Arial"/>
                          <a:sym typeface="Arial"/>
                        </a:rPr>
                        <a:t>0001</a:t>
                      </a:r>
                      <a:endParaRPr sz="1500" u="none" cap="none" strike="noStrike">
                        <a:latin typeface="Arial"/>
                        <a:ea typeface="Arial"/>
                        <a:cs typeface="Arial"/>
                        <a:sym typeface="Arial"/>
                      </a:endParaRPr>
                    </a:p>
                  </a:txBody>
                  <a:tcPr marT="66675" marB="66675" marR="66675" marL="66675">
                    <a:lnL cap="flat" cmpd="sng" w="12700">
                      <a:solidFill>
                        <a:srgbClr val="CBC6BF"/>
                      </a:solidFill>
                      <a:prstDash val="solid"/>
                      <a:round/>
                      <a:headEnd len="sm" w="sm" type="none"/>
                      <a:tailEnd len="sm" w="sm" type="none"/>
                    </a:lnL>
                    <a:lnR cap="flat" cmpd="sng" w="12700">
                      <a:solidFill>
                        <a:srgbClr val="CBC6BF"/>
                      </a:solidFill>
                      <a:prstDash val="solid"/>
                      <a:round/>
                      <a:headEnd len="sm" w="sm" type="none"/>
                      <a:tailEnd len="sm" w="sm" type="none"/>
                    </a:lnR>
                    <a:lnT cap="flat" cmpd="sng" w="12700">
                      <a:solidFill>
                        <a:srgbClr val="CBC6BF"/>
                      </a:solidFill>
                      <a:prstDash val="solid"/>
                      <a:round/>
                      <a:headEnd len="sm" w="sm" type="none"/>
                      <a:tailEnd len="sm" w="sm" type="none"/>
                    </a:lnT>
                    <a:lnB cap="flat" cmpd="sng" w="12700">
                      <a:solidFill>
                        <a:srgbClr val="CBC6BF"/>
                      </a:solidFill>
                      <a:prstDash val="solid"/>
                      <a:round/>
                      <a:headEnd len="sm" w="sm" type="none"/>
                      <a:tailEnd len="sm" w="sm" type="none"/>
                    </a:lnB>
                  </a:tcPr>
                </a:tc>
                <a:tc>
                  <a:txBody>
                    <a:bodyPr/>
                    <a:lstStyle/>
                    <a:p>
                      <a:pPr indent="0" lvl="0" marL="0" marR="0" rtl="0" algn="ctr">
                        <a:lnSpc>
                          <a:spcPct val="140000"/>
                        </a:lnSpc>
                        <a:spcBef>
                          <a:spcPts val="0"/>
                        </a:spcBef>
                        <a:spcAft>
                          <a:spcPts val="0"/>
                        </a:spcAft>
                        <a:buClr>
                          <a:srgbClr val="3C4043"/>
                        </a:buClr>
                        <a:buSzPts val="1500"/>
                        <a:buFont typeface="Arial"/>
                        <a:buNone/>
                      </a:pPr>
                      <a:r>
                        <a:rPr lang="en-US" sz="1500" u="none" cap="none" strike="noStrike">
                          <a:solidFill>
                            <a:srgbClr val="3C4043"/>
                          </a:solidFill>
                          <a:latin typeface="Arial"/>
                          <a:ea typeface="Arial"/>
                          <a:cs typeface="Arial"/>
                          <a:sym typeface="Arial"/>
                        </a:rPr>
                        <a:t>0</a:t>
                      </a:r>
                      <a:endParaRPr sz="1500" u="none" cap="none" strike="noStrike">
                        <a:latin typeface="Arial"/>
                        <a:ea typeface="Arial"/>
                        <a:cs typeface="Arial"/>
                        <a:sym typeface="Arial"/>
                      </a:endParaRPr>
                    </a:p>
                  </a:txBody>
                  <a:tcPr marT="66675" marB="66675" marR="66675" marL="66675">
                    <a:lnL cap="flat" cmpd="sng" w="12700">
                      <a:solidFill>
                        <a:srgbClr val="CBC6BF"/>
                      </a:solidFill>
                      <a:prstDash val="solid"/>
                      <a:round/>
                      <a:headEnd len="sm" w="sm" type="none"/>
                      <a:tailEnd len="sm" w="sm" type="none"/>
                    </a:lnL>
                    <a:lnR cap="flat" cmpd="sng" w="12700">
                      <a:solidFill>
                        <a:srgbClr val="CBC6BF"/>
                      </a:solidFill>
                      <a:prstDash val="solid"/>
                      <a:round/>
                      <a:headEnd len="sm" w="sm" type="none"/>
                      <a:tailEnd len="sm" w="sm" type="none"/>
                    </a:lnR>
                    <a:lnT cap="flat" cmpd="sng" w="12700">
                      <a:solidFill>
                        <a:srgbClr val="CBC6BF"/>
                      </a:solidFill>
                      <a:prstDash val="solid"/>
                      <a:round/>
                      <a:headEnd len="sm" w="sm" type="none"/>
                      <a:tailEnd len="sm" w="sm" type="none"/>
                    </a:lnT>
                    <a:lnB cap="flat" cmpd="sng" w="12700">
                      <a:solidFill>
                        <a:srgbClr val="CBC6BF"/>
                      </a:solidFill>
                      <a:prstDash val="solid"/>
                      <a:round/>
                      <a:headEnd len="sm" w="sm" type="none"/>
                      <a:tailEnd len="sm" w="sm" type="none"/>
                    </a:lnB>
                  </a:tcPr>
                </a:tc>
                <a:tc>
                  <a:txBody>
                    <a:bodyPr/>
                    <a:lstStyle/>
                    <a:p>
                      <a:pPr indent="0" lvl="0" marL="0" marR="0" rtl="0" algn="ctr">
                        <a:lnSpc>
                          <a:spcPct val="140000"/>
                        </a:lnSpc>
                        <a:spcBef>
                          <a:spcPts val="0"/>
                        </a:spcBef>
                        <a:spcAft>
                          <a:spcPts val="0"/>
                        </a:spcAft>
                        <a:buClr>
                          <a:srgbClr val="3C4043"/>
                        </a:buClr>
                        <a:buSzPts val="1500"/>
                        <a:buFont typeface="Arial"/>
                        <a:buNone/>
                      </a:pPr>
                      <a:r>
                        <a:rPr lang="en-US" sz="1500" u="none" cap="none" strike="noStrike">
                          <a:solidFill>
                            <a:srgbClr val="3C4043"/>
                          </a:solidFill>
                          <a:latin typeface="Arial"/>
                          <a:ea typeface="Arial"/>
                          <a:cs typeface="Arial"/>
                          <a:sym typeface="Arial"/>
                        </a:rPr>
                        <a:t>1</a:t>
                      </a:r>
                      <a:endParaRPr sz="1500" u="none" cap="none" strike="noStrike">
                        <a:latin typeface="Arial"/>
                        <a:ea typeface="Arial"/>
                        <a:cs typeface="Arial"/>
                        <a:sym typeface="Arial"/>
                      </a:endParaRPr>
                    </a:p>
                  </a:txBody>
                  <a:tcPr marT="66675" marB="66675" marR="66675" marL="66675">
                    <a:lnL cap="flat" cmpd="sng" w="12700">
                      <a:solidFill>
                        <a:srgbClr val="CBC6BF"/>
                      </a:solidFill>
                      <a:prstDash val="solid"/>
                      <a:round/>
                      <a:headEnd len="sm" w="sm" type="none"/>
                      <a:tailEnd len="sm" w="sm" type="none"/>
                    </a:lnL>
                    <a:lnR cap="flat" cmpd="sng" w="12700">
                      <a:solidFill>
                        <a:srgbClr val="CBC6BF"/>
                      </a:solidFill>
                      <a:prstDash val="solid"/>
                      <a:round/>
                      <a:headEnd len="sm" w="sm" type="none"/>
                      <a:tailEnd len="sm" w="sm" type="none"/>
                    </a:lnR>
                    <a:lnT cap="flat" cmpd="sng" w="12700">
                      <a:solidFill>
                        <a:srgbClr val="CBC6BF"/>
                      </a:solidFill>
                      <a:prstDash val="solid"/>
                      <a:round/>
                      <a:headEnd len="sm" w="sm" type="none"/>
                      <a:tailEnd len="sm" w="sm" type="none"/>
                    </a:lnT>
                    <a:lnB cap="flat" cmpd="sng" w="12700">
                      <a:solidFill>
                        <a:srgbClr val="CBC6BF"/>
                      </a:solidFill>
                      <a:prstDash val="solid"/>
                      <a:round/>
                      <a:headEnd len="sm" w="sm" type="none"/>
                      <a:tailEnd len="sm" w="sm" type="none"/>
                    </a:lnB>
                  </a:tcPr>
                </a:tc>
              </a:tr>
              <a:tr h="412750">
                <a:tc>
                  <a:txBody>
                    <a:bodyPr/>
                    <a:lstStyle/>
                    <a:p>
                      <a:pPr indent="0" lvl="0" marL="0" marR="0" rtl="0" algn="ctr">
                        <a:lnSpc>
                          <a:spcPct val="140000"/>
                        </a:lnSpc>
                        <a:spcBef>
                          <a:spcPts val="0"/>
                        </a:spcBef>
                        <a:spcAft>
                          <a:spcPts val="0"/>
                        </a:spcAft>
                        <a:buClr>
                          <a:srgbClr val="3C4043"/>
                        </a:buClr>
                        <a:buSzPts val="1500"/>
                        <a:buFont typeface="Arial"/>
                        <a:buNone/>
                      </a:pPr>
                      <a:r>
                        <a:rPr lang="en-US" sz="1500" u="none" cap="none" strike="noStrike">
                          <a:solidFill>
                            <a:srgbClr val="3C4043"/>
                          </a:solidFill>
                          <a:latin typeface="Arial"/>
                          <a:ea typeface="Arial"/>
                          <a:cs typeface="Arial"/>
                          <a:sym typeface="Arial"/>
                        </a:rPr>
                        <a:t>0000</a:t>
                      </a:r>
                      <a:endParaRPr sz="1500" u="none" cap="none" strike="noStrike">
                        <a:latin typeface="Arial"/>
                        <a:ea typeface="Arial"/>
                        <a:cs typeface="Arial"/>
                        <a:sym typeface="Arial"/>
                      </a:endParaRPr>
                    </a:p>
                  </a:txBody>
                  <a:tcPr marT="66675" marB="66675" marR="66675" marL="66675">
                    <a:lnL cap="flat" cmpd="sng" w="12700">
                      <a:solidFill>
                        <a:srgbClr val="CBC6BF"/>
                      </a:solidFill>
                      <a:prstDash val="solid"/>
                      <a:round/>
                      <a:headEnd len="sm" w="sm" type="none"/>
                      <a:tailEnd len="sm" w="sm" type="none"/>
                    </a:lnL>
                    <a:lnR cap="flat" cmpd="sng" w="12700">
                      <a:solidFill>
                        <a:srgbClr val="CBC6BF"/>
                      </a:solidFill>
                      <a:prstDash val="solid"/>
                      <a:round/>
                      <a:headEnd len="sm" w="sm" type="none"/>
                      <a:tailEnd len="sm" w="sm" type="none"/>
                    </a:lnR>
                    <a:lnT cap="flat" cmpd="sng" w="12700">
                      <a:solidFill>
                        <a:srgbClr val="CBC6BF"/>
                      </a:solidFill>
                      <a:prstDash val="solid"/>
                      <a:round/>
                      <a:headEnd len="sm" w="sm" type="none"/>
                      <a:tailEnd len="sm" w="sm" type="none"/>
                    </a:lnT>
                    <a:lnB cap="flat" cmpd="sng" w="12700">
                      <a:solidFill>
                        <a:srgbClr val="CBC6BF"/>
                      </a:solidFill>
                      <a:prstDash val="solid"/>
                      <a:round/>
                      <a:headEnd len="sm" w="sm" type="none"/>
                      <a:tailEnd len="sm" w="sm" type="none"/>
                    </a:lnB>
                  </a:tcPr>
                </a:tc>
                <a:tc>
                  <a:txBody>
                    <a:bodyPr/>
                    <a:lstStyle/>
                    <a:p>
                      <a:pPr indent="0" lvl="0" marL="0" marR="0" rtl="0" algn="ctr">
                        <a:lnSpc>
                          <a:spcPct val="140000"/>
                        </a:lnSpc>
                        <a:spcBef>
                          <a:spcPts val="0"/>
                        </a:spcBef>
                        <a:spcAft>
                          <a:spcPts val="0"/>
                        </a:spcAft>
                        <a:buClr>
                          <a:srgbClr val="3C4043"/>
                        </a:buClr>
                        <a:buSzPts val="1500"/>
                        <a:buFont typeface="Arial"/>
                        <a:buNone/>
                      </a:pPr>
                      <a:r>
                        <a:rPr lang="en-US" sz="1500" u="none" cap="none" strike="noStrike">
                          <a:solidFill>
                            <a:srgbClr val="3C4043"/>
                          </a:solidFill>
                          <a:latin typeface="Arial"/>
                          <a:ea typeface="Arial"/>
                          <a:cs typeface="Arial"/>
                          <a:sym typeface="Arial"/>
                        </a:rPr>
                        <a:t>0</a:t>
                      </a:r>
                      <a:endParaRPr sz="1500" u="none" cap="none" strike="noStrike">
                        <a:latin typeface="Arial"/>
                        <a:ea typeface="Arial"/>
                        <a:cs typeface="Arial"/>
                        <a:sym typeface="Arial"/>
                      </a:endParaRPr>
                    </a:p>
                  </a:txBody>
                  <a:tcPr marT="66675" marB="66675" marR="66675" marL="66675">
                    <a:lnL cap="flat" cmpd="sng" w="12700">
                      <a:solidFill>
                        <a:srgbClr val="CBC6BF"/>
                      </a:solidFill>
                      <a:prstDash val="solid"/>
                      <a:round/>
                      <a:headEnd len="sm" w="sm" type="none"/>
                      <a:tailEnd len="sm" w="sm" type="none"/>
                    </a:lnL>
                    <a:lnR cap="flat" cmpd="sng" w="12700">
                      <a:solidFill>
                        <a:srgbClr val="CBC6BF"/>
                      </a:solidFill>
                      <a:prstDash val="solid"/>
                      <a:round/>
                      <a:headEnd len="sm" w="sm" type="none"/>
                      <a:tailEnd len="sm" w="sm" type="none"/>
                    </a:lnR>
                    <a:lnT cap="flat" cmpd="sng" w="12700">
                      <a:solidFill>
                        <a:srgbClr val="CBC6BF"/>
                      </a:solidFill>
                      <a:prstDash val="solid"/>
                      <a:round/>
                      <a:headEnd len="sm" w="sm" type="none"/>
                      <a:tailEnd len="sm" w="sm" type="none"/>
                    </a:lnT>
                    <a:lnB cap="flat" cmpd="sng" w="12700">
                      <a:solidFill>
                        <a:srgbClr val="CBC6BF"/>
                      </a:solidFill>
                      <a:prstDash val="solid"/>
                      <a:round/>
                      <a:headEnd len="sm" w="sm" type="none"/>
                      <a:tailEnd len="sm" w="sm" type="none"/>
                    </a:lnB>
                  </a:tcPr>
                </a:tc>
                <a:tc>
                  <a:txBody>
                    <a:bodyPr/>
                    <a:lstStyle/>
                    <a:p>
                      <a:pPr indent="0" lvl="0" marL="0" marR="0" rtl="0" algn="ctr">
                        <a:lnSpc>
                          <a:spcPct val="140000"/>
                        </a:lnSpc>
                        <a:spcBef>
                          <a:spcPts val="0"/>
                        </a:spcBef>
                        <a:spcAft>
                          <a:spcPts val="0"/>
                        </a:spcAft>
                        <a:buClr>
                          <a:srgbClr val="3C4043"/>
                        </a:buClr>
                        <a:buSzPts val="1500"/>
                        <a:buFont typeface="Arial"/>
                        <a:buNone/>
                      </a:pPr>
                      <a:r>
                        <a:rPr lang="en-US" sz="1500" u="none" cap="none" strike="noStrike">
                          <a:solidFill>
                            <a:srgbClr val="3C4043"/>
                          </a:solidFill>
                          <a:latin typeface="Arial"/>
                          <a:ea typeface="Arial"/>
                          <a:cs typeface="Arial"/>
                          <a:sym typeface="Arial"/>
                        </a:rPr>
                        <a:t>0</a:t>
                      </a:r>
                      <a:endParaRPr sz="1500" u="none" cap="none" strike="noStrike">
                        <a:latin typeface="Arial"/>
                        <a:ea typeface="Arial"/>
                        <a:cs typeface="Arial"/>
                        <a:sym typeface="Arial"/>
                      </a:endParaRPr>
                    </a:p>
                  </a:txBody>
                  <a:tcPr marT="66675" marB="66675" marR="66675" marL="66675">
                    <a:lnL cap="flat" cmpd="sng" w="12700">
                      <a:solidFill>
                        <a:srgbClr val="CBC6BF"/>
                      </a:solidFill>
                      <a:prstDash val="solid"/>
                      <a:round/>
                      <a:headEnd len="sm" w="sm" type="none"/>
                      <a:tailEnd len="sm" w="sm" type="none"/>
                    </a:lnL>
                    <a:lnR cap="flat" cmpd="sng" w="12700">
                      <a:solidFill>
                        <a:srgbClr val="CBC6BF"/>
                      </a:solidFill>
                      <a:prstDash val="solid"/>
                      <a:round/>
                      <a:headEnd len="sm" w="sm" type="none"/>
                      <a:tailEnd len="sm" w="sm" type="none"/>
                    </a:lnR>
                    <a:lnT cap="flat" cmpd="sng" w="12700">
                      <a:solidFill>
                        <a:srgbClr val="CBC6BF"/>
                      </a:solidFill>
                      <a:prstDash val="solid"/>
                      <a:round/>
                      <a:headEnd len="sm" w="sm" type="none"/>
                      <a:tailEnd len="sm" w="sm" type="none"/>
                    </a:lnT>
                    <a:lnB cap="flat" cmpd="sng" w="12700">
                      <a:solidFill>
                        <a:srgbClr val="CBC6BF"/>
                      </a:solidFill>
                      <a:prstDash val="solid"/>
                      <a:round/>
                      <a:headEnd len="sm" w="sm" type="none"/>
                      <a:tailEnd len="sm" w="sm" type="none"/>
                    </a:lnB>
                  </a:tcPr>
                </a:tc>
              </a:tr>
            </a:tbl>
          </a:graphicData>
        </a:graphic>
      </p:graphicFrame>
      <p:sp>
        <p:nvSpPr>
          <p:cNvPr id="171" name="Google Shape;171;p13"/>
          <p:cNvSpPr/>
          <p:nvPr/>
        </p:nvSpPr>
        <p:spPr>
          <a:xfrm>
            <a:off x="736600" y="5247618"/>
            <a:ext cx="4970780" cy="274307"/>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4E52"/>
              </a:buClr>
              <a:buSzPts val="1400"/>
              <a:buFont typeface="Arial"/>
              <a:buNone/>
            </a:pPr>
            <a:r>
              <a:rPr b="0" i="0" lang="en-US" sz="1400" u="none" cap="none" strike="noStrike">
                <a:solidFill>
                  <a:srgbClr val="4A4E52"/>
                </a:solidFill>
                <a:latin typeface="Arial"/>
                <a:ea typeface="Arial"/>
                <a:cs typeface="Arial"/>
                <a:sym typeface="Arial"/>
              </a:rPr>
              <a:t>x = don't care. Uses: interrupts, bus arbiters</a:t>
            </a:r>
            <a:endParaRPr b="0" i="0" sz="1400" u="none" cap="none" strike="noStrike">
              <a:solidFill>
                <a:schemeClr val="dk1"/>
              </a:solidFill>
              <a:latin typeface="Arial"/>
              <a:ea typeface="Arial"/>
              <a:cs typeface="Arial"/>
              <a:sym typeface="Arial"/>
            </a:endParaRPr>
          </a:p>
        </p:txBody>
      </p:sp>
      <p:sp>
        <p:nvSpPr>
          <p:cNvPr id="172" name="Google Shape;172;p13"/>
          <p:cNvSpPr/>
          <p:nvPr/>
        </p:nvSpPr>
        <p:spPr>
          <a:xfrm>
            <a:off x="5969000" y="1739900"/>
            <a:ext cx="5410200" cy="2827933"/>
          </a:xfrm>
          <a:prstGeom prst="roundRect">
            <a:avLst>
              <a:gd fmla="val 5389" name="adj"/>
            </a:avLst>
          </a:prstGeom>
          <a:solidFill>
            <a:srgbClr val="2F3237"/>
          </a:solidFill>
          <a:ln>
            <a:noFill/>
          </a:ln>
        </p:spPr>
        <p:txBody>
          <a:bodyPr anchorCtr="0" anchor="t" bIns="183950" lIns="234750" spcFirstLastPara="1" rIns="89200" wrap="square" tIns="209350">
            <a:noAutofit/>
          </a:bodyPr>
          <a:lstStyle/>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always_comb begin</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  valid = |req;</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  if      (req[3]) idx = 2'd3;</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  else if (req[2]) idx = 2'd2;</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  else if (req[1]) idx = 2'd1;</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  else              idx = 2'd0;</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end</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A9C4D6"/>
              </a:buClr>
              <a:buSzPts val="1400"/>
              <a:buFont typeface="Courier New"/>
              <a:buNone/>
            </a:pPr>
            <a:r>
              <a:rPr b="0" i="0" lang="en-US" sz="1400" u="none" cap="none" strike="noStrike">
                <a:solidFill>
                  <a:srgbClr val="A9C4D6"/>
                </a:solidFill>
                <a:latin typeface="Courier New"/>
                <a:ea typeface="Courier New"/>
                <a:cs typeface="Courier New"/>
                <a:sym typeface="Courier New"/>
              </a:rPr>
              <a:t>// if/else order = priority</a:t>
            </a:r>
            <a:endParaRPr b="0" i="0" sz="1400" u="none" cap="none" strike="noStrike">
              <a:solidFill>
                <a:schemeClr val="dk1"/>
              </a:solidFill>
              <a:latin typeface="Arial"/>
              <a:ea typeface="Arial"/>
              <a:cs typeface="Arial"/>
              <a:sym typeface="Arial"/>
            </a:endParaRPr>
          </a:p>
        </p:txBody>
      </p:sp>
      <p:sp>
        <p:nvSpPr>
          <p:cNvPr id="173" name="Google Shape;173;p13"/>
          <p:cNvSpPr/>
          <p:nvPr/>
        </p:nvSpPr>
        <p:spPr>
          <a:xfrm>
            <a:off x="10566400" y="6238280"/>
            <a:ext cx="812800" cy="23872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3C4043"/>
              </a:buClr>
              <a:buSzPts val="1200"/>
              <a:buFont typeface="Arial"/>
              <a:buNone/>
            </a:pPr>
            <a:r>
              <a:rPr b="0" i="0" lang="en-US" sz="1200" u="none" cap="none" strike="noStrike">
                <a:solidFill>
                  <a:srgbClr val="3C4043"/>
                </a:solidFill>
                <a:latin typeface="Arial"/>
                <a:ea typeface="Arial"/>
                <a:cs typeface="Arial"/>
                <a:sym typeface="Arial"/>
              </a:rPr>
              <a:t>10</a:t>
            </a:r>
            <a:endParaRPr b="0" i="0" sz="1200" u="none" cap="none" strike="noStrike">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DF0DC"/>
        </a:solidFill>
      </p:bgPr>
    </p:bg>
    <p:spTree>
      <p:nvGrpSpPr>
        <p:cNvPr id="178" name="Shape 178"/>
        <p:cNvGrpSpPr/>
        <p:nvPr/>
      </p:nvGrpSpPr>
      <p:grpSpPr>
        <a:xfrm>
          <a:off x="0" y="0"/>
          <a:ext cx="0" cy="0"/>
          <a:chOff x="0" y="0"/>
          <a:chExt cx="0" cy="0"/>
        </a:xfrm>
      </p:grpSpPr>
      <p:sp>
        <p:nvSpPr>
          <p:cNvPr id="179" name="Google Shape;179;p14"/>
          <p:cNvSpPr/>
          <p:nvPr/>
        </p:nvSpPr>
        <p:spPr>
          <a:xfrm>
            <a:off x="114300" y="114300"/>
            <a:ext cx="5886450" cy="381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C4043"/>
              </a:buClr>
              <a:buSzPts val="2000"/>
              <a:buFont typeface="Arial"/>
              <a:buNone/>
            </a:pPr>
            <a:r>
              <a:rPr b="0" i="0" lang="en-US" sz="2000" u="none" cap="none" strike="noStrike">
                <a:solidFill>
                  <a:srgbClr val="3C4043"/>
                </a:solidFill>
                <a:latin typeface="Arial"/>
                <a:ea typeface="Arial"/>
                <a:cs typeface="Arial"/>
                <a:sym typeface="Arial"/>
              </a:rPr>
              <a:t>Combinational Logic</a:t>
            </a:r>
            <a:endParaRPr b="0" i="0" sz="2000" u="none" cap="none" strike="noStrike">
              <a:solidFill>
                <a:schemeClr val="dk1"/>
              </a:solidFill>
              <a:latin typeface="Arial"/>
              <a:ea typeface="Arial"/>
              <a:cs typeface="Arial"/>
              <a:sym typeface="Arial"/>
            </a:endParaRPr>
          </a:p>
        </p:txBody>
      </p:sp>
      <p:sp>
        <p:nvSpPr>
          <p:cNvPr id="180" name="Google Shape;180;p14"/>
          <p:cNvSpPr txBox="1"/>
          <p:nvPr>
            <p:ph type="title"/>
          </p:nvPr>
        </p:nvSpPr>
        <p:spPr>
          <a:xfrm>
            <a:off x="736600" y="762000"/>
            <a:ext cx="10961878" cy="5842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3C4043"/>
              </a:buClr>
              <a:buSzPts val="4000"/>
              <a:buFont typeface="Arial"/>
              <a:buNone/>
            </a:pPr>
            <a:r>
              <a:rPr b="0" i="0" lang="en-US" sz="4000">
                <a:solidFill>
                  <a:srgbClr val="3C4043"/>
                </a:solidFill>
                <a:latin typeface="Arial"/>
                <a:ea typeface="Arial"/>
                <a:cs typeface="Arial"/>
                <a:sym typeface="Arial"/>
              </a:rPr>
              <a:t>ALUs (Arithmetic Logic Units)</a:t>
            </a:r>
            <a:endParaRPr sz="4000"/>
          </a:p>
        </p:txBody>
      </p:sp>
      <p:pic>
        <p:nvPicPr>
          <p:cNvPr descr="line" id="181" name="Google Shape;181;p14"/>
          <p:cNvPicPr preferRelativeResize="0"/>
          <p:nvPr/>
        </p:nvPicPr>
        <p:blipFill rotWithShape="1">
          <a:blip r:embed="rId3">
            <a:alphaModFix/>
          </a:blip>
          <a:srcRect b="0" l="0" r="0" t="0"/>
          <a:stretch/>
        </p:blipFill>
        <p:spPr>
          <a:xfrm>
            <a:off x="736600" y="1524000"/>
            <a:ext cx="10642600" cy="12700"/>
          </a:xfrm>
          <a:prstGeom prst="rect">
            <a:avLst/>
          </a:prstGeom>
          <a:noFill/>
          <a:ln>
            <a:noFill/>
          </a:ln>
        </p:spPr>
      </p:pic>
      <p:sp>
        <p:nvSpPr>
          <p:cNvPr id="182" name="Google Shape;182;p14"/>
          <p:cNvSpPr/>
          <p:nvPr/>
        </p:nvSpPr>
        <p:spPr>
          <a:xfrm>
            <a:off x="736600" y="1739900"/>
            <a:ext cx="4578350" cy="688314"/>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3C4043"/>
              </a:buClr>
              <a:buSzPts val="1800"/>
              <a:buFont typeface="Arial"/>
              <a:buNone/>
            </a:pPr>
            <a:r>
              <a:rPr b="0" i="0" lang="en-US" sz="1800" u="none" cap="none" strike="noStrike">
                <a:solidFill>
                  <a:srgbClr val="3C4043"/>
                </a:solidFill>
                <a:latin typeface="Arial"/>
                <a:ea typeface="Arial"/>
                <a:cs typeface="Arial"/>
                <a:sym typeface="Arial"/>
              </a:rPr>
              <a:t>The heart of a CPU, built from the blocks we just saw:</a:t>
            </a:r>
            <a:endParaRPr b="0" i="0" sz="1800" u="none" cap="none" strike="noStrike">
              <a:solidFill>
                <a:schemeClr val="dk1"/>
              </a:solidFill>
              <a:latin typeface="Arial"/>
              <a:ea typeface="Arial"/>
              <a:cs typeface="Arial"/>
              <a:sym typeface="Arial"/>
            </a:endParaRPr>
          </a:p>
        </p:txBody>
      </p:sp>
      <p:sp>
        <p:nvSpPr>
          <p:cNvPr id="183" name="Google Shape;183;p14"/>
          <p:cNvSpPr/>
          <p:nvPr/>
        </p:nvSpPr>
        <p:spPr>
          <a:xfrm>
            <a:off x="736600" y="2580618"/>
            <a:ext cx="4445000" cy="469900"/>
          </a:xfrm>
          <a:prstGeom prst="roundRect">
            <a:avLst>
              <a:gd fmla="val 18919" name="adj"/>
            </a:avLst>
          </a:prstGeom>
          <a:solidFill>
            <a:srgbClr val="FFF8F0"/>
          </a:solidFill>
          <a:ln>
            <a:noFill/>
          </a:ln>
        </p:spPr>
        <p:txBody>
          <a:bodyPr anchorCtr="0" anchor="t" bIns="50150" lIns="202550" spcFirstLastPara="1" rIns="30600" wrap="square" tIns="75550">
            <a:noAutofit/>
          </a:bodyPr>
          <a:lstStyle/>
          <a:p>
            <a:pPr indent="0" lvl="0" marL="0" marR="0" rtl="0" algn="l">
              <a:lnSpc>
                <a:spcPct val="140000"/>
              </a:lnSpc>
              <a:spcBef>
                <a:spcPts val="0"/>
              </a:spcBef>
              <a:spcAft>
                <a:spcPts val="0"/>
              </a:spcAft>
              <a:buClr>
                <a:srgbClr val="3C4043"/>
              </a:buClr>
              <a:buSzPts val="1500"/>
              <a:buFont typeface="Arial"/>
              <a:buNone/>
            </a:pPr>
            <a:r>
              <a:rPr b="1" i="0" lang="en-US" sz="1500" u="none" cap="none" strike="noStrike">
                <a:solidFill>
                  <a:srgbClr val="3C4043"/>
                </a:solidFill>
                <a:latin typeface="Arial"/>
                <a:ea typeface="Arial"/>
                <a:cs typeface="Arial"/>
                <a:sym typeface="Arial"/>
              </a:rPr>
              <a:t>Adders</a:t>
            </a:r>
            <a:r>
              <a:rPr b="0" i="0" lang="en-US" sz="1500" u="none" cap="none" strike="noStrike">
                <a:solidFill>
                  <a:srgbClr val="3C4043"/>
                </a:solidFill>
                <a:latin typeface="Arial"/>
                <a:ea typeface="Arial"/>
                <a:cs typeface="Arial"/>
                <a:sym typeface="Arial"/>
              </a:rPr>
              <a:t> for add and subtract</a:t>
            </a:r>
            <a:endParaRPr b="0" i="0" sz="1500" u="none" cap="none" strike="noStrike">
              <a:solidFill>
                <a:schemeClr val="dk1"/>
              </a:solidFill>
              <a:latin typeface="Arial"/>
              <a:ea typeface="Arial"/>
              <a:cs typeface="Arial"/>
              <a:sym typeface="Arial"/>
            </a:endParaRPr>
          </a:p>
        </p:txBody>
      </p:sp>
      <p:sp>
        <p:nvSpPr>
          <p:cNvPr id="184" name="Google Shape;184;p14"/>
          <p:cNvSpPr/>
          <p:nvPr/>
        </p:nvSpPr>
        <p:spPr>
          <a:xfrm>
            <a:off x="736600" y="2580618"/>
            <a:ext cx="4445000" cy="469900"/>
          </a:xfrm>
          <a:custGeom>
            <a:rect b="b" l="l" r="r" t="t"/>
            <a:pathLst>
              <a:path extrusionOk="0" h="469900" w="4445000">
                <a:moveTo>
                  <a:pt x="88900" y="469900"/>
                </a:moveTo>
                <a:lnTo>
                  <a:pt x="88900" y="469900"/>
                </a:lnTo>
                <a:cubicBezTo>
                  <a:pt x="39802" y="469900"/>
                  <a:pt x="0" y="430098"/>
                  <a:pt x="0" y="381000"/>
                </a:cubicBezTo>
                <a:lnTo>
                  <a:pt x="0" y="88900"/>
                </a:lnTo>
                <a:cubicBezTo>
                  <a:pt x="0" y="39802"/>
                  <a:pt x="39802" y="0"/>
                  <a:pt x="88900" y="0"/>
                </a:cubicBezTo>
                <a:lnTo>
                  <a:pt x="88900" y="0"/>
                </a:lnTo>
                <a:cubicBezTo>
                  <a:pt x="67858" y="0"/>
                  <a:pt x="50800" y="39802"/>
                  <a:pt x="50800" y="88900"/>
                </a:cubicBezTo>
                <a:lnTo>
                  <a:pt x="50800" y="381000"/>
                </a:lnTo>
                <a:cubicBezTo>
                  <a:pt x="50800" y="430098"/>
                  <a:pt x="67858" y="469900"/>
                  <a:pt x="88900" y="469900"/>
                </a:cubicBezTo>
                <a:close/>
              </a:path>
            </a:pathLst>
          </a:custGeom>
          <a:solidFill>
            <a:srgbClr val="1B6F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4"/>
          <p:cNvSpPr/>
          <p:nvPr/>
        </p:nvSpPr>
        <p:spPr>
          <a:xfrm>
            <a:off x="736600" y="3139418"/>
            <a:ext cx="4445000" cy="469900"/>
          </a:xfrm>
          <a:prstGeom prst="roundRect">
            <a:avLst>
              <a:gd fmla="val 18919" name="adj"/>
            </a:avLst>
          </a:prstGeom>
          <a:solidFill>
            <a:srgbClr val="FFF8F0"/>
          </a:solidFill>
          <a:ln>
            <a:noFill/>
          </a:ln>
        </p:spPr>
        <p:txBody>
          <a:bodyPr anchorCtr="0" anchor="t" bIns="50150" lIns="202550" spcFirstLastPara="1" rIns="30600" wrap="square" tIns="75550">
            <a:noAutofit/>
          </a:bodyPr>
          <a:lstStyle/>
          <a:p>
            <a:pPr indent="0" lvl="0" marL="0" marR="0" rtl="0" algn="l">
              <a:lnSpc>
                <a:spcPct val="140000"/>
              </a:lnSpc>
              <a:spcBef>
                <a:spcPts val="0"/>
              </a:spcBef>
              <a:spcAft>
                <a:spcPts val="0"/>
              </a:spcAft>
              <a:buClr>
                <a:srgbClr val="3C4043"/>
              </a:buClr>
              <a:buSzPts val="1500"/>
              <a:buFont typeface="Arial"/>
              <a:buNone/>
            </a:pPr>
            <a:r>
              <a:rPr b="1" i="0" lang="en-US" sz="1500" u="none" cap="none" strike="noStrike">
                <a:solidFill>
                  <a:srgbClr val="3C4043"/>
                </a:solidFill>
                <a:latin typeface="Arial"/>
                <a:ea typeface="Arial"/>
                <a:cs typeface="Arial"/>
                <a:sym typeface="Arial"/>
              </a:rPr>
              <a:t>Gates</a:t>
            </a:r>
            <a:r>
              <a:rPr b="0" i="0" lang="en-US" sz="1500" u="none" cap="none" strike="noStrike">
                <a:solidFill>
                  <a:srgbClr val="3C4043"/>
                </a:solidFill>
                <a:latin typeface="Arial"/>
                <a:ea typeface="Arial"/>
                <a:cs typeface="Arial"/>
                <a:sym typeface="Arial"/>
              </a:rPr>
              <a:t> for AND, OR, XOR</a:t>
            </a:r>
            <a:endParaRPr b="0" i="0" sz="1500" u="none" cap="none" strike="noStrike">
              <a:solidFill>
                <a:schemeClr val="dk1"/>
              </a:solidFill>
              <a:latin typeface="Arial"/>
              <a:ea typeface="Arial"/>
              <a:cs typeface="Arial"/>
              <a:sym typeface="Arial"/>
            </a:endParaRPr>
          </a:p>
        </p:txBody>
      </p:sp>
      <p:sp>
        <p:nvSpPr>
          <p:cNvPr id="186" name="Google Shape;186;p14"/>
          <p:cNvSpPr/>
          <p:nvPr/>
        </p:nvSpPr>
        <p:spPr>
          <a:xfrm>
            <a:off x="736600" y="3139418"/>
            <a:ext cx="4445000" cy="469900"/>
          </a:xfrm>
          <a:custGeom>
            <a:rect b="b" l="l" r="r" t="t"/>
            <a:pathLst>
              <a:path extrusionOk="0" h="469900" w="4445000">
                <a:moveTo>
                  <a:pt x="88900" y="469900"/>
                </a:moveTo>
                <a:lnTo>
                  <a:pt x="88900" y="469900"/>
                </a:lnTo>
                <a:cubicBezTo>
                  <a:pt x="39802" y="469900"/>
                  <a:pt x="0" y="430098"/>
                  <a:pt x="0" y="381000"/>
                </a:cubicBezTo>
                <a:lnTo>
                  <a:pt x="0" y="88900"/>
                </a:lnTo>
                <a:cubicBezTo>
                  <a:pt x="0" y="39802"/>
                  <a:pt x="39802" y="0"/>
                  <a:pt x="88900" y="0"/>
                </a:cubicBezTo>
                <a:lnTo>
                  <a:pt x="88900" y="0"/>
                </a:lnTo>
                <a:cubicBezTo>
                  <a:pt x="67858" y="0"/>
                  <a:pt x="50800" y="39802"/>
                  <a:pt x="50800" y="88900"/>
                </a:cubicBezTo>
                <a:lnTo>
                  <a:pt x="50800" y="381000"/>
                </a:lnTo>
                <a:cubicBezTo>
                  <a:pt x="50800" y="430098"/>
                  <a:pt x="67858" y="469900"/>
                  <a:pt x="88900" y="469900"/>
                </a:cubicBezTo>
                <a:close/>
              </a:path>
            </a:pathLst>
          </a:custGeom>
          <a:solidFill>
            <a:srgbClr val="1B6F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4"/>
          <p:cNvSpPr/>
          <p:nvPr/>
        </p:nvSpPr>
        <p:spPr>
          <a:xfrm>
            <a:off x="736600" y="3698218"/>
            <a:ext cx="4445000" cy="469900"/>
          </a:xfrm>
          <a:prstGeom prst="roundRect">
            <a:avLst>
              <a:gd fmla="val 18919" name="adj"/>
            </a:avLst>
          </a:prstGeom>
          <a:solidFill>
            <a:srgbClr val="FFF8F0"/>
          </a:solidFill>
          <a:ln>
            <a:noFill/>
          </a:ln>
        </p:spPr>
        <p:txBody>
          <a:bodyPr anchorCtr="0" anchor="t" bIns="50150" lIns="202550" spcFirstLastPara="1" rIns="30600" wrap="square" tIns="75550">
            <a:noAutofit/>
          </a:bodyPr>
          <a:lstStyle/>
          <a:p>
            <a:pPr indent="0" lvl="0" marL="0" marR="0" rtl="0" algn="l">
              <a:lnSpc>
                <a:spcPct val="140000"/>
              </a:lnSpc>
              <a:spcBef>
                <a:spcPts val="0"/>
              </a:spcBef>
              <a:spcAft>
                <a:spcPts val="0"/>
              </a:spcAft>
              <a:buClr>
                <a:srgbClr val="3C4043"/>
              </a:buClr>
              <a:buSzPts val="1500"/>
              <a:buFont typeface="Arial"/>
              <a:buNone/>
            </a:pPr>
            <a:r>
              <a:rPr b="1" i="0" lang="en-US" sz="1500" u="none" cap="none" strike="noStrike">
                <a:solidFill>
                  <a:srgbClr val="3C4043"/>
                </a:solidFill>
                <a:latin typeface="Arial"/>
                <a:ea typeface="Arial"/>
                <a:cs typeface="Arial"/>
                <a:sym typeface="Arial"/>
              </a:rPr>
              <a:t>Comparators</a:t>
            </a:r>
            <a:r>
              <a:rPr b="0" i="0" lang="en-US" sz="1500" u="none" cap="none" strike="noStrike">
                <a:solidFill>
                  <a:srgbClr val="3C4043"/>
                </a:solidFill>
                <a:latin typeface="Arial"/>
                <a:ea typeface="Arial"/>
                <a:cs typeface="Arial"/>
                <a:sym typeface="Arial"/>
              </a:rPr>
              <a:t> for less-than and zero</a:t>
            </a:r>
            <a:endParaRPr b="0" i="0" sz="1500" u="none" cap="none" strike="noStrike">
              <a:solidFill>
                <a:schemeClr val="dk1"/>
              </a:solidFill>
              <a:latin typeface="Arial"/>
              <a:ea typeface="Arial"/>
              <a:cs typeface="Arial"/>
              <a:sym typeface="Arial"/>
            </a:endParaRPr>
          </a:p>
        </p:txBody>
      </p:sp>
      <p:sp>
        <p:nvSpPr>
          <p:cNvPr id="188" name="Google Shape;188;p14"/>
          <p:cNvSpPr/>
          <p:nvPr/>
        </p:nvSpPr>
        <p:spPr>
          <a:xfrm>
            <a:off x="736600" y="3698218"/>
            <a:ext cx="4445000" cy="469900"/>
          </a:xfrm>
          <a:custGeom>
            <a:rect b="b" l="l" r="r" t="t"/>
            <a:pathLst>
              <a:path extrusionOk="0" h="469900" w="4445000">
                <a:moveTo>
                  <a:pt x="88900" y="469900"/>
                </a:moveTo>
                <a:lnTo>
                  <a:pt x="88900" y="469900"/>
                </a:lnTo>
                <a:cubicBezTo>
                  <a:pt x="39802" y="469900"/>
                  <a:pt x="0" y="430098"/>
                  <a:pt x="0" y="381000"/>
                </a:cubicBezTo>
                <a:lnTo>
                  <a:pt x="0" y="88900"/>
                </a:lnTo>
                <a:cubicBezTo>
                  <a:pt x="0" y="39802"/>
                  <a:pt x="39802" y="0"/>
                  <a:pt x="88900" y="0"/>
                </a:cubicBezTo>
                <a:lnTo>
                  <a:pt x="88900" y="0"/>
                </a:lnTo>
                <a:cubicBezTo>
                  <a:pt x="67858" y="0"/>
                  <a:pt x="50800" y="39802"/>
                  <a:pt x="50800" y="88900"/>
                </a:cubicBezTo>
                <a:lnTo>
                  <a:pt x="50800" y="381000"/>
                </a:lnTo>
                <a:cubicBezTo>
                  <a:pt x="50800" y="430098"/>
                  <a:pt x="67858" y="469900"/>
                  <a:pt x="88900" y="469900"/>
                </a:cubicBezTo>
                <a:close/>
              </a:path>
            </a:pathLst>
          </a:custGeom>
          <a:solidFill>
            <a:srgbClr val="1B6F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4"/>
          <p:cNvSpPr/>
          <p:nvPr/>
        </p:nvSpPr>
        <p:spPr>
          <a:xfrm>
            <a:off x="736600" y="4257018"/>
            <a:ext cx="4445000" cy="469900"/>
          </a:xfrm>
          <a:prstGeom prst="roundRect">
            <a:avLst>
              <a:gd fmla="val 18919" name="adj"/>
            </a:avLst>
          </a:prstGeom>
          <a:solidFill>
            <a:srgbClr val="FFF8F0"/>
          </a:solidFill>
          <a:ln>
            <a:noFill/>
          </a:ln>
        </p:spPr>
        <p:txBody>
          <a:bodyPr anchorCtr="0" anchor="t" bIns="50150" lIns="202550" spcFirstLastPara="1" rIns="30600" wrap="square" tIns="75550">
            <a:noAutofit/>
          </a:bodyPr>
          <a:lstStyle/>
          <a:p>
            <a:pPr indent="0" lvl="0" marL="0" marR="0" rtl="0" algn="l">
              <a:lnSpc>
                <a:spcPct val="140000"/>
              </a:lnSpc>
              <a:spcBef>
                <a:spcPts val="0"/>
              </a:spcBef>
              <a:spcAft>
                <a:spcPts val="0"/>
              </a:spcAft>
              <a:buClr>
                <a:srgbClr val="3C4043"/>
              </a:buClr>
              <a:buSzPts val="1500"/>
              <a:buFont typeface="Arial"/>
              <a:buNone/>
            </a:pPr>
            <a:r>
              <a:rPr b="1" i="0" lang="en-US" sz="1500" u="none" cap="none" strike="noStrike">
                <a:solidFill>
                  <a:srgbClr val="3C4043"/>
                </a:solidFill>
                <a:latin typeface="Arial"/>
                <a:ea typeface="Arial"/>
                <a:cs typeface="Arial"/>
                <a:sym typeface="Arial"/>
              </a:rPr>
              <a:t>A mux</a:t>
            </a:r>
            <a:r>
              <a:rPr b="0" i="0" lang="en-US" sz="1500" u="none" cap="none" strike="noStrike">
                <a:solidFill>
                  <a:srgbClr val="3C4043"/>
                </a:solidFill>
                <a:latin typeface="Arial"/>
                <a:ea typeface="Arial"/>
                <a:cs typeface="Arial"/>
                <a:sym typeface="Arial"/>
              </a:rPr>
              <a:t> driven by the opcode</a:t>
            </a:r>
            <a:endParaRPr b="0" i="0" sz="1500" u="none" cap="none" strike="noStrike">
              <a:solidFill>
                <a:schemeClr val="dk1"/>
              </a:solidFill>
              <a:latin typeface="Arial"/>
              <a:ea typeface="Arial"/>
              <a:cs typeface="Arial"/>
              <a:sym typeface="Arial"/>
            </a:endParaRPr>
          </a:p>
        </p:txBody>
      </p:sp>
      <p:sp>
        <p:nvSpPr>
          <p:cNvPr id="190" name="Google Shape;190;p14"/>
          <p:cNvSpPr/>
          <p:nvPr/>
        </p:nvSpPr>
        <p:spPr>
          <a:xfrm>
            <a:off x="736600" y="4257018"/>
            <a:ext cx="4445000" cy="469900"/>
          </a:xfrm>
          <a:custGeom>
            <a:rect b="b" l="l" r="r" t="t"/>
            <a:pathLst>
              <a:path extrusionOk="0" h="469900" w="4445000">
                <a:moveTo>
                  <a:pt x="88900" y="469900"/>
                </a:moveTo>
                <a:lnTo>
                  <a:pt x="88900" y="469900"/>
                </a:lnTo>
                <a:cubicBezTo>
                  <a:pt x="39802" y="469900"/>
                  <a:pt x="0" y="430098"/>
                  <a:pt x="0" y="381000"/>
                </a:cubicBezTo>
                <a:lnTo>
                  <a:pt x="0" y="88900"/>
                </a:lnTo>
                <a:cubicBezTo>
                  <a:pt x="0" y="39802"/>
                  <a:pt x="39802" y="0"/>
                  <a:pt x="88900" y="0"/>
                </a:cubicBezTo>
                <a:lnTo>
                  <a:pt x="88900" y="0"/>
                </a:lnTo>
                <a:cubicBezTo>
                  <a:pt x="67858" y="0"/>
                  <a:pt x="50800" y="39802"/>
                  <a:pt x="50800" y="88900"/>
                </a:cubicBezTo>
                <a:lnTo>
                  <a:pt x="50800" y="381000"/>
                </a:lnTo>
                <a:cubicBezTo>
                  <a:pt x="50800" y="430098"/>
                  <a:pt x="67858" y="469900"/>
                  <a:pt x="88900" y="469900"/>
                </a:cubicBezTo>
                <a:close/>
              </a:path>
            </a:pathLst>
          </a:custGeom>
          <a:solidFill>
            <a:srgbClr val="1B6F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4"/>
          <p:cNvSpPr/>
          <p:nvPr/>
        </p:nvSpPr>
        <p:spPr>
          <a:xfrm>
            <a:off x="5588000" y="1739900"/>
            <a:ext cx="5791200" cy="3378200"/>
          </a:xfrm>
          <a:prstGeom prst="roundRect">
            <a:avLst>
              <a:gd fmla="val 4511" name="adj"/>
            </a:avLst>
          </a:prstGeom>
          <a:solidFill>
            <a:srgbClr val="2F3237"/>
          </a:solidFill>
          <a:ln>
            <a:noFill/>
          </a:ln>
        </p:spPr>
        <p:txBody>
          <a:bodyPr anchorCtr="0" anchor="t" bIns="158550" lIns="234750" spcFirstLastPara="1" rIns="77775" wrap="square" tIns="183950">
            <a:noAutofit/>
          </a:bodyPr>
          <a:lstStyle/>
          <a:p>
            <a:pPr indent="0" lvl="0" marL="0" marR="0" rtl="0" algn="l">
              <a:lnSpc>
                <a:spcPct val="142000"/>
              </a:lnSpc>
              <a:spcBef>
                <a:spcPts val="0"/>
              </a:spcBef>
              <a:spcAft>
                <a:spcPts val="0"/>
              </a:spcAft>
              <a:buClr>
                <a:srgbClr val="F5E9D6"/>
              </a:buClr>
              <a:buSzPts val="1350"/>
              <a:buFont typeface="Courier New"/>
              <a:buNone/>
            </a:pPr>
            <a:r>
              <a:rPr b="0" i="0" lang="en-US" sz="1350" u="none" cap="none" strike="noStrike">
                <a:solidFill>
                  <a:srgbClr val="F5E9D6"/>
                </a:solidFill>
                <a:latin typeface="Courier New"/>
                <a:ea typeface="Courier New"/>
                <a:cs typeface="Courier New"/>
                <a:sym typeface="Courier New"/>
              </a:rPr>
              <a:t>always_comb begin</a:t>
            </a:r>
            <a:endParaRPr b="0" i="0" sz="1350" u="none" cap="none" strike="noStrike">
              <a:solidFill>
                <a:schemeClr val="dk1"/>
              </a:solidFill>
              <a:latin typeface="Arial"/>
              <a:ea typeface="Arial"/>
              <a:cs typeface="Arial"/>
              <a:sym typeface="Arial"/>
            </a:endParaRPr>
          </a:p>
          <a:p>
            <a:pPr indent="0" lvl="0" marL="0" marR="0" rtl="0" algn="l">
              <a:lnSpc>
                <a:spcPct val="142000"/>
              </a:lnSpc>
              <a:spcBef>
                <a:spcPts val="0"/>
              </a:spcBef>
              <a:spcAft>
                <a:spcPts val="0"/>
              </a:spcAft>
              <a:buClr>
                <a:srgbClr val="F5E9D6"/>
              </a:buClr>
              <a:buSzPts val="1350"/>
              <a:buFont typeface="Courier New"/>
              <a:buNone/>
            </a:pPr>
            <a:r>
              <a:rPr b="0" i="0" lang="en-US" sz="1350" u="none" cap="none" strike="noStrike">
                <a:solidFill>
                  <a:srgbClr val="F5E9D6"/>
                </a:solidFill>
                <a:latin typeface="Courier New"/>
                <a:ea typeface="Courier New"/>
                <a:cs typeface="Courier New"/>
                <a:sym typeface="Courier New"/>
              </a:rPr>
              <a:t>  case (op)</a:t>
            </a:r>
            <a:endParaRPr b="0" i="0" sz="1350" u="none" cap="none" strike="noStrike">
              <a:solidFill>
                <a:schemeClr val="dk1"/>
              </a:solidFill>
              <a:latin typeface="Arial"/>
              <a:ea typeface="Arial"/>
              <a:cs typeface="Arial"/>
              <a:sym typeface="Arial"/>
            </a:endParaRPr>
          </a:p>
          <a:p>
            <a:pPr indent="0" lvl="0" marL="0" marR="0" rtl="0" algn="l">
              <a:lnSpc>
                <a:spcPct val="142000"/>
              </a:lnSpc>
              <a:spcBef>
                <a:spcPts val="0"/>
              </a:spcBef>
              <a:spcAft>
                <a:spcPts val="0"/>
              </a:spcAft>
              <a:buClr>
                <a:srgbClr val="F5E9D6"/>
              </a:buClr>
              <a:buSzPts val="1350"/>
              <a:buFont typeface="Courier New"/>
              <a:buNone/>
            </a:pPr>
            <a:r>
              <a:rPr b="0" i="0" lang="en-US" sz="1350" u="none" cap="none" strike="noStrike">
                <a:solidFill>
                  <a:srgbClr val="F5E9D6"/>
                </a:solidFill>
                <a:latin typeface="Courier New"/>
                <a:ea typeface="Courier New"/>
                <a:cs typeface="Courier New"/>
                <a:sym typeface="Courier New"/>
              </a:rPr>
              <a:t>    3'b000: result = a + b;</a:t>
            </a:r>
            <a:endParaRPr b="0" i="0" sz="1350" u="none" cap="none" strike="noStrike">
              <a:solidFill>
                <a:schemeClr val="dk1"/>
              </a:solidFill>
              <a:latin typeface="Arial"/>
              <a:ea typeface="Arial"/>
              <a:cs typeface="Arial"/>
              <a:sym typeface="Arial"/>
            </a:endParaRPr>
          </a:p>
          <a:p>
            <a:pPr indent="0" lvl="0" marL="0" marR="0" rtl="0" algn="l">
              <a:lnSpc>
                <a:spcPct val="142000"/>
              </a:lnSpc>
              <a:spcBef>
                <a:spcPts val="0"/>
              </a:spcBef>
              <a:spcAft>
                <a:spcPts val="0"/>
              </a:spcAft>
              <a:buClr>
                <a:srgbClr val="F5E9D6"/>
              </a:buClr>
              <a:buSzPts val="1350"/>
              <a:buFont typeface="Courier New"/>
              <a:buNone/>
            </a:pPr>
            <a:r>
              <a:rPr b="0" i="0" lang="en-US" sz="1350" u="none" cap="none" strike="noStrike">
                <a:solidFill>
                  <a:srgbClr val="F5E9D6"/>
                </a:solidFill>
                <a:latin typeface="Courier New"/>
                <a:ea typeface="Courier New"/>
                <a:cs typeface="Courier New"/>
                <a:sym typeface="Courier New"/>
              </a:rPr>
              <a:t>    3'b001: result = a - b;</a:t>
            </a:r>
            <a:endParaRPr b="0" i="0" sz="1350" u="none" cap="none" strike="noStrike">
              <a:solidFill>
                <a:schemeClr val="dk1"/>
              </a:solidFill>
              <a:latin typeface="Arial"/>
              <a:ea typeface="Arial"/>
              <a:cs typeface="Arial"/>
              <a:sym typeface="Arial"/>
            </a:endParaRPr>
          </a:p>
          <a:p>
            <a:pPr indent="0" lvl="0" marL="0" marR="0" rtl="0" algn="l">
              <a:lnSpc>
                <a:spcPct val="142000"/>
              </a:lnSpc>
              <a:spcBef>
                <a:spcPts val="0"/>
              </a:spcBef>
              <a:spcAft>
                <a:spcPts val="0"/>
              </a:spcAft>
              <a:buClr>
                <a:srgbClr val="F5E9D6"/>
              </a:buClr>
              <a:buSzPts val="1350"/>
              <a:buFont typeface="Courier New"/>
              <a:buNone/>
            </a:pPr>
            <a:r>
              <a:rPr b="0" i="0" lang="en-US" sz="1350" u="none" cap="none" strike="noStrike">
                <a:solidFill>
                  <a:srgbClr val="F5E9D6"/>
                </a:solidFill>
                <a:latin typeface="Courier New"/>
                <a:ea typeface="Courier New"/>
                <a:cs typeface="Courier New"/>
                <a:sym typeface="Courier New"/>
              </a:rPr>
              <a:t>    3'b010: result = a &amp; b;</a:t>
            </a:r>
            <a:endParaRPr b="0" i="0" sz="1350" u="none" cap="none" strike="noStrike">
              <a:solidFill>
                <a:schemeClr val="dk1"/>
              </a:solidFill>
              <a:latin typeface="Arial"/>
              <a:ea typeface="Arial"/>
              <a:cs typeface="Arial"/>
              <a:sym typeface="Arial"/>
            </a:endParaRPr>
          </a:p>
          <a:p>
            <a:pPr indent="0" lvl="0" marL="0" marR="0" rtl="0" algn="l">
              <a:lnSpc>
                <a:spcPct val="142000"/>
              </a:lnSpc>
              <a:spcBef>
                <a:spcPts val="0"/>
              </a:spcBef>
              <a:spcAft>
                <a:spcPts val="0"/>
              </a:spcAft>
              <a:buClr>
                <a:srgbClr val="F5E9D6"/>
              </a:buClr>
              <a:buSzPts val="1350"/>
              <a:buFont typeface="Courier New"/>
              <a:buNone/>
            </a:pPr>
            <a:r>
              <a:rPr b="0" i="0" lang="en-US" sz="1350" u="none" cap="none" strike="noStrike">
                <a:solidFill>
                  <a:srgbClr val="F5E9D6"/>
                </a:solidFill>
                <a:latin typeface="Courier New"/>
                <a:ea typeface="Courier New"/>
                <a:cs typeface="Courier New"/>
                <a:sym typeface="Courier New"/>
              </a:rPr>
              <a:t>    3'b011: result = a | b;</a:t>
            </a:r>
            <a:endParaRPr b="0" i="0" sz="1350" u="none" cap="none" strike="noStrike">
              <a:solidFill>
                <a:schemeClr val="dk1"/>
              </a:solidFill>
              <a:latin typeface="Arial"/>
              <a:ea typeface="Arial"/>
              <a:cs typeface="Arial"/>
              <a:sym typeface="Arial"/>
            </a:endParaRPr>
          </a:p>
          <a:p>
            <a:pPr indent="0" lvl="0" marL="0" marR="0" rtl="0" algn="l">
              <a:lnSpc>
                <a:spcPct val="142000"/>
              </a:lnSpc>
              <a:spcBef>
                <a:spcPts val="0"/>
              </a:spcBef>
              <a:spcAft>
                <a:spcPts val="0"/>
              </a:spcAft>
              <a:buClr>
                <a:srgbClr val="F5E9D6"/>
              </a:buClr>
              <a:buSzPts val="1350"/>
              <a:buFont typeface="Courier New"/>
              <a:buNone/>
            </a:pPr>
            <a:r>
              <a:rPr b="0" i="0" lang="en-US" sz="1350" u="none" cap="none" strike="noStrike">
                <a:solidFill>
                  <a:srgbClr val="F5E9D6"/>
                </a:solidFill>
                <a:latin typeface="Courier New"/>
                <a:ea typeface="Courier New"/>
                <a:cs typeface="Courier New"/>
                <a:sym typeface="Courier New"/>
              </a:rPr>
              <a:t>    3'b100: result = a ^ b;</a:t>
            </a:r>
            <a:endParaRPr b="0" i="0" sz="1350" u="none" cap="none" strike="noStrike">
              <a:solidFill>
                <a:schemeClr val="dk1"/>
              </a:solidFill>
              <a:latin typeface="Arial"/>
              <a:ea typeface="Arial"/>
              <a:cs typeface="Arial"/>
              <a:sym typeface="Arial"/>
            </a:endParaRPr>
          </a:p>
          <a:p>
            <a:pPr indent="0" lvl="0" marL="0" marR="0" rtl="0" algn="l">
              <a:lnSpc>
                <a:spcPct val="142000"/>
              </a:lnSpc>
              <a:spcBef>
                <a:spcPts val="0"/>
              </a:spcBef>
              <a:spcAft>
                <a:spcPts val="0"/>
              </a:spcAft>
              <a:buClr>
                <a:srgbClr val="F5E9D6"/>
              </a:buClr>
              <a:buSzPts val="1350"/>
              <a:buFont typeface="Courier New"/>
              <a:buNone/>
            </a:pPr>
            <a:r>
              <a:rPr b="0" i="0" lang="en-US" sz="1350" u="none" cap="none" strike="noStrike">
                <a:solidFill>
                  <a:srgbClr val="F5E9D6"/>
                </a:solidFill>
                <a:latin typeface="Courier New"/>
                <a:ea typeface="Courier New"/>
                <a:cs typeface="Courier New"/>
                <a:sym typeface="Courier New"/>
              </a:rPr>
              <a:t>    3'b101: result = (a &lt; b);</a:t>
            </a:r>
            <a:endParaRPr b="0" i="0" sz="1350" u="none" cap="none" strike="noStrike">
              <a:solidFill>
                <a:schemeClr val="dk1"/>
              </a:solidFill>
              <a:latin typeface="Arial"/>
              <a:ea typeface="Arial"/>
              <a:cs typeface="Arial"/>
              <a:sym typeface="Arial"/>
            </a:endParaRPr>
          </a:p>
          <a:p>
            <a:pPr indent="0" lvl="0" marL="0" marR="0" rtl="0" algn="l">
              <a:lnSpc>
                <a:spcPct val="142000"/>
              </a:lnSpc>
              <a:spcBef>
                <a:spcPts val="0"/>
              </a:spcBef>
              <a:spcAft>
                <a:spcPts val="0"/>
              </a:spcAft>
              <a:buClr>
                <a:srgbClr val="F5E9D6"/>
              </a:buClr>
              <a:buSzPts val="1350"/>
              <a:buFont typeface="Courier New"/>
              <a:buNone/>
            </a:pPr>
            <a:r>
              <a:rPr b="0" i="0" lang="en-US" sz="1350" u="none" cap="none" strike="noStrike">
                <a:solidFill>
                  <a:srgbClr val="F5E9D6"/>
                </a:solidFill>
                <a:latin typeface="Courier New"/>
                <a:ea typeface="Courier New"/>
                <a:cs typeface="Courier New"/>
                <a:sym typeface="Courier New"/>
              </a:rPr>
              <a:t>    default: result = 0;</a:t>
            </a:r>
            <a:endParaRPr b="0" i="0" sz="1350" u="none" cap="none" strike="noStrike">
              <a:solidFill>
                <a:schemeClr val="dk1"/>
              </a:solidFill>
              <a:latin typeface="Arial"/>
              <a:ea typeface="Arial"/>
              <a:cs typeface="Arial"/>
              <a:sym typeface="Arial"/>
            </a:endParaRPr>
          </a:p>
          <a:p>
            <a:pPr indent="0" lvl="0" marL="0" marR="0" rtl="0" algn="l">
              <a:lnSpc>
                <a:spcPct val="142000"/>
              </a:lnSpc>
              <a:spcBef>
                <a:spcPts val="0"/>
              </a:spcBef>
              <a:spcAft>
                <a:spcPts val="0"/>
              </a:spcAft>
              <a:buClr>
                <a:srgbClr val="F5E9D6"/>
              </a:buClr>
              <a:buSzPts val="1350"/>
              <a:buFont typeface="Courier New"/>
              <a:buNone/>
            </a:pPr>
            <a:r>
              <a:rPr b="0" i="0" lang="en-US" sz="1350" u="none" cap="none" strike="noStrike">
                <a:solidFill>
                  <a:srgbClr val="F5E9D6"/>
                </a:solidFill>
                <a:latin typeface="Courier New"/>
                <a:ea typeface="Courier New"/>
                <a:cs typeface="Courier New"/>
                <a:sym typeface="Courier New"/>
              </a:rPr>
              <a:t>  endcase</a:t>
            </a:r>
            <a:endParaRPr b="0" i="0" sz="1350" u="none" cap="none" strike="noStrike">
              <a:solidFill>
                <a:schemeClr val="dk1"/>
              </a:solidFill>
              <a:latin typeface="Arial"/>
              <a:ea typeface="Arial"/>
              <a:cs typeface="Arial"/>
              <a:sym typeface="Arial"/>
            </a:endParaRPr>
          </a:p>
          <a:p>
            <a:pPr indent="0" lvl="0" marL="0" marR="0" rtl="0" algn="l">
              <a:lnSpc>
                <a:spcPct val="142000"/>
              </a:lnSpc>
              <a:spcBef>
                <a:spcPts val="0"/>
              </a:spcBef>
              <a:spcAft>
                <a:spcPts val="0"/>
              </a:spcAft>
              <a:buClr>
                <a:srgbClr val="F5E9D6"/>
              </a:buClr>
              <a:buSzPts val="1350"/>
              <a:buFont typeface="Courier New"/>
              <a:buNone/>
            </a:pPr>
            <a:r>
              <a:rPr b="0" i="0" lang="en-US" sz="1350" u="none" cap="none" strike="noStrike">
                <a:solidFill>
                  <a:srgbClr val="F5E9D6"/>
                </a:solidFill>
                <a:latin typeface="Courier New"/>
                <a:ea typeface="Courier New"/>
                <a:cs typeface="Courier New"/>
                <a:sym typeface="Courier New"/>
              </a:rPr>
              <a:t>  zero = (result == 0);</a:t>
            </a:r>
            <a:endParaRPr b="0" i="0" sz="1350" u="none" cap="none" strike="noStrike">
              <a:solidFill>
                <a:schemeClr val="dk1"/>
              </a:solidFill>
              <a:latin typeface="Arial"/>
              <a:ea typeface="Arial"/>
              <a:cs typeface="Arial"/>
              <a:sym typeface="Arial"/>
            </a:endParaRPr>
          </a:p>
          <a:p>
            <a:pPr indent="0" lvl="0" marL="0" marR="0" rtl="0" algn="l">
              <a:lnSpc>
                <a:spcPct val="142000"/>
              </a:lnSpc>
              <a:spcBef>
                <a:spcPts val="0"/>
              </a:spcBef>
              <a:spcAft>
                <a:spcPts val="0"/>
              </a:spcAft>
              <a:buClr>
                <a:srgbClr val="F5E9D6"/>
              </a:buClr>
              <a:buSzPts val="1350"/>
              <a:buFont typeface="Courier New"/>
              <a:buNone/>
            </a:pPr>
            <a:r>
              <a:rPr b="0" i="0" lang="en-US" sz="1350" u="none" cap="none" strike="noStrike">
                <a:solidFill>
                  <a:srgbClr val="F5E9D6"/>
                </a:solidFill>
                <a:latin typeface="Courier New"/>
                <a:ea typeface="Courier New"/>
                <a:cs typeface="Courier New"/>
                <a:sym typeface="Courier New"/>
              </a:rPr>
              <a:t>end</a:t>
            </a:r>
            <a:endParaRPr b="0" i="0" sz="1350" u="none" cap="none" strike="noStrike">
              <a:solidFill>
                <a:schemeClr val="dk1"/>
              </a:solidFill>
              <a:latin typeface="Arial"/>
              <a:ea typeface="Arial"/>
              <a:cs typeface="Arial"/>
              <a:sym typeface="Arial"/>
            </a:endParaRPr>
          </a:p>
        </p:txBody>
      </p:sp>
      <p:sp>
        <p:nvSpPr>
          <p:cNvPr id="192" name="Google Shape;192;p14"/>
          <p:cNvSpPr/>
          <p:nvPr/>
        </p:nvSpPr>
        <p:spPr>
          <a:xfrm>
            <a:off x="10566400" y="6238280"/>
            <a:ext cx="812800" cy="23872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3C4043"/>
              </a:buClr>
              <a:buSzPts val="1200"/>
              <a:buFont typeface="Arial"/>
              <a:buNone/>
            </a:pPr>
            <a:r>
              <a:rPr b="0" i="0" lang="en-US" sz="1200" u="none" cap="none" strike="noStrike">
                <a:solidFill>
                  <a:srgbClr val="3C4043"/>
                </a:solidFill>
                <a:latin typeface="Arial"/>
                <a:ea typeface="Arial"/>
                <a:cs typeface="Arial"/>
                <a:sym typeface="Arial"/>
              </a:rPr>
              <a:t>11</a:t>
            </a:r>
            <a:endParaRPr b="0" i="0" sz="1200" u="none" cap="none" strike="noStrike">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0DC"/>
        </a:solidFill>
      </p:bgPr>
    </p:bg>
    <p:spTree>
      <p:nvGrpSpPr>
        <p:cNvPr id="197" name="Shape 197"/>
        <p:cNvGrpSpPr/>
        <p:nvPr/>
      </p:nvGrpSpPr>
      <p:grpSpPr>
        <a:xfrm>
          <a:off x="0" y="0"/>
          <a:ext cx="0" cy="0"/>
          <a:chOff x="0" y="0"/>
          <a:chExt cx="0" cy="0"/>
        </a:xfrm>
      </p:grpSpPr>
      <p:sp>
        <p:nvSpPr>
          <p:cNvPr id="198" name="Google Shape;198;p15"/>
          <p:cNvSpPr/>
          <p:nvPr/>
        </p:nvSpPr>
        <p:spPr>
          <a:xfrm>
            <a:off x="114300" y="114300"/>
            <a:ext cx="5886450" cy="381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C4043"/>
              </a:buClr>
              <a:buSzPts val="2000"/>
              <a:buFont typeface="Arial"/>
              <a:buNone/>
            </a:pPr>
            <a:r>
              <a:rPr b="0" i="0" lang="en-US" sz="2000" u="none" cap="none" strike="noStrike">
                <a:solidFill>
                  <a:srgbClr val="3C4043"/>
                </a:solidFill>
                <a:latin typeface="Arial"/>
                <a:ea typeface="Arial"/>
                <a:cs typeface="Arial"/>
                <a:sym typeface="Arial"/>
              </a:rPr>
              <a:t>Combinational Logic</a:t>
            </a:r>
            <a:endParaRPr b="0" i="0" sz="2000" u="none" cap="none" strike="noStrike">
              <a:solidFill>
                <a:schemeClr val="dk1"/>
              </a:solidFill>
              <a:latin typeface="Arial"/>
              <a:ea typeface="Arial"/>
              <a:cs typeface="Arial"/>
              <a:sym typeface="Arial"/>
            </a:endParaRPr>
          </a:p>
        </p:txBody>
      </p:sp>
      <p:sp>
        <p:nvSpPr>
          <p:cNvPr id="199" name="Google Shape;199;p15"/>
          <p:cNvSpPr txBox="1"/>
          <p:nvPr>
            <p:ph type="title"/>
          </p:nvPr>
        </p:nvSpPr>
        <p:spPr>
          <a:xfrm>
            <a:off x="736600" y="762000"/>
            <a:ext cx="10961878" cy="5842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3C4043"/>
              </a:buClr>
              <a:buSzPts val="4000"/>
              <a:buFont typeface="Arial"/>
              <a:buNone/>
            </a:pPr>
            <a:r>
              <a:rPr b="0" i="0" lang="en-US" sz="4000">
                <a:solidFill>
                  <a:srgbClr val="3C4043"/>
                </a:solidFill>
                <a:latin typeface="Arial"/>
                <a:ea typeface="Arial"/>
                <a:cs typeface="Arial"/>
                <a:sym typeface="Arial"/>
              </a:rPr>
              <a:t>Combinational Feedback Problems</a:t>
            </a:r>
            <a:endParaRPr sz="4000"/>
          </a:p>
        </p:txBody>
      </p:sp>
      <p:pic>
        <p:nvPicPr>
          <p:cNvPr descr="line" id="200" name="Google Shape;200;p15"/>
          <p:cNvPicPr preferRelativeResize="0"/>
          <p:nvPr/>
        </p:nvPicPr>
        <p:blipFill rotWithShape="1">
          <a:blip r:embed="rId3">
            <a:alphaModFix/>
          </a:blip>
          <a:srcRect b="0" l="0" r="0" t="0"/>
          <a:stretch/>
        </p:blipFill>
        <p:spPr>
          <a:xfrm>
            <a:off x="736600" y="1524000"/>
            <a:ext cx="10642600" cy="12700"/>
          </a:xfrm>
          <a:prstGeom prst="rect">
            <a:avLst/>
          </a:prstGeom>
          <a:noFill/>
          <a:ln>
            <a:noFill/>
          </a:ln>
        </p:spPr>
      </p:pic>
      <p:sp>
        <p:nvSpPr>
          <p:cNvPr id="201" name="Google Shape;201;p15"/>
          <p:cNvSpPr/>
          <p:nvPr/>
        </p:nvSpPr>
        <p:spPr>
          <a:xfrm>
            <a:off x="736600" y="1739900"/>
            <a:ext cx="4970780" cy="688314"/>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3C4043"/>
              </a:buClr>
              <a:buSzPts val="1800"/>
              <a:buFont typeface="Arial"/>
              <a:buNone/>
            </a:pPr>
            <a:r>
              <a:rPr b="0" i="0" lang="en-US" sz="1800" u="none" cap="none" strike="noStrike">
                <a:solidFill>
                  <a:srgbClr val="3C4043"/>
                </a:solidFill>
                <a:latin typeface="Arial"/>
                <a:ea typeface="Arial"/>
                <a:cs typeface="Arial"/>
                <a:sym typeface="Arial"/>
              </a:rPr>
              <a:t>A </a:t>
            </a:r>
            <a:r>
              <a:rPr b="1" i="0" lang="en-US" sz="1800" u="none" cap="none" strike="noStrike">
                <a:solidFill>
                  <a:srgbClr val="3C4043"/>
                </a:solidFill>
                <a:latin typeface="Arial"/>
                <a:ea typeface="Arial"/>
                <a:cs typeface="Arial"/>
                <a:sym typeface="Arial"/>
              </a:rPr>
              <a:t>combinational loop</a:t>
            </a:r>
            <a:r>
              <a:rPr b="0" i="0" lang="en-US" sz="1800" u="none" cap="none" strike="noStrike">
                <a:solidFill>
                  <a:srgbClr val="3C4043"/>
                </a:solidFill>
                <a:latin typeface="Arial"/>
                <a:ea typeface="Arial"/>
                <a:cs typeface="Arial"/>
                <a:sym typeface="Arial"/>
              </a:rPr>
              <a:t>: an output feeds back into its own input with no flip-flop in between.</a:t>
            </a:r>
            <a:endParaRPr b="0" i="0" sz="1800" u="none" cap="none" strike="noStrike">
              <a:solidFill>
                <a:schemeClr val="dk1"/>
              </a:solidFill>
              <a:latin typeface="Arial"/>
              <a:ea typeface="Arial"/>
              <a:cs typeface="Arial"/>
              <a:sym typeface="Arial"/>
            </a:endParaRPr>
          </a:p>
        </p:txBody>
      </p:sp>
      <p:sp>
        <p:nvSpPr>
          <p:cNvPr id="202" name="Google Shape;202;p15"/>
          <p:cNvSpPr/>
          <p:nvPr/>
        </p:nvSpPr>
        <p:spPr>
          <a:xfrm>
            <a:off x="813308" y="2580618"/>
            <a:ext cx="4886452" cy="939800"/>
          </a:xfrm>
          <a:prstGeom prst="rect">
            <a:avLst/>
          </a:prstGeom>
          <a:noFill/>
          <a:ln>
            <a:noFill/>
          </a:ln>
        </p:spPr>
        <p:txBody>
          <a:bodyPr anchorCtr="0" anchor="t" bIns="0" lIns="0" spcFirstLastPara="1" rIns="0" wrap="square" tIns="0">
            <a:noAutofit/>
          </a:bodyPr>
          <a:lstStyle/>
          <a:p>
            <a:pPr indent="-177292" lvl="0" marL="177292" marR="0" rtl="0" algn="l">
              <a:lnSpc>
                <a:spcPct val="150000"/>
              </a:lnSpc>
              <a:spcBef>
                <a:spcPts val="0"/>
              </a:spcBef>
              <a:spcAft>
                <a:spcPts val="0"/>
              </a:spcAft>
              <a:buClr>
                <a:srgbClr val="3C4043"/>
              </a:buClr>
              <a:buSzPts val="1600"/>
              <a:buFont typeface="Arial"/>
              <a:buChar char="•"/>
            </a:pPr>
            <a:r>
              <a:rPr b="0" i="0" lang="en-US" sz="1600" u="none" cap="none" strike="noStrike">
                <a:solidFill>
                  <a:srgbClr val="3C4043"/>
                </a:solidFill>
                <a:latin typeface="Arial"/>
                <a:ea typeface="Arial"/>
                <a:cs typeface="Arial"/>
                <a:sym typeface="Arial"/>
              </a:rPr>
              <a:t>Can oscillate or settle unpredictably</a:t>
            </a:r>
            <a:endParaRPr b="0" i="0" sz="1600" u="none" cap="none" strike="noStrike">
              <a:solidFill>
                <a:schemeClr val="dk1"/>
              </a:solidFill>
              <a:latin typeface="Arial"/>
              <a:ea typeface="Arial"/>
              <a:cs typeface="Arial"/>
              <a:sym typeface="Arial"/>
            </a:endParaRPr>
          </a:p>
          <a:p>
            <a:pPr indent="-177292" lvl="0" marL="177292" marR="0" rtl="0" algn="l">
              <a:lnSpc>
                <a:spcPct val="150000"/>
              </a:lnSpc>
              <a:spcBef>
                <a:spcPts val="0"/>
              </a:spcBef>
              <a:spcAft>
                <a:spcPts val="0"/>
              </a:spcAft>
              <a:buClr>
                <a:srgbClr val="3C4043"/>
              </a:buClr>
              <a:buSzPts val="1600"/>
              <a:buFont typeface="Arial"/>
              <a:buChar char="•"/>
            </a:pPr>
            <a:r>
              <a:rPr b="0" i="0" lang="en-US" sz="1600" u="none" cap="none" strike="noStrike">
                <a:solidFill>
                  <a:srgbClr val="3C4043"/>
                </a:solidFill>
                <a:latin typeface="Arial"/>
                <a:ea typeface="Arial"/>
                <a:cs typeface="Arial"/>
                <a:sym typeface="Arial"/>
              </a:rPr>
              <a:t>Timing tools can't analyze it</a:t>
            </a:r>
            <a:endParaRPr b="0" i="0" sz="1600" u="none" cap="none" strike="noStrike">
              <a:solidFill>
                <a:schemeClr val="dk1"/>
              </a:solidFill>
              <a:latin typeface="Arial"/>
              <a:ea typeface="Arial"/>
              <a:cs typeface="Arial"/>
              <a:sym typeface="Arial"/>
            </a:endParaRPr>
          </a:p>
          <a:p>
            <a:pPr indent="-177292" lvl="0" marL="177292" marR="0" rtl="0" algn="l">
              <a:lnSpc>
                <a:spcPct val="150000"/>
              </a:lnSpc>
              <a:spcBef>
                <a:spcPts val="0"/>
              </a:spcBef>
              <a:spcAft>
                <a:spcPts val="0"/>
              </a:spcAft>
              <a:buClr>
                <a:srgbClr val="3C4043"/>
              </a:buClr>
              <a:buSzPts val="1600"/>
              <a:buFont typeface="Arial"/>
              <a:buChar char="•"/>
            </a:pPr>
            <a:r>
              <a:rPr b="0" i="0" lang="en-US" sz="1600" u="none" cap="none" strike="noStrike">
                <a:solidFill>
                  <a:srgbClr val="3C4043"/>
                </a:solidFill>
                <a:latin typeface="Arial"/>
                <a:ea typeface="Arial"/>
                <a:cs typeface="Arial"/>
                <a:sym typeface="Arial"/>
              </a:rPr>
              <a:t>Vivado flags it in DRC (combinatorial loop)</a:t>
            </a:r>
            <a:endParaRPr b="0" i="0" sz="1600" u="none" cap="none" strike="noStrike">
              <a:solidFill>
                <a:schemeClr val="dk1"/>
              </a:solidFill>
              <a:latin typeface="Arial"/>
              <a:ea typeface="Arial"/>
              <a:cs typeface="Arial"/>
              <a:sym typeface="Arial"/>
            </a:endParaRPr>
          </a:p>
        </p:txBody>
      </p:sp>
      <p:sp>
        <p:nvSpPr>
          <p:cNvPr id="203" name="Google Shape;203;p15"/>
          <p:cNvSpPr/>
          <p:nvPr/>
        </p:nvSpPr>
        <p:spPr>
          <a:xfrm>
            <a:off x="736600" y="3672818"/>
            <a:ext cx="4826000" cy="1145514"/>
          </a:xfrm>
          <a:prstGeom prst="roundRect">
            <a:avLst>
              <a:gd fmla="val 11087" name="adj"/>
            </a:avLst>
          </a:prstGeom>
          <a:solidFill>
            <a:srgbClr val="FFF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5"/>
          <p:cNvSpPr/>
          <p:nvPr/>
        </p:nvSpPr>
        <p:spPr>
          <a:xfrm>
            <a:off x="736600" y="3672818"/>
            <a:ext cx="4826000" cy="1145514"/>
          </a:xfrm>
          <a:custGeom>
            <a:rect b="b" l="l" r="r" t="t"/>
            <a:pathLst>
              <a:path extrusionOk="0" h="1145514" w="4826000">
                <a:moveTo>
                  <a:pt x="127000" y="1145514"/>
                </a:moveTo>
                <a:lnTo>
                  <a:pt x="127000" y="1145514"/>
                </a:lnTo>
                <a:cubicBezTo>
                  <a:pt x="56860" y="1145514"/>
                  <a:pt x="0" y="1088654"/>
                  <a:pt x="0" y="1018514"/>
                </a:cubicBezTo>
                <a:lnTo>
                  <a:pt x="0" y="127000"/>
                </a:lnTo>
                <a:cubicBezTo>
                  <a:pt x="0" y="56860"/>
                  <a:pt x="56860" y="0"/>
                  <a:pt x="127000" y="0"/>
                </a:cubicBezTo>
                <a:lnTo>
                  <a:pt x="127000" y="0"/>
                </a:lnTo>
                <a:cubicBezTo>
                  <a:pt x="84916" y="0"/>
                  <a:pt x="50800" y="56860"/>
                  <a:pt x="50800" y="127000"/>
                </a:cubicBezTo>
                <a:lnTo>
                  <a:pt x="50800" y="1018514"/>
                </a:lnTo>
                <a:cubicBezTo>
                  <a:pt x="50800" y="1088654"/>
                  <a:pt x="84916" y="1145514"/>
                  <a:pt x="127000" y="1145514"/>
                </a:cubicBezTo>
                <a:close/>
              </a:path>
            </a:pathLst>
          </a:custGeom>
          <a:solidFill>
            <a:srgbClr val="1B6F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5"/>
          <p:cNvSpPr/>
          <p:nvPr/>
        </p:nvSpPr>
        <p:spPr>
          <a:xfrm>
            <a:off x="1016000" y="3850618"/>
            <a:ext cx="4447540" cy="254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6F9E"/>
              </a:buClr>
              <a:buSzPts val="1500"/>
              <a:buFont typeface="Arial"/>
              <a:buNone/>
            </a:pPr>
            <a:r>
              <a:rPr b="1" i="0" lang="en-US" sz="1500" u="none" cap="none" strike="noStrike">
                <a:solidFill>
                  <a:srgbClr val="1B6F9E"/>
                </a:solidFill>
                <a:latin typeface="Arial"/>
                <a:ea typeface="Arial"/>
                <a:cs typeface="Arial"/>
                <a:sym typeface="Arial"/>
              </a:rPr>
              <a:t>Fix</a:t>
            </a:r>
            <a:endParaRPr b="0" i="0" sz="1500" u="none" cap="none" strike="noStrike">
              <a:solidFill>
                <a:schemeClr val="dk1"/>
              </a:solidFill>
              <a:latin typeface="Arial"/>
              <a:ea typeface="Arial"/>
              <a:cs typeface="Arial"/>
              <a:sym typeface="Arial"/>
            </a:endParaRPr>
          </a:p>
        </p:txBody>
      </p:sp>
      <p:sp>
        <p:nvSpPr>
          <p:cNvPr id="206" name="Google Shape;206;p15"/>
          <p:cNvSpPr/>
          <p:nvPr/>
        </p:nvSpPr>
        <p:spPr>
          <a:xfrm>
            <a:off x="1016000" y="4142718"/>
            <a:ext cx="4447540" cy="523214"/>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4E52"/>
              </a:buClr>
              <a:buSzPts val="1400"/>
              <a:buFont typeface="Arial"/>
              <a:buNone/>
            </a:pPr>
            <a:r>
              <a:rPr b="0" i="0" lang="en-US" sz="1400" u="none" cap="none" strike="noStrike">
                <a:solidFill>
                  <a:srgbClr val="4A4E52"/>
                </a:solidFill>
                <a:latin typeface="Arial"/>
                <a:ea typeface="Arial"/>
                <a:cs typeface="Arial"/>
                <a:sym typeface="Arial"/>
              </a:rPr>
              <a:t>Break the loop with a register. Feedback belongs in sequential logic.</a:t>
            </a:r>
            <a:endParaRPr b="0" i="0" sz="1400" u="none" cap="none" strike="noStrike">
              <a:solidFill>
                <a:schemeClr val="dk1"/>
              </a:solidFill>
              <a:latin typeface="Arial"/>
              <a:ea typeface="Arial"/>
              <a:cs typeface="Arial"/>
              <a:sym typeface="Arial"/>
            </a:endParaRPr>
          </a:p>
        </p:txBody>
      </p:sp>
      <p:sp>
        <p:nvSpPr>
          <p:cNvPr id="207" name="Google Shape;207;p15"/>
          <p:cNvSpPr/>
          <p:nvPr/>
        </p:nvSpPr>
        <p:spPr>
          <a:xfrm>
            <a:off x="5969000" y="1739900"/>
            <a:ext cx="5410200" cy="3085703"/>
          </a:xfrm>
          <a:prstGeom prst="roundRect">
            <a:avLst>
              <a:gd fmla="val 4939" name="adj"/>
            </a:avLst>
          </a:prstGeom>
          <a:solidFill>
            <a:srgbClr val="2F3237"/>
          </a:solidFill>
          <a:ln>
            <a:noFill/>
          </a:ln>
        </p:spPr>
        <p:txBody>
          <a:bodyPr anchorCtr="0" anchor="t" bIns="183950" lIns="234750" spcFirstLastPara="1" rIns="89200" wrap="square" tIns="209350">
            <a:noAutofit/>
          </a:bodyPr>
          <a:lstStyle/>
          <a:p>
            <a:pPr indent="0" lvl="0" marL="0" marR="0" rtl="0" algn="l">
              <a:lnSpc>
                <a:spcPct val="145000"/>
              </a:lnSpc>
              <a:spcBef>
                <a:spcPts val="0"/>
              </a:spcBef>
              <a:spcAft>
                <a:spcPts val="0"/>
              </a:spcAft>
              <a:buClr>
                <a:srgbClr val="F0A58C"/>
              </a:buClr>
              <a:buSzPts val="1400"/>
              <a:buFont typeface="Courier New"/>
              <a:buNone/>
            </a:pPr>
            <a:r>
              <a:rPr b="0" i="0" lang="en-US" sz="1400" u="none" cap="none" strike="noStrike">
                <a:solidFill>
                  <a:srgbClr val="F0A58C"/>
                </a:solidFill>
                <a:latin typeface="Courier New"/>
                <a:ea typeface="Courier New"/>
                <a:cs typeface="Courier New"/>
                <a:sym typeface="Courier New"/>
              </a:rPr>
              <a:t>// BAD: x depends on itself</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assign x = ~x;</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0A58C"/>
              </a:buClr>
              <a:buSzPts val="1400"/>
              <a:buFont typeface="Courier New"/>
              <a:buNone/>
            </a:pPr>
            <a:r>
              <a:rPr b="0" i="0" lang="en-US" sz="1400" u="none" cap="none" strike="noStrike">
                <a:solidFill>
                  <a:srgbClr val="F0A58C"/>
                </a:solidFill>
                <a:latin typeface="Courier New"/>
                <a:ea typeface="Courier New"/>
                <a:cs typeface="Courier New"/>
                <a:sym typeface="Courier New"/>
              </a:rPr>
              <a:t>// BAD: hidden loop a → b → a</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assign a = b &amp; c;</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assign b = a | d;</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A9C4D6"/>
              </a:buClr>
              <a:buSzPts val="1400"/>
              <a:buFont typeface="Courier New"/>
              <a:buNone/>
            </a:pPr>
            <a:r>
              <a:rPr b="0" i="0" lang="en-US" sz="1400" u="none" cap="none" strike="noStrike">
                <a:solidFill>
                  <a:srgbClr val="A9C4D6"/>
                </a:solidFill>
                <a:latin typeface="Courier New"/>
                <a:ea typeface="Courier New"/>
                <a:cs typeface="Courier New"/>
                <a:sym typeface="Courier New"/>
              </a:rPr>
              <a:t>// GOOD: loop goes through a FF</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always_ff @(posedge clk)</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  x &lt;= ~x;</a:t>
            </a:r>
            <a:endParaRPr b="0" i="0" sz="1400" u="none" cap="none" strike="noStrike">
              <a:solidFill>
                <a:schemeClr val="dk1"/>
              </a:solidFill>
              <a:latin typeface="Arial"/>
              <a:ea typeface="Arial"/>
              <a:cs typeface="Arial"/>
              <a:sym typeface="Arial"/>
            </a:endParaRPr>
          </a:p>
        </p:txBody>
      </p:sp>
      <p:sp>
        <p:nvSpPr>
          <p:cNvPr id="208" name="Google Shape;208;p15"/>
          <p:cNvSpPr/>
          <p:nvPr/>
        </p:nvSpPr>
        <p:spPr>
          <a:xfrm>
            <a:off x="10566400" y="6238280"/>
            <a:ext cx="812800" cy="23872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3C4043"/>
              </a:buClr>
              <a:buSzPts val="1200"/>
              <a:buFont typeface="Arial"/>
              <a:buNone/>
            </a:pPr>
            <a:r>
              <a:rPr b="0" i="0" lang="en-US" sz="1200" u="none" cap="none" strike="noStrike">
                <a:solidFill>
                  <a:srgbClr val="3C4043"/>
                </a:solidFill>
                <a:latin typeface="Arial"/>
                <a:ea typeface="Arial"/>
                <a:cs typeface="Arial"/>
                <a:sym typeface="Arial"/>
              </a:rPr>
              <a:t>12</a:t>
            </a:r>
            <a:endParaRPr b="0" i="0" sz="1200" u="none" cap="none" strike="noStrike">
              <a:solidFill>
                <a:schemeClr val="dk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0DC"/>
        </a:solidFill>
      </p:bgPr>
    </p:bg>
    <p:spTree>
      <p:nvGrpSpPr>
        <p:cNvPr id="213" name="Shape 213"/>
        <p:cNvGrpSpPr/>
        <p:nvPr/>
      </p:nvGrpSpPr>
      <p:grpSpPr>
        <a:xfrm>
          <a:off x="0" y="0"/>
          <a:ext cx="0" cy="0"/>
          <a:chOff x="0" y="0"/>
          <a:chExt cx="0" cy="0"/>
        </a:xfrm>
      </p:grpSpPr>
      <p:sp>
        <p:nvSpPr>
          <p:cNvPr id="214" name="Google Shape;214;p16"/>
          <p:cNvSpPr/>
          <p:nvPr/>
        </p:nvSpPr>
        <p:spPr>
          <a:xfrm>
            <a:off x="114300" y="114300"/>
            <a:ext cx="5886450" cy="381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C4043"/>
              </a:buClr>
              <a:buSzPts val="2000"/>
              <a:buFont typeface="Arial"/>
              <a:buNone/>
            </a:pPr>
            <a:r>
              <a:rPr b="0" i="0" lang="en-US" sz="2000" u="none" cap="none" strike="noStrike">
                <a:solidFill>
                  <a:srgbClr val="3C4043"/>
                </a:solidFill>
                <a:latin typeface="Arial"/>
                <a:ea typeface="Arial"/>
                <a:cs typeface="Arial"/>
                <a:sym typeface="Arial"/>
              </a:rPr>
              <a:t>Combinational Logic</a:t>
            </a:r>
            <a:endParaRPr b="0" i="0" sz="2000" u="none" cap="none" strike="noStrike">
              <a:solidFill>
                <a:schemeClr val="dk1"/>
              </a:solidFill>
              <a:latin typeface="Arial"/>
              <a:ea typeface="Arial"/>
              <a:cs typeface="Arial"/>
              <a:sym typeface="Arial"/>
            </a:endParaRPr>
          </a:p>
        </p:txBody>
      </p:sp>
      <p:sp>
        <p:nvSpPr>
          <p:cNvPr id="215" name="Google Shape;215;p16"/>
          <p:cNvSpPr txBox="1"/>
          <p:nvPr>
            <p:ph type="title"/>
          </p:nvPr>
        </p:nvSpPr>
        <p:spPr>
          <a:xfrm>
            <a:off x="736600" y="762000"/>
            <a:ext cx="10961878" cy="5842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3C4043"/>
              </a:buClr>
              <a:buSzPts val="4000"/>
              <a:buFont typeface="Arial"/>
              <a:buNone/>
            </a:pPr>
            <a:r>
              <a:rPr b="0" i="0" lang="en-US" sz="4000">
                <a:solidFill>
                  <a:srgbClr val="3C4043"/>
                </a:solidFill>
                <a:latin typeface="Arial"/>
                <a:ea typeface="Arial"/>
                <a:cs typeface="Arial"/>
                <a:sym typeface="Arial"/>
              </a:rPr>
              <a:t>Complete Signal Assignment</a:t>
            </a:r>
            <a:endParaRPr sz="4000"/>
          </a:p>
        </p:txBody>
      </p:sp>
      <p:pic>
        <p:nvPicPr>
          <p:cNvPr descr="line" id="216" name="Google Shape;216;p16"/>
          <p:cNvPicPr preferRelativeResize="0"/>
          <p:nvPr/>
        </p:nvPicPr>
        <p:blipFill rotWithShape="1">
          <a:blip r:embed="rId3">
            <a:alphaModFix/>
          </a:blip>
          <a:srcRect b="0" l="0" r="0" t="0"/>
          <a:stretch/>
        </p:blipFill>
        <p:spPr>
          <a:xfrm>
            <a:off x="736600" y="1524000"/>
            <a:ext cx="10642600" cy="12700"/>
          </a:xfrm>
          <a:prstGeom prst="rect">
            <a:avLst/>
          </a:prstGeom>
          <a:noFill/>
          <a:ln>
            <a:noFill/>
          </a:ln>
        </p:spPr>
      </p:pic>
      <p:sp>
        <p:nvSpPr>
          <p:cNvPr id="217" name="Google Shape;217;p16"/>
          <p:cNvSpPr/>
          <p:nvPr/>
        </p:nvSpPr>
        <p:spPr>
          <a:xfrm>
            <a:off x="736600" y="1739900"/>
            <a:ext cx="10961878" cy="375245"/>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3C4043"/>
              </a:buClr>
              <a:buSzPts val="1900"/>
              <a:buFont typeface="Arial"/>
              <a:buNone/>
            </a:pPr>
            <a:r>
              <a:rPr b="0" i="0" lang="en-US" sz="1900" u="none" cap="none" strike="noStrike">
                <a:solidFill>
                  <a:srgbClr val="3C4043"/>
                </a:solidFill>
                <a:latin typeface="Arial"/>
                <a:ea typeface="Arial"/>
                <a:cs typeface="Arial"/>
                <a:sym typeface="Arial"/>
              </a:rPr>
              <a:t>In an </a:t>
            </a:r>
            <a:r>
              <a:rPr b="1" i="0" lang="en-US" sz="1900" u="none" cap="none" strike="noStrike">
                <a:solidFill>
                  <a:srgbClr val="3C4043"/>
                </a:solidFill>
                <a:latin typeface="Arial"/>
                <a:ea typeface="Arial"/>
                <a:cs typeface="Arial"/>
                <a:sym typeface="Arial"/>
              </a:rPr>
              <a:t>always_comb</a:t>
            </a:r>
            <a:r>
              <a:rPr b="0" i="0" lang="en-US" sz="1900" u="none" cap="none" strike="noStrike">
                <a:solidFill>
                  <a:srgbClr val="3C4043"/>
                </a:solidFill>
                <a:latin typeface="Arial"/>
                <a:ea typeface="Arial"/>
                <a:cs typeface="Arial"/>
                <a:sym typeface="Arial"/>
              </a:rPr>
              <a:t> block, </a:t>
            </a:r>
            <a:r>
              <a:rPr b="1" i="0" lang="en-US" sz="1900" u="none" cap="none" strike="noStrike">
                <a:solidFill>
                  <a:srgbClr val="3C4043"/>
                </a:solidFill>
                <a:latin typeface="Arial"/>
                <a:ea typeface="Arial"/>
                <a:cs typeface="Arial"/>
                <a:sym typeface="Arial"/>
              </a:rPr>
              <a:t>every output</a:t>
            </a:r>
            <a:r>
              <a:rPr b="0" i="0" lang="en-US" sz="1900" u="none" cap="none" strike="noStrike">
                <a:solidFill>
                  <a:srgbClr val="3C4043"/>
                </a:solidFill>
                <a:latin typeface="Arial"/>
                <a:ea typeface="Arial"/>
                <a:cs typeface="Arial"/>
                <a:sym typeface="Arial"/>
              </a:rPr>
              <a:t> must get a value on </a:t>
            </a:r>
            <a:r>
              <a:rPr b="1" i="0" lang="en-US" sz="1900" u="none" cap="none" strike="noStrike">
                <a:solidFill>
                  <a:srgbClr val="3C4043"/>
                </a:solidFill>
                <a:latin typeface="Arial"/>
                <a:ea typeface="Arial"/>
                <a:cs typeface="Arial"/>
                <a:sym typeface="Arial"/>
              </a:rPr>
              <a:t>every path</a:t>
            </a:r>
            <a:r>
              <a:rPr b="0" i="0" lang="en-US" sz="1900" u="none" cap="none" strike="noStrike">
                <a:solidFill>
                  <a:srgbClr val="3C4043"/>
                </a:solidFill>
                <a:latin typeface="Arial"/>
                <a:ea typeface="Arial"/>
                <a:cs typeface="Arial"/>
                <a:sym typeface="Arial"/>
              </a:rPr>
              <a:t> through the code.</a:t>
            </a:r>
            <a:endParaRPr b="0" i="0" sz="1900" u="none" cap="none" strike="noStrike">
              <a:solidFill>
                <a:schemeClr val="dk1"/>
              </a:solidFill>
              <a:latin typeface="Arial"/>
              <a:ea typeface="Arial"/>
              <a:cs typeface="Arial"/>
              <a:sym typeface="Arial"/>
            </a:endParaRPr>
          </a:p>
        </p:txBody>
      </p:sp>
      <p:sp>
        <p:nvSpPr>
          <p:cNvPr id="218" name="Google Shape;218;p16"/>
          <p:cNvSpPr/>
          <p:nvPr/>
        </p:nvSpPr>
        <p:spPr>
          <a:xfrm>
            <a:off x="736600" y="2292945"/>
            <a:ext cx="5168900" cy="2417829"/>
          </a:xfrm>
          <a:prstGeom prst="roundRect">
            <a:avLst>
              <a:gd fmla="val 6303" name="adj"/>
            </a:avLst>
          </a:prstGeom>
          <a:solidFill>
            <a:srgbClr val="2F32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6"/>
          <p:cNvSpPr/>
          <p:nvPr/>
        </p:nvSpPr>
        <p:spPr>
          <a:xfrm>
            <a:off x="736600" y="2292945"/>
            <a:ext cx="5168900" cy="2417829"/>
          </a:xfrm>
          <a:custGeom>
            <a:rect b="b" l="l" r="r" t="t"/>
            <a:pathLst>
              <a:path extrusionOk="0" h="2417829" w="5168900">
                <a:moveTo>
                  <a:pt x="0" y="152400"/>
                </a:moveTo>
                <a:lnTo>
                  <a:pt x="0" y="152400"/>
                </a:lnTo>
                <a:cubicBezTo>
                  <a:pt x="0" y="68232"/>
                  <a:pt x="68232" y="0"/>
                  <a:pt x="152400" y="0"/>
                </a:cubicBezTo>
                <a:lnTo>
                  <a:pt x="5016500" y="0"/>
                </a:lnTo>
                <a:cubicBezTo>
                  <a:pt x="5056919" y="0"/>
                  <a:pt x="5095683" y="16056"/>
                  <a:pt x="5124263" y="44637"/>
                </a:cubicBezTo>
                <a:cubicBezTo>
                  <a:pt x="5152844" y="73217"/>
                  <a:pt x="5168900" y="111981"/>
                  <a:pt x="5168900" y="152400"/>
                </a:cubicBezTo>
                <a:lnTo>
                  <a:pt x="5168900" y="152400"/>
                </a:lnTo>
                <a:cubicBezTo>
                  <a:pt x="5168900" y="103302"/>
                  <a:pt x="5100668" y="63500"/>
                  <a:pt x="5016500" y="63500"/>
                </a:cubicBezTo>
                <a:lnTo>
                  <a:pt x="152400" y="63500"/>
                </a:lnTo>
                <a:cubicBezTo>
                  <a:pt x="68232" y="63500"/>
                  <a:pt x="0" y="103302"/>
                  <a:pt x="0" y="152400"/>
                </a:cubicBezTo>
                <a:close/>
              </a:path>
            </a:pathLst>
          </a:custGeom>
          <a:solidFill>
            <a:srgbClr val="E078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6"/>
          <p:cNvSpPr/>
          <p:nvPr/>
        </p:nvSpPr>
        <p:spPr>
          <a:xfrm>
            <a:off x="1016000" y="2585045"/>
            <a:ext cx="4748403" cy="274307"/>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0A58C"/>
              </a:buClr>
              <a:buSzPts val="1400"/>
              <a:buFont typeface="Arial"/>
              <a:buNone/>
            </a:pPr>
            <a:r>
              <a:rPr b="1" i="0" lang="en-US" sz="1400" u="none" cap="none" strike="noStrike">
                <a:solidFill>
                  <a:srgbClr val="F0A58C"/>
                </a:solidFill>
                <a:latin typeface="Arial"/>
                <a:ea typeface="Arial"/>
                <a:cs typeface="Arial"/>
                <a:sym typeface="Arial"/>
              </a:rPr>
              <a:t>INCOMPLETE</a:t>
            </a:r>
            <a:endParaRPr b="0" i="0" sz="1400" u="none" cap="none" strike="noStrike">
              <a:solidFill>
                <a:schemeClr val="dk1"/>
              </a:solidFill>
              <a:latin typeface="Arial"/>
              <a:ea typeface="Arial"/>
              <a:cs typeface="Arial"/>
              <a:sym typeface="Arial"/>
            </a:endParaRPr>
          </a:p>
        </p:txBody>
      </p:sp>
      <p:sp>
        <p:nvSpPr>
          <p:cNvPr id="221" name="Google Shape;221;p16"/>
          <p:cNvSpPr/>
          <p:nvPr/>
        </p:nvSpPr>
        <p:spPr>
          <a:xfrm>
            <a:off x="1016000" y="2935554"/>
            <a:ext cx="4748403" cy="1314252"/>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always_comb begin</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  if (en)</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    y = a;</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  </a:t>
            </a:r>
            <a:r>
              <a:rPr b="0" i="0" lang="en-US" sz="1400" u="none" cap="none" strike="noStrike">
                <a:solidFill>
                  <a:srgbClr val="F0A58C"/>
                </a:solidFill>
                <a:latin typeface="Courier New"/>
                <a:ea typeface="Courier New"/>
                <a:cs typeface="Courier New"/>
                <a:sym typeface="Courier New"/>
              </a:rPr>
              <a:t>// en = 0: y = ???</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end</a:t>
            </a:r>
            <a:endParaRPr b="0" i="0" sz="1400" u="none" cap="none" strike="noStrike">
              <a:solidFill>
                <a:schemeClr val="dk1"/>
              </a:solidFill>
              <a:latin typeface="Arial"/>
              <a:ea typeface="Arial"/>
              <a:cs typeface="Arial"/>
              <a:sym typeface="Arial"/>
            </a:endParaRPr>
          </a:p>
        </p:txBody>
      </p:sp>
      <p:sp>
        <p:nvSpPr>
          <p:cNvPr id="222" name="Google Shape;222;p16"/>
          <p:cNvSpPr/>
          <p:nvPr/>
        </p:nvSpPr>
        <p:spPr>
          <a:xfrm>
            <a:off x="6210300" y="2292945"/>
            <a:ext cx="5168900" cy="2417829"/>
          </a:xfrm>
          <a:prstGeom prst="roundRect">
            <a:avLst>
              <a:gd fmla="val 6303" name="adj"/>
            </a:avLst>
          </a:prstGeom>
          <a:solidFill>
            <a:srgbClr val="2F32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6"/>
          <p:cNvSpPr/>
          <p:nvPr/>
        </p:nvSpPr>
        <p:spPr>
          <a:xfrm>
            <a:off x="6210300" y="2292945"/>
            <a:ext cx="5168900" cy="2417829"/>
          </a:xfrm>
          <a:custGeom>
            <a:rect b="b" l="l" r="r" t="t"/>
            <a:pathLst>
              <a:path extrusionOk="0" h="2417829" w="5168900">
                <a:moveTo>
                  <a:pt x="0" y="152400"/>
                </a:moveTo>
                <a:lnTo>
                  <a:pt x="0" y="152400"/>
                </a:lnTo>
                <a:cubicBezTo>
                  <a:pt x="0" y="68232"/>
                  <a:pt x="68232" y="0"/>
                  <a:pt x="152400" y="0"/>
                </a:cubicBezTo>
                <a:lnTo>
                  <a:pt x="5016500" y="0"/>
                </a:lnTo>
                <a:cubicBezTo>
                  <a:pt x="5056919" y="0"/>
                  <a:pt x="5095683" y="16056"/>
                  <a:pt x="5124263" y="44637"/>
                </a:cubicBezTo>
                <a:cubicBezTo>
                  <a:pt x="5152844" y="73217"/>
                  <a:pt x="5168900" y="111981"/>
                  <a:pt x="5168900" y="152400"/>
                </a:cubicBezTo>
                <a:lnTo>
                  <a:pt x="5168900" y="152400"/>
                </a:lnTo>
                <a:cubicBezTo>
                  <a:pt x="5168900" y="103302"/>
                  <a:pt x="5100668" y="63500"/>
                  <a:pt x="5016500" y="63500"/>
                </a:cubicBezTo>
                <a:lnTo>
                  <a:pt x="152400" y="63500"/>
                </a:lnTo>
                <a:cubicBezTo>
                  <a:pt x="68232" y="63500"/>
                  <a:pt x="0" y="103302"/>
                  <a:pt x="0" y="152400"/>
                </a:cubicBezTo>
                <a:close/>
              </a:path>
            </a:pathLst>
          </a:custGeom>
          <a:solidFill>
            <a:srgbClr val="6FB0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6"/>
          <p:cNvSpPr/>
          <p:nvPr/>
        </p:nvSpPr>
        <p:spPr>
          <a:xfrm>
            <a:off x="6489700" y="2585045"/>
            <a:ext cx="4748403" cy="274307"/>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9C4D6"/>
              </a:buClr>
              <a:buSzPts val="1400"/>
              <a:buFont typeface="Arial"/>
              <a:buNone/>
            </a:pPr>
            <a:r>
              <a:rPr b="1" i="0" lang="en-US" sz="1400" u="none" cap="none" strike="noStrike">
                <a:solidFill>
                  <a:srgbClr val="A9C4D6"/>
                </a:solidFill>
                <a:latin typeface="Arial"/>
                <a:ea typeface="Arial"/>
                <a:cs typeface="Arial"/>
                <a:sym typeface="Arial"/>
              </a:rPr>
              <a:t>COMPLETE</a:t>
            </a:r>
            <a:endParaRPr b="0" i="0" sz="1400" u="none" cap="none" strike="noStrike">
              <a:solidFill>
                <a:schemeClr val="dk1"/>
              </a:solidFill>
              <a:latin typeface="Arial"/>
              <a:ea typeface="Arial"/>
              <a:cs typeface="Arial"/>
              <a:sym typeface="Arial"/>
            </a:endParaRPr>
          </a:p>
        </p:txBody>
      </p:sp>
      <p:sp>
        <p:nvSpPr>
          <p:cNvPr id="225" name="Google Shape;225;p16"/>
          <p:cNvSpPr/>
          <p:nvPr/>
        </p:nvSpPr>
        <p:spPr>
          <a:xfrm>
            <a:off x="6489700" y="2935554"/>
            <a:ext cx="4748403" cy="1572022"/>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always_comb begin</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  if (en)</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    y = a;</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  else</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    y = 1'b0;</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end</a:t>
            </a:r>
            <a:endParaRPr b="0" i="0" sz="1400" u="none" cap="none" strike="noStrike">
              <a:solidFill>
                <a:schemeClr val="dk1"/>
              </a:solidFill>
              <a:latin typeface="Arial"/>
              <a:ea typeface="Arial"/>
              <a:cs typeface="Arial"/>
              <a:sym typeface="Arial"/>
            </a:endParaRPr>
          </a:p>
        </p:txBody>
      </p:sp>
      <p:sp>
        <p:nvSpPr>
          <p:cNvPr id="226" name="Google Shape;226;p16"/>
          <p:cNvSpPr/>
          <p:nvPr/>
        </p:nvSpPr>
        <p:spPr>
          <a:xfrm>
            <a:off x="10566400" y="6238280"/>
            <a:ext cx="812800" cy="23872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3C4043"/>
              </a:buClr>
              <a:buSzPts val="1200"/>
              <a:buFont typeface="Arial"/>
              <a:buNone/>
            </a:pPr>
            <a:r>
              <a:rPr b="0" i="0" lang="en-US" sz="1200" u="none" cap="none" strike="noStrike">
                <a:solidFill>
                  <a:srgbClr val="3C4043"/>
                </a:solidFill>
                <a:latin typeface="Arial"/>
                <a:ea typeface="Arial"/>
                <a:cs typeface="Arial"/>
                <a:sym typeface="Arial"/>
              </a:rPr>
              <a:t>13</a:t>
            </a:r>
            <a:endParaRPr b="0" i="0" sz="1200" u="none" cap="none" strike="noStrike">
              <a:solidFill>
                <a:schemeClr val="dk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0DC"/>
        </a:solidFill>
      </p:bgPr>
    </p:bg>
    <p:spTree>
      <p:nvGrpSpPr>
        <p:cNvPr id="231" name="Shape 231"/>
        <p:cNvGrpSpPr/>
        <p:nvPr/>
      </p:nvGrpSpPr>
      <p:grpSpPr>
        <a:xfrm>
          <a:off x="0" y="0"/>
          <a:ext cx="0" cy="0"/>
          <a:chOff x="0" y="0"/>
          <a:chExt cx="0" cy="0"/>
        </a:xfrm>
      </p:grpSpPr>
      <p:sp>
        <p:nvSpPr>
          <p:cNvPr id="232" name="Google Shape;232;p17"/>
          <p:cNvSpPr/>
          <p:nvPr/>
        </p:nvSpPr>
        <p:spPr>
          <a:xfrm>
            <a:off x="114300" y="114300"/>
            <a:ext cx="5886450" cy="381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C4043"/>
              </a:buClr>
              <a:buSzPts val="2000"/>
              <a:buFont typeface="Arial"/>
              <a:buNone/>
            </a:pPr>
            <a:r>
              <a:rPr b="0" i="0" lang="en-US" sz="2000" u="none" cap="none" strike="noStrike">
                <a:solidFill>
                  <a:srgbClr val="3C4043"/>
                </a:solidFill>
                <a:latin typeface="Arial"/>
                <a:ea typeface="Arial"/>
                <a:cs typeface="Arial"/>
                <a:sym typeface="Arial"/>
              </a:rPr>
              <a:t>Combinational Logic</a:t>
            </a:r>
            <a:endParaRPr b="0" i="0" sz="2000" u="none" cap="none" strike="noStrike">
              <a:solidFill>
                <a:schemeClr val="dk1"/>
              </a:solidFill>
              <a:latin typeface="Arial"/>
              <a:ea typeface="Arial"/>
              <a:cs typeface="Arial"/>
              <a:sym typeface="Arial"/>
            </a:endParaRPr>
          </a:p>
        </p:txBody>
      </p:sp>
      <p:sp>
        <p:nvSpPr>
          <p:cNvPr id="233" name="Google Shape;233;p17"/>
          <p:cNvSpPr txBox="1"/>
          <p:nvPr>
            <p:ph type="title"/>
          </p:nvPr>
        </p:nvSpPr>
        <p:spPr>
          <a:xfrm>
            <a:off x="736600" y="762000"/>
            <a:ext cx="10961878" cy="5842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3C4043"/>
              </a:buClr>
              <a:buSzPts val="4000"/>
              <a:buFont typeface="Arial"/>
              <a:buNone/>
            </a:pPr>
            <a:r>
              <a:rPr b="0" i="0" lang="en-US" sz="4000">
                <a:solidFill>
                  <a:srgbClr val="3C4043"/>
                </a:solidFill>
                <a:latin typeface="Arial"/>
                <a:ea typeface="Arial"/>
                <a:cs typeface="Arial"/>
                <a:sym typeface="Arial"/>
              </a:rPr>
              <a:t>Avoiding Unintended Latches</a:t>
            </a:r>
            <a:endParaRPr sz="4000"/>
          </a:p>
        </p:txBody>
      </p:sp>
      <p:pic>
        <p:nvPicPr>
          <p:cNvPr descr="line" id="234" name="Google Shape;234;p17"/>
          <p:cNvPicPr preferRelativeResize="0"/>
          <p:nvPr/>
        </p:nvPicPr>
        <p:blipFill rotWithShape="1">
          <a:blip r:embed="rId3">
            <a:alphaModFix/>
          </a:blip>
          <a:srcRect b="0" l="0" r="0" t="0"/>
          <a:stretch/>
        </p:blipFill>
        <p:spPr>
          <a:xfrm>
            <a:off x="736600" y="1524000"/>
            <a:ext cx="10642600" cy="12700"/>
          </a:xfrm>
          <a:prstGeom prst="rect">
            <a:avLst/>
          </a:prstGeom>
          <a:noFill/>
          <a:ln>
            <a:noFill/>
          </a:ln>
        </p:spPr>
      </p:pic>
      <p:sp>
        <p:nvSpPr>
          <p:cNvPr id="235" name="Google Shape;235;p17"/>
          <p:cNvSpPr/>
          <p:nvPr/>
        </p:nvSpPr>
        <p:spPr>
          <a:xfrm>
            <a:off x="736600" y="1739900"/>
            <a:ext cx="4970780" cy="338402"/>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3C4043"/>
              </a:buClr>
              <a:buSzPts val="1700"/>
              <a:buFont typeface="Arial"/>
              <a:buNone/>
            </a:pPr>
            <a:r>
              <a:rPr b="0" i="0" lang="en-US" sz="1700" u="none" cap="none" strike="noStrike">
                <a:solidFill>
                  <a:srgbClr val="3C4043"/>
                </a:solidFill>
                <a:latin typeface="Arial"/>
                <a:ea typeface="Arial"/>
                <a:cs typeface="Arial"/>
                <a:sym typeface="Arial"/>
              </a:rPr>
              <a:t>Three habits that prevent them:</a:t>
            </a:r>
            <a:endParaRPr b="0" i="0" sz="1700" u="none" cap="none" strike="noStrike">
              <a:solidFill>
                <a:schemeClr val="dk1"/>
              </a:solidFill>
              <a:latin typeface="Arial"/>
              <a:ea typeface="Arial"/>
              <a:cs typeface="Arial"/>
              <a:sym typeface="Arial"/>
            </a:endParaRPr>
          </a:p>
        </p:txBody>
      </p:sp>
      <p:sp>
        <p:nvSpPr>
          <p:cNvPr id="236" name="Google Shape;236;p17"/>
          <p:cNvSpPr/>
          <p:nvPr/>
        </p:nvSpPr>
        <p:spPr>
          <a:xfrm>
            <a:off x="736600" y="2179904"/>
            <a:ext cx="4826000" cy="670520"/>
          </a:xfrm>
          <a:prstGeom prst="roundRect">
            <a:avLst>
              <a:gd fmla="val 17046" name="adj"/>
            </a:avLst>
          </a:prstGeom>
          <a:solidFill>
            <a:srgbClr val="FFF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7"/>
          <p:cNvSpPr/>
          <p:nvPr/>
        </p:nvSpPr>
        <p:spPr>
          <a:xfrm>
            <a:off x="927100" y="2319604"/>
            <a:ext cx="206243" cy="4165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B6F9E"/>
              </a:buClr>
              <a:buSzPts val="2200"/>
              <a:buFont typeface="Arial"/>
              <a:buNone/>
            </a:pPr>
            <a:r>
              <a:rPr b="1" i="0" lang="en-US" sz="2200" u="none" cap="none" strike="noStrike">
                <a:solidFill>
                  <a:srgbClr val="1B6F9E"/>
                </a:solidFill>
                <a:latin typeface="Arial"/>
                <a:ea typeface="Arial"/>
                <a:cs typeface="Arial"/>
                <a:sym typeface="Arial"/>
              </a:rPr>
              <a:t>1</a:t>
            </a:r>
            <a:endParaRPr b="0" i="0" sz="2200" u="none" cap="none" strike="noStrike">
              <a:solidFill>
                <a:schemeClr val="dk1"/>
              </a:solidFill>
              <a:latin typeface="Arial"/>
              <a:ea typeface="Arial"/>
              <a:cs typeface="Arial"/>
              <a:sym typeface="Arial"/>
            </a:endParaRPr>
          </a:p>
        </p:txBody>
      </p:sp>
      <p:sp>
        <p:nvSpPr>
          <p:cNvPr id="238" name="Google Shape;238;p17"/>
          <p:cNvSpPr/>
          <p:nvPr/>
        </p:nvSpPr>
        <p:spPr>
          <a:xfrm>
            <a:off x="1234943" y="2386546"/>
            <a:ext cx="3799443" cy="282575"/>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3C4043"/>
              </a:buClr>
              <a:buSzPts val="1500"/>
              <a:buFont typeface="Arial"/>
              <a:buNone/>
            </a:pPr>
            <a:r>
              <a:rPr b="1" i="0" lang="en-US" sz="1500" u="none" cap="none" strike="noStrike">
                <a:solidFill>
                  <a:srgbClr val="3C4043"/>
                </a:solidFill>
                <a:latin typeface="Arial"/>
                <a:ea typeface="Arial"/>
                <a:cs typeface="Arial"/>
                <a:sym typeface="Arial"/>
              </a:rPr>
              <a:t>Default values</a:t>
            </a:r>
            <a:r>
              <a:rPr b="0" i="0" lang="en-US" sz="1500" u="none" cap="none" strike="noStrike">
                <a:solidFill>
                  <a:srgbClr val="3C4043"/>
                </a:solidFill>
                <a:latin typeface="Arial"/>
                <a:ea typeface="Arial"/>
                <a:cs typeface="Arial"/>
                <a:sym typeface="Arial"/>
              </a:rPr>
              <a:t> at the top of the block</a:t>
            </a:r>
            <a:endParaRPr b="0" i="0" sz="1500" u="none" cap="none" strike="noStrike">
              <a:solidFill>
                <a:schemeClr val="dk1"/>
              </a:solidFill>
              <a:latin typeface="Arial"/>
              <a:ea typeface="Arial"/>
              <a:cs typeface="Arial"/>
              <a:sym typeface="Arial"/>
            </a:endParaRPr>
          </a:p>
        </p:txBody>
      </p:sp>
      <p:sp>
        <p:nvSpPr>
          <p:cNvPr id="239" name="Google Shape;239;p17"/>
          <p:cNvSpPr/>
          <p:nvPr/>
        </p:nvSpPr>
        <p:spPr>
          <a:xfrm>
            <a:off x="736600" y="2977424"/>
            <a:ext cx="4826000" cy="670520"/>
          </a:xfrm>
          <a:prstGeom prst="roundRect">
            <a:avLst>
              <a:gd fmla="val 17046" name="adj"/>
            </a:avLst>
          </a:prstGeom>
          <a:solidFill>
            <a:srgbClr val="FFF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7"/>
          <p:cNvSpPr/>
          <p:nvPr/>
        </p:nvSpPr>
        <p:spPr>
          <a:xfrm>
            <a:off x="927100" y="3117124"/>
            <a:ext cx="206243" cy="4165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B6F9E"/>
              </a:buClr>
              <a:buSzPts val="2200"/>
              <a:buFont typeface="Arial"/>
              <a:buNone/>
            </a:pPr>
            <a:r>
              <a:rPr b="1" i="0" lang="en-US" sz="2200" u="none" cap="none" strike="noStrike">
                <a:solidFill>
                  <a:srgbClr val="1B6F9E"/>
                </a:solidFill>
                <a:latin typeface="Arial"/>
                <a:ea typeface="Arial"/>
                <a:cs typeface="Arial"/>
                <a:sym typeface="Arial"/>
              </a:rPr>
              <a:t>2</a:t>
            </a:r>
            <a:endParaRPr b="0" i="0" sz="2200" u="none" cap="none" strike="noStrike">
              <a:solidFill>
                <a:schemeClr val="dk1"/>
              </a:solidFill>
              <a:latin typeface="Arial"/>
              <a:ea typeface="Arial"/>
              <a:cs typeface="Arial"/>
              <a:sym typeface="Arial"/>
            </a:endParaRPr>
          </a:p>
        </p:txBody>
      </p:sp>
      <p:sp>
        <p:nvSpPr>
          <p:cNvPr id="241" name="Google Shape;241;p17"/>
          <p:cNvSpPr/>
          <p:nvPr/>
        </p:nvSpPr>
        <p:spPr>
          <a:xfrm>
            <a:off x="1234943" y="3184066"/>
            <a:ext cx="1944132" cy="282575"/>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3C4043"/>
              </a:buClr>
              <a:buSzPts val="1500"/>
              <a:buFont typeface="Arial"/>
              <a:buNone/>
            </a:pPr>
            <a:r>
              <a:rPr b="0" i="0" lang="en-US" sz="1500" u="none" cap="none" strike="noStrike">
                <a:solidFill>
                  <a:srgbClr val="3C4043"/>
                </a:solidFill>
                <a:latin typeface="Arial"/>
                <a:ea typeface="Arial"/>
                <a:cs typeface="Arial"/>
                <a:sym typeface="Arial"/>
              </a:rPr>
              <a:t>An </a:t>
            </a:r>
            <a:r>
              <a:rPr b="1" i="0" lang="en-US" sz="1500" u="none" cap="none" strike="noStrike">
                <a:solidFill>
                  <a:srgbClr val="3C4043"/>
                </a:solidFill>
                <a:latin typeface="Arial"/>
                <a:ea typeface="Arial"/>
                <a:cs typeface="Arial"/>
                <a:sym typeface="Arial"/>
              </a:rPr>
              <a:t>else</a:t>
            </a:r>
            <a:r>
              <a:rPr b="0" i="0" lang="en-US" sz="1500" u="none" cap="none" strike="noStrike">
                <a:solidFill>
                  <a:srgbClr val="3C4043"/>
                </a:solidFill>
                <a:latin typeface="Arial"/>
                <a:ea typeface="Arial"/>
                <a:cs typeface="Arial"/>
                <a:sym typeface="Arial"/>
              </a:rPr>
              <a:t> for every </a:t>
            </a:r>
            <a:r>
              <a:rPr b="1" i="0" lang="en-US" sz="1500" u="none" cap="none" strike="noStrike">
                <a:solidFill>
                  <a:srgbClr val="3C4043"/>
                </a:solidFill>
                <a:latin typeface="Arial"/>
                <a:ea typeface="Arial"/>
                <a:cs typeface="Arial"/>
                <a:sym typeface="Arial"/>
              </a:rPr>
              <a:t>if</a:t>
            </a:r>
            <a:endParaRPr b="0" i="0" sz="1500" u="none" cap="none" strike="noStrike">
              <a:solidFill>
                <a:schemeClr val="dk1"/>
              </a:solidFill>
              <a:latin typeface="Arial"/>
              <a:ea typeface="Arial"/>
              <a:cs typeface="Arial"/>
              <a:sym typeface="Arial"/>
            </a:endParaRPr>
          </a:p>
        </p:txBody>
      </p:sp>
      <p:sp>
        <p:nvSpPr>
          <p:cNvPr id="242" name="Google Shape;242;p17"/>
          <p:cNvSpPr/>
          <p:nvPr/>
        </p:nvSpPr>
        <p:spPr>
          <a:xfrm>
            <a:off x="736600" y="3774945"/>
            <a:ext cx="4826000" cy="670520"/>
          </a:xfrm>
          <a:prstGeom prst="roundRect">
            <a:avLst>
              <a:gd fmla="val 17046" name="adj"/>
            </a:avLst>
          </a:prstGeom>
          <a:solidFill>
            <a:srgbClr val="FFF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7"/>
          <p:cNvSpPr/>
          <p:nvPr/>
        </p:nvSpPr>
        <p:spPr>
          <a:xfrm>
            <a:off x="927100" y="3914645"/>
            <a:ext cx="206243" cy="4165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B6F9E"/>
              </a:buClr>
              <a:buSzPts val="2200"/>
              <a:buFont typeface="Arial"/>
              <a:buNone/>
            </a:pPr>
            <a:r>
              <a:rPr b="1" i="0" lang="en-US" sz="2200" u="none" cap="none" strike="noStrike">
                <a:solidFill>
                  <a:srgbClr val="1B6F9E"/>
                </a:solidFill>
                <a:latin typeface="Arial"/>
                <a:ea typeface="Arial"/>
                <a:cs typeface="Arial"/>
                <a:sym typeface="Arial"/>
              </a:rPr>
              <a:t>3</a:t>
            </a:r>
            <a:endParaRPr b="0" i="0" sz="2200" u="none" cap="none" strike="noStrike">
              <a:solidFill>
                <a:schemeClr val="dk1"/>
              </a:solidFill>
              <a:latin typeface="Arial"/>
              <a:ea typeface="Arial"/>
              <a:cs typeface="Arial"/>
              <a:sym typeface="Arial"/>
            </a:endParaRPr>
          </a:p>
        </p:txBody>
      </p:sp>
      <p:sp>
        <p:nvSpPr>
          <p:cNvPr id="244" name="Google Shape;244;p17"/>
          <p:cNvSpPr/>
          <p:nvPr/>
        </p:nvSpPr>
        <p:spPr>
          <a:xfrm>
            <a:off x="1234943" y="3981586"/>
            <a:ext cx="2388870" cy="282575"/>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3C4043"/>
              </a:buClr>
              <a:buSzPts val="1500"/>
              <a:buFont typeface="Arial"/>
              <a:buNone/>
            </a:pPr>
            <a:r>
              <a:rPr b="0" i="0" lang="en-US" sz="1500" u="none" cap="none" strike="noStrike">
                <a:solidFill>
                  <a:srgbClr val="3C4043"/>
                </a:solidFill>
                <a:latin typeface="Arial"/>
                <a:ea typeface="Arial"/>
                <a:cs typeface="Arial"/>
                <a:sym typeface="Arial"/>
              </a:rPr>
              <a:t>A </a:t>
            </a:r>
            <a:r>
              <a:rPr b="1" i="0" lang="en-US" sz="1500" u="none" cap="none" strike="noStrike">
                <a:solidFill>
                  <a:srgbClr val="3C4043"/>
                </a:solidFill>
                <a:latin typeface="Arial"/>
                <a:ea typeface="Arial"/>
                <a:cs typeface="Arial"/>
                <a:sym typeface="Arial"/>
              </a:rPr>
              <a:t>default</a:t>
            </a:r>
            <a:r>
              <a:rPr b="0" i="0" lang="en-US" sz="1500" u="none" cap="none" strike="noStrike">
                <a:solidFill>
                  <a:srgbClr val="3C4043"/>
                </a:solidFill>
                <a:latin typeface="Arial"/>
                <a:ea typeface="Arial"/>
                <a:cs typeface="Arial"/>
                <a:sym typeface="Arial"/>
              </a:rPr>
              <a:t> in every </a:t>
            </a:r>
            <a:r>
              <a:rPr b="1" i="0" lang="en-US" sz="1500" u="none" cap="none" strike="noStrike">
                <a:solidFill>
                  <a:srgbClr val="3C4043"/>
                </a:solidFill>
                <a:latin typeface="Arial"/>
                <a:ea typeface="Arial"/>
                <a:cs typeface="Arial"/>
                <a:sym typeface="Arial"/>
              </a:rPr>
              <a:t>case</a:t>
            </a:r>
            <a:endParaRPr b="0" i="0" sz="1500" u="none" cap="none" strike="noStrike">
              <a:solidFill>
                <a:schemeClr val="dk1"/>
              </a:solidFill>
              <a:latin typeface="Arial"/>
              <a:ea typeface="Arial"/>
              <a:cs typeface="Arial"/>
              <a:sym typeface="Arial"/>
            </a:endParaRPr>
          </a:p>
        </p:txBody>
      </p:sp>
      <p:sp>
        <p:nvSpPr>
          <p:cNvPr id="245" name="Google Shape;245;p17"/>
          <p:cNvSpPr/>
          <p:nvPr/>
        </p:nvSpPr>
        <p:spPr>
          <a:xfrm>
            <a:off x="736600" y="4572465"/>
            <a:ext cx="5232400" cy="274307"/>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4E52"/>
              </a:buClr>
              <a:buSzPts val="1400"/>
              <a:buFont typeface="Arial"/>
              <a:buNone/>
            </a:pPr>
            <a:r>
              <a:rPr b="0" i="0" lang="en-US" sz="1400" u="none" cap="none" strike="noStrike">
                <a:solidFill>
                  <a:srgbClr val="4A4E52"/>
                </a:solidFill>
                <a:latin typeface="Arial"/>
                <a:ea typeface="Arial"/>
                <a:cs typeface="Arial"/>
                <a:sym typeface="Arial"/>
              </a:rPr>
              <a:t>Vivado warns: </a:t>
            </a:r>
            <a:r>
              <a:rPr b="1" i="0" lang="en-US" sz="1400" u="none" cap="none" strike="noStrike">
                <a:solidFill>
                  <a:srgbClr val="B5462A"/>
                </a:solidFill>
                <a:latin typeface="Arial"/>
                <a:ea typeface="Arial"/>
                <a:cs typeface="Arial"/>
                <a:sym typeface="Arial"/>
              </a:rPr>
              <a:t>[Synth 8-327] inferring latch</a:t>
            </a:r>
            <a:r>
              <a:rPr b="0" i="0" lang="en-US" sz="1400" u="none" cap="none" strike="noStrike">
                <a:solidFill>
                  <a:srgbClr val="4A4E52"/>
                </a:solidFill>
                <a:latin typeface="Arial"/>
                <a:ea typeface="Arial"/>
                <a:cs typeface="Arial"/>
                <a:sym typeface="Arial"/>
              </a:rPr>
              <a:t>. Never ignore it.</a:t>
            </a:r>
            <a:endParaRPr b="0" i="0" sz="1400" u="none" cap="none" strike="noStrike">
              <a:solidFill>
                <a:schemeClr val="dk1"/>
              </a:solidFill>
              <a:latin typeface="Arial"/>
              <a:ea typeface="Arial"/>
              <a:cs typeface="Arial"/>
              <a:sym typeface="Arial"/>
            </a:endParaRPr>
          </a:p>
        </p:txBody>
      </p:sp>
      <p:sp>
        <p:nvSpPr>
          <p:cNvPr id="246" name="Google Shape;246;p17"/>
          <p:cNvSpPr/>
          <p:nvPr/>
        </p:nvSpPr>
        <p:spPr>
          <a:xfrm>
            <a:off x="736600" y="4948374"/>
            <a:ext cx="4970780" cy="523214"/>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4E52"/>
              </a:buClr>
              <a:buSzPts val="1400"/>
              <a:buFont typeface="Arial"/>
              <a:buNone/>
            </a:pPr>
            <a:r>
              <a:rPr b="1" i="0" lang="en-US" sz="1400" u="none" cap="none" strike="noStrike">
                <a:solidFill>
                  <a:srgbClr val="4A4E52"/>
                </a:solidFill>
                <a:latin typeface="Arial"/>
                <a:ea typeface="Arial"/>
                <a:cs typeface="Arial"/>
                <a:sym typeface="Arial"/>
              </a:rPr>
              <a:t>always_comb</a:t>
            </a:r>
            <a:r>
              <a:rPr b="0" i="0" lang="en-US" sz="1400" u="none" cap="none" strike="noStrike">
                <a:solidFill>
                  <a:srgbClr val="4A4E52"/>
                </a:solidFill>
                <a:latin typeface="Arial"/>
                <a:ea typeface="Arial"/>
                <a:cs typeface="Arial"/>
                <a:sym typeface="Arial"/>
              </a:rPr>
              <a:t> states your intent, so tools flag a latch instead of silently building one.</a:t>
            </a:r>
            <a:endParaRPr b="0" i="0" sz="1400" u="none" cap="none" strike="noStrike">
              <a:solidFill>
                <a:schemeClr val="dk1"/>
              </a:solidFill>
              <a:latin typeface="Arial"/>
              <a:ea typeface="Arial"/>
              <a:cs typeface="Arial"/>
              <a:sym typeface="Arial"/>
            </a:endParaRPr>
          </a:p>
        </p:txBody>
      </p:sp>
      <p:sp>
        <p:nvSpPr>
          <p:cNvPr id="247" name="Google Shape;247;p17"/>
          <p:cNvSpPr/>
          <p:nvPr/>
        </p:nvSpPr>
        <p:spPr>
          <a:xfrm>
            <a:off x="5969000" y="1739900"/>
            <a:ext cx="5410200" cy="3601244"/>
          </a:xfrm>
          <a:prstGeom prst="roundRect">
            <a:avLst>
              <a:gd fmla="val 4232" name="adj"/>
            </a:avLst>
          </a:prstGeom>
          <a:solidFill>
            <a:srgbClr val="2F3237"/>
          </a:solidFill>
          <a:ln>
            <a:noFill/>
          </a:ln>
        </p:spPr>
        <p:txBody>
          <a:bodyPr anchorCtr="0" anchor="t" bIns="183950" lIns="234750" spcFirstLastPara="1" rIns="89200" wrap="square" tIns="209350">
            <a:noAutofit/>
          </a:bodyPr>
          <a:lstStyle/>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always_comb begin</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  </a:t>
            </a:r>
            <a:r>
              <a:rPr b="0" i="0" lang="en-US" sz="1400" u="none" cap="none" strike="noStrike">
                <a:solidFill>
                  <a:srgbClr val="A9C4D6"/>
                </a:solidFill>
                <a:latin typeface="Courier New"/>
                <a:ea typeface="Courier New"/>
                <a:cs typeface="Courier New"/>
                <a:sym typeface="Courier New"/>
              </a:rPr>
              <a:t>// 1. defaults first</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  y = 1'b0;</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  z = 1'b0;</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  case (sel)</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    2'b00: y = a;</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    2'b01: z = b;</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    default: ; </a:t>
            </a:r>
            <a:r>
              <a:rPr b="0" i="0" lang="en-US" sz="1400" u="none" cap="none" strike="noStrike">
                <a:solidFill>
                  <a:srgbClr val="A9C4D6"/>
                </a:solidFill>
                <a:latin typeface="Courier New"/>
                <a:ea typeface="Courier New"/>
                <a:cs typeface="Courier New"/>
                <a:sym typeface="Courier New"/>
              </a:rPr>
              <a:t>// 3.</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  endcase</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end</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A9C4D6"/>
              </a:buClr>
              <a:buSzPts val="1400"/>
              <a:buFont typeface="Courier New"/>
              <a:buNone/>
            </a:pPr>
            <a:r>
              <a:rPr b="0" i="0" lang="en-US" sz="1400" u="none" cap="none" strike="noStrike">
                <a:solidFill>
                  <a:srgbClr val="A9C4D6"/>
                </a:solidFill>
                <a:latin typeface="Courier New"/>
                <a:ea typeface="Courier New"/>
                <a:cs typeface="Courier New"/>
                <a:sym typeface="Courier New"/>
              </a:rPr>
              <a:t>// y and z always have a value</a:t>
            </a:r>
            <a:endParaRPr b="0" i="0" sz="1400" u="none" cap="none" strike="noStrike">
              <a:solidFill>
                <a:schemeClr val="dk1"/>
              </a:solidFill>
              <a:latin typeface="Arial"/>
              <a:ea typeface="Arial"/>
              <a:cs typeface="Arial"/>
              <a:sym typeface="Arial"/>
            </a:endParaRPr>
          </a:p>
        </p:txBody>
      </p:sp>
      <p:sp>
        <p:nvSpPr>
          <p:cNvPr id="248" name="Google Shape;248;p17"/>
          <p:cNvSpPr/>
          <p:nvPr/>
        </p:nvSpPr>
        <p:spPr>
          <a:xfrm>
            <a:off x="10566400" y="6238280"/>
            <a:ext cx="812800" cy="23872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3C4043"/>
              </a:buClr>
              <a:buSzPts val="1200"/>
              <a:buFont typeface="Arial"/>
              <a:buNone/>
            </a:pPr>
            <a:r>
              <a:rPr b="0" i="0" lang="en-US" sz="1200" u="none" cap="none" strike="noStrike">
                <a:solidFill>
                  <a:srgbClr val="3C4043"/>
                </a:solidFill>
                <a:latin typeface="Arial"/>
                <a:ea typeface="Arial"/>
                <a:cs typeface="Arial"/>
                <a:sym typeface="Arial"/>
              </a:rPr>
              <a:t>14</a:t>
            </a:r>
            <a:endParaRPr b="0" i="0" sz="1200" u="none" cap="none" strike="noStrike">
              <a:solidFill>
                <a:schemeClr val="dk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0DC"/>
        </a:solidFill>
      </p:bgPr>
    </p:bg>
    <p:spTree>
      <p:nvGrpSpPr>
        <p:cNvPr id="253" name="Shape 253"/>
        <p:cNvGrpSpPr/>
        <p:nvPr/>
      </p:nvGrpSpPr>
      <p:grpSpPr>
        <a:xfrm>
          <a:off x="0" y="0"/>
          <a:ext cx="0" cy="0"/>
          <a:chOff x="0" y="0"/>
          <a:chExt cx="0" cy="0"/>
        </a:xfrm>
      </p:grpSpPr>
      <p:sp>
        <p:nvSpPr>
          <p:cNvPr id="254" name="Google Shape;254;p18"/>
          <p:cNvSpPr/>
          <p:nvPr/>
        </p:nvSpPr>
        <p:spPr>
          <a:xfrm>
            <a:off x="368300" y="368300"/>
            <a:ext cx="11455400" cy="6134100"/>
          </a:xfrm>
          <a:prstGeom prst="roundRect">
            <a:avLst>
              <a:gd fmla="val 9110" name="adj"/>
            </a:avLst>
          </a:prstGeom>
          <a:solidFill>
            <a:srgbClr val="FFF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8"/>
          <p:cNvSpPr/>
          <p:nvPr/>
        </p:nvSpPr>
        <p:spPr>
          <a:xfrm>
            <a:off x="368300" y="368300"/>
            <a:ext cx="11455400" cy="6134100"/>
          </a:xfrm>
          <a:custGeom>
            <a:rect b="b" l="l" r="r" t="t"/>
            <a:pathLst>
              <a:path extrusionOk="0" h="6134100" w="11455400">
                <a:moveTo>
                  <a:pt x="558800" y="6134100"/>
                </a:moveTo>
                <a:lnTo>
                  <a:pt x="558800" y="6134100"/>
                </a:lnTo>
                <a:cubicBezTo>
                  <a:pt x="250183" y="6134100"/>
                  <a:pt x="0" y="5883917"/>
                  <a:pt x="0" y="5575300"/>
                </a:cubicBezTo>
                <a:lnTo>
                  <a:pt x="0" y="558800"/>
                </a:lnTo>
                <a:cubicBezTo>
                  <a:pt x="0" y="250183"/>
                  <a:pt x="250183" y="0"/>
                  <a:pt x="558800" y="0"/>
                </a:cubicBezTo>
                <a:lnTo>
                  <a:pt x="558800" y="0"/>
                </a:lnTo>
                <a:cubicBezTo>
                  <a:pt x="306295" y="0"/>
                  <a:pt x="101600" y="250183"/>
                  <a:pt x="101600" y="558800"/>
                </a:cubicBezTo>
                <a:lnTo>
                  <a:pt x="101600" y="5575300"/>
                </a:lnTo>
                <a:cubicBezTo>
                  <a:pt x="101600" y="5883917"/>
                  <a:pt x="306295" y="6134100"/>
                  <a:pt x="558800" y="6134100"/>
                </a:cubicBezTo>
                <a:close/>
              </a:path>
            </a:pathLst>
          </a:custGeom>
          <a:solidFill>
            <a:srgbClr val="B546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RIEEE logo" id="256" name="Google Shape;256;p18"/>
          <p:cNvPicPr preferRelativeResize="0"/>
          <p:nvPr/>
        </p:nvPicPr>
        <p:blipFill rotWithShape="1">
          <a:blip r:embed="rId3">
            <a:alphaModFix/>
          </a:blip>
          <a:srcRect b="0" l="-531" r="-531" t="0"/>
          <a:stretch/>
        </p:blipFill>
        <p:spPr>
          <a:xfrm>
            <a:off x="76200" y="50800"/>
            <a:ext cx="1244600" cy="317500"/>
          </a:xfrm>
          <a:prstGeom prst="rect">
            <a:avLst/>
          </a:prstGeom>
          <a:noFill/>
          <a:ln>
            <a:noFill/>
          </a:ln>
        </p:spPr>
      </p:pic>
      <p:pic>
        <p:nvPicPr>
          <p:cNvPr descr="line" id="257" name="Google Shape;257;p18"/>
          <p:cNvPicPr preferRelativeResize="0"/>
          <p:nvPr/>
        </p:nvPicPr>
        <p:blipFill rotWithShape="1">
          <a:blip r:embed="rId4">
            <a:alphaModFix/>
          </a:blip>
          <a:srcRect b="0" l="0" r="0" t="0"/>
          <a:stretch/>
        </p:blipFill>
        <p:spPr>
          <a:xfrm>
            <a:off x="1066800" y="1054100"/>
            <a:ext cx="10071100" cy="25400"/>
          </a:xfrm>
          <a:prstGeom prst="rect">
            <a:avLst/>
          </a:prstGeom>
          <a:noFill/>
          <a:ln>
            <a:noFill/>
          </a:ln>
        </p:spPr>
      </p:pic>
      <p:sp>
        <p:nvSpPr>
          <p:cNvPr id="258" name="Google Shape;258;p18"/>
          <p:cNvSpPr/>
          <p:nvPr/>
        </p:nvSpPr>
        <p:spPr>
          <a:xfrm>
            <a:off x="1066800" y="3429000"/>
            <a:ext cx="5232400" cy="345414"/>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5462A"/>
              </a:buClr>
              <a:buSzPts val="1800"/>
              <a:buFont typeface="Arial"/>
              <a:buNone/>
            </a:pPr>
            <a:r>
              <a:rPr b="1" i="0" lang="en-US" sz="1800" u="none" cap="none" strike="noStrike">
                <a:solidFill>
                  <a:srgbClr val="B5462A"/>
                </a:solidFill>
                <a:latin typeface="Arial"/>
                <a:ea typeface="Arial"/>
                <a:cs typeface="Arial"/>
                <a:sym typeface="Arial"/>
              </a:rPr>
              <a:t>PART 2</a:t>
            </a:r>
            <a:endParaRPr b="0" i="0" sz="1800" u="none" cap="none" strike="noStrike">
              <a:solidFill>
                <a:schemeClr val="dk1"/>
              </a:solidFill>
              <a:latin typeface="Arial"/>
              <a:ea typeface="Arial"/>
              <a:cs typeface="Arial"/>
              <a:sym typeface="Arial"/>
            </a:endParaRPr>
          </a:p>
        </p:txBody>
      </p:sp>
      <p:sp>
        <p:nvSpPr>
          <p:cNvPr id="259" name="Google Shape;259;p18"/>
          <p:cNvSpPr txBox="1"/>
          <p:nvPr>
            <p:ph type="title"/>
          </p:nvPr>
        </p:nvSpPr>
        <p:spPr>
          <a:xfrm>
            <a:off x="1028700" y="3810000"/>
            <a:ext cx="10464800" cy="878814"/>
          </a:xfrm>
          <a:prstGeom prst="rect">
            <a:avLst/>
          </a:prstGeom>
          <a:noFill/>
          <a:ln>
            <a:noFill/>
          </a:ln>
        </p:spPr>
        <p:txBody>
          <a:bodyPr anchorCtr="0" anchor="t" bIns="0" lIns="0" spcFirstLastPara="1" rIns="0" wrap="square" tIns="0">
            <a:normAutofit/>
          </a:bodyPr>
          <a:lstStyle/>
          <a:p>
            <a:pPr indent="0" lvl="0" marL="0" rtl="0" algn="l">
              <a:lnSpc>
                <a:spcPct val="104999"/>
              </a:lnSpc>
              <a:spcBef>
                <a:spcPts val="0"/>
              </a:spcBef>
              <a:spcAft>
                <a:spcPts val="0"/>
              </a:spcAft>
              <a:buClr>
                <a:srgbClr val="3C4043"/>
              </a:buClr>
              <a:buSzPts val="6400"/>
              <a:buFont typeface="Arial"/>
              <a:buNone/>
            </a:pPr>
            <a:r>
              <a:rPr b="0" i="0" lang="en-US" sz="6400">
                <a:solidFill>
                  <a:srgbClr val="3C4043"/>
                </a:solidFill>
                <a:latin typeface="Arial"/>
                <a:ea typeface="Arial"/>
                <a:cs typeface="Arial"/>
                <a:sym typeface="Arial"/>
              </a:rPr>
              <a:t>Sequential Logic</a:t>
            </a:r>
            <a:endParaRPr sz="6400"/>
          </a:p>
        </p:txBody>
      </p:sp>
      <p:sp>
        <p:nvSpPr>
          <p:cNvPr id="260" name="Google Shape;260;p18"/>
          <p:cNvSpPr/>
          <p:nvPr/>
        </p:nvSpPr>
        <p:spPr>
          <a:xfrm>
            <a:off x="1066800" y="4826000"/>
            <a:ext cx="9810750" cy="4165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4E52"/>
              </a:buClr>
              <a:buSzPts val="2200"/>
              <a:buFont typeface="Arial"/>
              <a:buNone/>
            </a:pPr>
            <a:r>
              <a:rPr b="0" i="0" lang="en-US" sz="2200" u="none" cap="none" strike="noStrike">
                <a:solidFill>
                  <a:srgbClr val="4A4E52"/>
                </a:solidFill>
                <a:latin typeface="Arial"/>
                <a:ea typeface="Arial"/>
                <a:cs typeface="Arial"/>
                <a:sym typeface="Arial"/>
              </a:rPr>
              <a:t>Circuits that remember</a:t>
            </a:r>
            <a:endParaRPr b="0" i="0" sz="2200" u="none" cap="none" strike="noStrike">
              <a:solidFill>
                <a:schemeClr val="dk1"/>
              </a:solidFill>
              <a:latin typeface="Arial"/>
              <a:ea typeface="Arial"/>
              <a:cs typeface="Arial"/>
              <a:sym typeface="Arial"/>
            </a:endParaRPr>
          </a:p>
        </p:txBody>
      </p:sp>
      <p:pic>
        <p:nvPicPr>
          <p:cNvPr descr="line" id="261" name="Google Shape;261;p18"/>
          <p:cNvPicPr preferRelativeResize="0"/>
          <p:nvPr/>
        </p:nvPicPr>
        <p:blipFill rotWithShape="1">
          <a:blip r:embed="rId4">
            <a:alphaModFix/>
          </a:blip>
          <a:srcRect b="0" l="0" r="0" t="0"/>
          <a:stretch/>
        </p:blipFill>
        <p:spPr>
          <a:xfrm>
            <a:off x="1066800" y="6019800"/>
            <a:ext cx="10071100" cy="25400"/>
          </a:xfrm>
          <a:prstGeom prst="rect">
            <a:avLst/>
          </a:prstGeom>
          <a:noFill/>
          <a:ln>
            <a:noFill/>
          </a:ln>
        </p:spPr>
      </p:pic>
      <p:sp>
        <p:nvSpPr>
          <p:cNvPr id="262" name="Google Shape;262;p18"/>
          <p:cNvSpPr/>
          <p:nvPr/>
        </p:nvSpPr>
        <p:spPr>
          <a:xfrm>
            <a:off x="10566400" y="6238280"/>
            <a:ext cx="812800" cy="23872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3C4043"/>
              </a:buClr>
              <a:buSzPts val="1200"/>
              <a:buFont typeface="Arial"/>
              <a:buNone/>
            </a:pPr>
            <a:r>
              <a:rPr b="0" i="0" lang="en-US" sz="1200" u="none" cap="none" strike="noStrike">
                <a:solidFill>
                  <a:srgbClr val="3C4043"/>
                </a:solidFill>
                <a:latin typeface="Arial"/>
                <a:ea typeface="Arial"/>
                <a:cs typeface="Arial"/>
                <a:sym typeface="Arial"/>
              </a:rPr>
              <a:t>15</a:t>
            </a:r>
            <a:endParaRPr b="0" i="0" sz="1200" u="none" cap="none" strike="noStrike">
              <a:solidFill>
                <a:schemeClr val="dk1"/>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0DC"/>
        </a:solidFill>
      </p:bgPr>
    </p:bg>
    <p:spTree>
      <p:nvGrpSpPr>
        <p:cNvPr id="267" name="Shape 267"/>
        <p:cNvGrpSpPr/>
        <p:nvPr/>
      </p:nvGrpSpPr>
      <p:grpSpPr>
        <a:xfrm>
          <a:off x="0" y="0"/>
          <a:ext cx="0" cy="0"/>
          <a:chOff x="0" y="0"/>
          <a:chExt cx="0" cy="0"/>
        </a:xfrm>
      </p:grpSpPr>
      <p:sp>
        <p:nvSpPr>
          <p:cNvPr id="268" name="Google Shape;268;p19"/>
          <p:cNvSpPr/>
          <p:nvPr/>
        </p:nvSpPr>
        <p:spPr>
          <a:xfrm>
            <a:off x="114300" y="114300"/>
            <a:ext cx="5886450" cy="381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C4043"/>
              </a:buClr>
              <a:buSzPts val="2000"/>
              <a:buFont typeface="Arial"/>
              <a:buNone/>
            </a:pPr>
            <a:r>
              <a:rPr b="0" i="0" lang="en-US" sz="2000" u="none" cap="none" strike="noStrike">
                <a:solidFill>
                  <a:srgbClr val="3C4043"/>
                </a:solidFill>
                <a:latin typeface="Arial"/>
                <a:ea typeface="Arial"/>
                <a:cs typeface="Arial"/>
                <a:sym typeface="Arial"/>
              </a:rPr>
              <a:t>Sequential Logic</a:t>
            </a:r>
            <a:endParaRPr b="0" i="0" sz="2000" u="none" cap="none" strike="noStrike">
              <a:solidFill>
                <a:schemeClr val="dk1"/>
              </a:solidFill>
              <a:latin typeface="Arial"/>
              <a:ea typeface="Arial"/>
              <a:cs typeface="Arial"/>
              <a:sym typeface="Arial"/>
            </a:endParaRPr>
          </a:p>
        </p:txBody>
      </p:sp>
      <p:sp>
        <p:nvSpPr>
          <p:cNvPr id="269" name="Google Shape;269;p19"/>
          <p:cNvSpPr txBox="1"/>
          <p:nvPr>
            <p:ph type="title"/>
          </p:nvPr>
        </p:nvSpPr>
        <p:spPr>
          <a:xfrm>
            <a:off x="736600" y="762000"/>
            <a:ext cx="10961878" cy="5842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3C4043"/>
              </a:buClr>
              <a:buSzPts val="4000"/>
              <a:buFont typeface="Arial"/>
              <a:buNone/>
            </a:pPr>
            <a:r>
              <a:rPr b="0" i="0" lang="en-US" sz="4000">
                <a:solidFill>
                  <a:srgbClr val="3C4043"/>
                </a:solidFill>
                <a:latin typeface="Arial"/>
                <a:ea typeface="Arial"/>
                <a:cs typeface="Arial"/>
                <a:sym typeface="Arial"/>
              </a:rPr>
              <a:t>State</a:t>
            </a:r>
            <a:endParaRPr sz="4000"/>
          </a:p>
        </p:txBody>
      </p:sp>
      <p:pic>
        <p:nvPicPr>
          <p:cNvPr descr="line" id="270" name="Google Shape;270;p19"/>
          <p:cNvPicPr preferRelativeResize="0"/>
          <p:nvPr/>
        </p:nvPicPr>
        <p:blipFill rotWithShape="1">
          <a:blip r:embed="rId3">
            <a:alphaModFix/>
          </a:blip>
          <a:srcRect b="0" l="0" r="0" t="0"/>
          <a:stretch/>
        </p:blipFill>
        <p:spPr>
          <a:xfrm>
            <a:off x="736600" y="1524000"/>
            <a:ext cx="10642600" cy="12700"/>
          </a:xfrm>
          <a:prstGeom prst="rect">
            <a:avLst/>
          </a:prstGeom>
          <a:noFill/>
          <a:ln>
            <a:noFill/>
          </a:ln>
        </p:spPr>
      </p:pic>
      <p:sp>
        <p:nvSpPr>
          <p:cNvPr id="271" name="Google Shape;271;p19"/>
          <p:cNvSpPr/>
          <p:nvPr/>
        </p:nvSpPr>
        <p:spPr>
          <a:xfrm>
            <a:off x="736600" y="1739900"/>
            <a:ext cx="10961878" cy="76200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3C4043"/>
              </a:buClr>
              <a:buSzPts val="2000"/>
              <a:buFont typeface="Arial"/>
              <a:buNone/>
            </a:pPr>
            <a:r>
              <a:rPr b="1" i="0" lang="en-US" sz="2000" u="none" cap="none" strike="noStrike">
                <a:solidFill>
                  <a:srgbClr val="3C4043"/>
                </a:solidFill>
                <a:latin typeface="Arial"/>
                <a:ea typeface="Arial"/>
                <a:cs typeface="Arial"/>
                <a:sym typeface="Arial"/>
              </a:rPr>
              <a:t>State</a:t>
            </a:r>
            <a:r>
              <a:rPr b="0" i="0" lang="en-US" sz="2000" u="none" cap="none" strike="noStrike">
                <a:solidFill>
                  <a:srgbClr val="3C4043"/>
                </a:solidFill>
                <a:latin typeface="Arial"/>
                <a:ea typeface="Arial"/>
                <a:cs typeface="Arial"/>
                <a:sym typeface="Arial"/>
              </a:rPr>
              <a:t> = what the circuit remembers about the past. Same inputs, different history → different output.</a:t>
            </a:r>
            <a:endParaRPr b="0" i="0" sz="2000" u="none" cap="none" strike="noStrike">
              <a:solidFill>
                <a:schemeClr val="dk1"/>
              </a:solidFill>
              <a:latin typeface="Arial"/>
              <a:ea typeface="Arial"/>
              <a:cs typeface="Arial"/>
              <a:sym typeface="Arial"/>
            </a:endParaRPr>
          </a:p>
        </p:txBody>
      </p:sp>
      <p:sp>
        <p:nvSpPr>
          <p:cNvPr id="272" name="Google Shape;272;p19"/>
          <p:cNvSpPr/>
          <p:nvPr/>
        </p:nvSpPr>
        <p:spPr>
          <a:xfrm>
            <a:off x="736600" y="2679700"/>
            <a:ext cx="3395133" cy="1341041"/>
          </a:xfrm>
          <a:prstGeom prst="roundRect">
            <a:avLst>
              <a:gd fmla="val 11364" name="adj"/>
            </a:avLst>
          </a:prstGeom>
          <a:solidFill>
            <a:srgbClr val="FFF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9"/>
          <p:cNvSpPr/>
          <p:nvPr/>
        </p:nvSpPr>
        <p:spPr>
          <a:xfrm>
            <a:off x="736600" y="2679700"/>
            <a:ext cx="3395133" cy="1341041"/>
          </a:xfrm>
          <a:custGeom>
            <a:rect b="b" l="l" r="r" t="t"/>
            <a:pathLst>
              <a:path extrusionOk="0" h="1341041" w="3395133">
                <a:moveTo>
                  <a:pt x="0" y="152400"/>
                </a:moveTo>
                <a:lnTo>
                  <a:pt x="0" y="152400"/>
                </a:lnTo>
                <a:cubicBezTo>
                  <a:pt x="0" y="68232"/>
                  <a:pt x="68232" y="0"/>
                  <a:pt x="152400" y="0"/>
                </a:cubicBezTo>
                <a:lnTo>
                  <a:pt x="3242733" y="0"/>
                </a:lnTo>
                <a:cubicBezTo>
                  <a:pt x="3283152" y="0"/>
                  <a:pt x="3321916" y="16056"/>
                  <a:pt x="3350496" y="44637"/>
                </a:cubicBezTo>
                <a:cubicBezTo>
                  <a:pt x="3379077" y="73217"/>
                  <a:pt x="3395133" y="111981"/>
                  <a:pt x="3395133" y="152400"/>
                </a:cubicBezTo>
                <a:lnTo>
                  <a:pt x="3395133" y="152400"/>
                </a:lnTo>
                <a:cubicBezTo>
                  <a:pt x="3395133" y="96288"/>
                  <a:pt x="3326901" y="50800"/>
                  <a:pt x="3242733" y="50800"/>
                </a:cubicBezTo>
                <a:lnTo>
                  <a:pt x="152400" y="50800"/>
                </a:lnTo>
                <a:cubicBezTo>
                  <a:pt x="68232" y="50800"/>
                  <a:pt x="0" y="96288"/>
                  <a:pt x="0" y="152400"/>
                </a:cubicBezTo>
                <a:close/>
              </a:path>
            </a:pathLst>
          </a:custGeom>
          <a:solidFill>
            <a:srgbClr val="B546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9"/>
          <p:cNvSpPr/>
          <p:nvPr/>
        </p:nvSpPr>
        <p:spPr>
          <a:xfrm>
            <a:off x="965200" y="2959100"/>
            <a:ext cx="3026071" cy="284427"/>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3C4043"/>
              </a:buClr>
              <a:buSzPts val="1700"/>
              <a:buFont typeface="Arial"/>
              <a:buNone/>
            </a:pPr>
            <a:r>
              <a:rPr b="1" i="0" lang="en-US" sz="1700" u="none" cap="none" strike="noStrike">
                <a:solidFill>
                  <a:srgbClr val="3C4043"/>
                </a:solidFill>
                <a:latin typeface="Arial"/>
                <a:ea typeface="Arial"/>
                <a:cs typeface="Arial"/>
                <a:sym typeface="Arial"/>
              </a:rPr>
              <a:t>Traffic light</a:t>
            </a:r>
            <a:endParaRPr b="0" i="0" sz="1700" u="none" cap="none" strike="noStrike">
              <a:solidFill>
                <a:schemeClr val="dk1"/>
              </a:solidFill>
              <a:latin typeface="Arial"/>
              <a:ea typeface="Arial"/>
              <a:cs typeface="Arial"/>
              <a:sym typeface="Arial"/>
            </a:endParaRPr>
          </a:p>
        </p:txBody>
      </p:sp>
      <p:sp>
        <p:nvSpPr>
          <p:cNvPr id="275" name="Google Shape;275;p19"/>
          <p:cNvSpPr/>
          <p:nvPr/>
        </p:nvSpPr>
        <p:spPr>
          <a:xfrm>
            <a:off x="965200" y="3294335"/>
            <a:ext cx="3026071" cy="523214"/>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4E52"/>
              </a:buClr>
              <a:buSzPts val="1400"/>
              <a:buFont typeface="Arial"/>
              <a:buNone/>
            </a:pPr>
            <a:r>
              <a:rPr b="0" i="0" lang="en-US" sz="1400" u="none" cap="none" strike="noStrike">
                <a:solidFill>
                  <a:srgbClr val="4A4E52"/>
                </a:solidFill>
                <a:latin typeface="Arial"/>
                <a:ea typeface="Arial"/>
                <a:cs typeface="Arial"/>
                <a:sym typeface="Arial"/>
              </a:rPr>
              <a:t>Remembers which color it is showing now</a:t>
            </a:r>
            <a:endParaRPr b="0" i="0" sz="1400" u="none" cap="none" strike="noStrike">
              <a:solidFill>
                <a:schemeClr val="dk1"/>
              </a:solidFill>
              <a:latin typeface="Arial"/>
              <a:ea typeface="Arial"/>
              <a:cs typeface="Arial"/>
              <a:sym typeface="Arial"/>
            </a:endParaRPr>
          </a:p>
        </p:txBody>
      </p:sp>
      <p:sp>
        <p:nvSpPr>
          <p:cNvPr id="276" name="Google Shape;276;p19"/>
          <p:cNvSpPr/>
          <p:nvPr/>
        </p:nvSpPr>
        <p:spPr>
          <a:xfrm>
            <a:off x="4360333" y="2679700"/>
            <a:ext cx="3395133" cy="1341041"/>
          </a:xfrm>
          <a:prstGeom prst="roundRect">
            <a:avLst>
              <a:gd fmla="val 11364" name="adj"/>
            </a:avLst>
          </a:prstGeom>
          <a:solidFill>
            <a:srgbClr val="FFF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19"/>
          <p:cNvSpPr/>
          <p:nvPr/>
        </p:nvSpPr>
        <p:spPr>
          <a:xfrm>
            <a:off x="4360333" y="2679700"/>
            <a:ext cx="3395133" cy="1341041"/>
          </a:xfrm>
          <a:custGeom>
            <a:rect b="b" l="l" r="r" t="t"/>
            <a:pathLst>
              <a:path extrusionOk="0" h="1341041" w="3395133">
                <a:moveTo>
                  <a:pt x="0" y="152400"/>
                </a:moveTo>
                <a:lnTo>
                  <a:pt x="0" y="152400"/>
                </a:lnTo>
                <a:cubicBezTo>
                  <a:pt x="0" y="68232"/>
                  <a:pt x="68232" y="0"/>
                  <a:pt x="152400" y="0"/>
                </a:cubicBezTo>
                <a:lnTo>
                  <a:pt x="3242733" y="0"/>
                </a:lnTo>
                <a:cubicBezTo>
                  <a:pt x="3283152" y="0"/>
                  <a:pt x="3321916" y="16056"/>
                  <a:pt x="3350496" y="44637"/>
                </a:cubicBezTo>
                <a:cubicBezTo>
                  <a:pt x="3379077" y="73217"/>
                  <a:pt x="3395133" y="111981"/>
                  <a:pt x="3395133" y="152400"/>
                </a:cubicBezTo>
                <a:lnTo>
                  <a:pt x="3395133" y="152400"/>
                </a:lnTo>
                <a:cubicBezTo>
                  <a:pt x="3395133" y="96288"/>
                  <a:pt x="3326901" y="50800"/>
                  <a:pt x="3242733" y="50800"/>
                </a:cubicBezTo>
                <a:lnTo>
                  <a:pt x="152400" y="50800"/>
                </a:lnTo>
                <a:cubicBezTo>
                  <a:pt x="68232" y="50800"/>
                  <a:pt x="0" y="96288"/>
                  <a:pt x="0" y="152400"/>
                </a:cubicBezTo>
                <a:close/>
              </a:path>
            </a:pathLst>
          </a:custGeom>
          <a:solidFill>
            <a:srgbClr val="B546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9"/>
          <p:cNvSpPr/>
          <p:nvPr/>
        </p:nvSpPr>
        <p:spPr>
          <a:xfrm>
            <a:off x="4588933" y="2959100"/>
            <a:ext cx="3026071" cy="284427"/>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3C4043"/>
              </a:buClr>
              <a:buSzPts val="1700"/>
              <a:buFont typeface="Arial"/>
              <a:buNone/>
            </a:pPr>
            <a:r>
              <a:rPr b="1" i="0" lang="en-US" sz="1700" u="none" cap="none" strike="noStrike">
                <a:solidFill>
                  <a:srgbClr val="3C4043"/>
                </a:solidFill>
                <a:latin typeface="Arial"/>
                <a:ea typeface="Arial"/>
                <a:cs typeface="Arial"/>
                <a:sym typeface="Arial"/>
              </a:rPr>
              <a:t>Vending machine</a:t>
            </a:r>
            <a:endParaRPr b="0" i="0" sz="1700" u="none" cap="none" strike="noStrike">
              <a:solidFill>
                <a:schemeClr val="dk1"/>
              </a:solidFill>
              <a:latin typeface="Arial"/>
              <a:ea typeface="Arial"/>
              <a:cs typeface="Arial"/>
              <a:sym typeface="Arial"/>
            </a:endParaRPr>
          </a:p>
        </p:txBody>
      </p:sp>
      <p:sp>
        <p:nvSpPr>
          <p:cNvPr id="279" name="Google Shape;279;p19"/>
          <p:cNvSpPr/>
          <p:nvPr/>
        </p:nvSpPr>
        <p:spPr>
          <a:xfrm>
            <a:off x="4588933" y="3294335"/>
            <a:ext cx="3026071" cy="523214"/>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4E52"/>
              </a:buClr>
              <a:buSzPts val="1400"/>
              <a:buFont typeface="Arial"/>
              <a:buNone/>
            </a:pPr>
            <a:r>
              <a:rPr b="0" i="0" lang="en-US" sz="1400" u="none" cap="none" strike="noStrike">
                <a:solidFill>
                  <a:srgbClr val="4A4E52"/>
                </a:solidFill>
                <a:latin typeface="Arial"/>
                <a:ea typeface="Arial"/>
                <a:cs typeface="Arial"/>
                <a:sym typeface="Arial"/>
              </a:rPr>
              <a:t>Remembers how much money is inserted</a:t>
            </a:r>
            <a:endParaRPr b="0" i="0" sz="1400" u="none" cap="none" strike="noStrike">
              <a:solidFill>
                <a:schemeClr val="dk1"/>
              </a:solidFill>
              <a:latin typeface="Arial"/>
              <a:ea typeface="Arial"/>
              <a:cs typeface="Arial"/>
              <a:sym typeface="Arial"/>
            </a:endParaRPr>
          </a:p>
        </p:txBody>
      </p:sp>
      <p:sp>
        <p:nvSpPr>
          <p:cNvPr id="280" name="Google Shape;280;p19"/>
          <p:cNvSpPr/>
          <p:nvPr/>
        </p:nvSpPr>
        <p:spPr>
          <a:xfrm>
            <a:off x="7984067" y="2679700"/>
            <a:ext cx="3395133" cy="1341041"/>
          </a:xfrm>
          <a:prstGeom prst="roundRect">
            <a:avLst>
              <a:gd fmla="val 11364" name="adj"/>
            </a:avLst>
          </a:prstGeom>
          <a:solidFill>
            <a:srgbClr val="FFF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9"/>
          <p:cNvSpPr/>
          <p:nvPr/>
        </p:nvSpPr>
        <p:spPr>
          <a:xfrm>
            <a:off x="7984067" y="2679700"/>
            <a:ext cx="3395133" cy="1341041"/>
          </a:xfrm>
          <a:custGeom>
            <a:rect b="b" l="l" r="r" t="t"/>
            <a:pathLst>
              <a:path extrusionOk="0" h="1341041" w="3395133">
                <a:moveTo>
                  <a:pt x="0" y="152400"/>
                </a:moveTo>
                <a:lnTo>
                  <a:pt x="0" y="152400"/>
                </a:lnTo>
                <a:cubicBezTo>
                  <a:pt x="0" y="68232"/>
                  <a:pt x="68232" y="0"/>
                  <a:pt x="152400" y="0"/>
                </a:cubicBezTo>
                <a:lnTo>
                  <a:pt x="3242733" y="0"/>
                </a:lnTo>
                <a:cubicBezTo>
                  <a:pt x="3283152" y="0"/>
                  <a:pt x="3321916" y="16056"/>
                  <a:pt x="3350496" y="44637"/>
                </a:cubicBezTo>
                <a:cubicBezTo>
                  <a:pt x="3379077" y="73217"/>
                  <a:pt x="3395133" y="111981"/>
                  <a:pt x="3395133" y="152400"/>
                </a:cubicBezTo>
                <a:lnTo>
                  <a:pt x="3395133" y="152400"/>
                </a:lnTo>
                <a:cubicBezTo>
                  <a:pt x="3395133" y="96288"/>
                  <a:pt x="3326901" y="50800"/>
                  <a:pt x="3242733" y="50800"/>
                </a:cubicBezTo>
                <a:lnTo>
                  <a:pt x="152400" y="50800"/>
                </a:lnTo>
                <a:cubicBezTo>
                  <a:pt x="68232" y="50800"/>
                  <a:pt x="0" y="96288"/>
                  <a:pt x="0" y="152400"/>
                </a:cubicBezTo>
                <a:close/>
              </a:path>
            </a:pathLst>
          </a:custGeom>
          <a:solidFill>
            <a:srgbClr val="B546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9"/>
          <p:cNvSpPr/>
          <p:nvPr/>
        </p:nvSpPr>
        <p:spPr>
          <a:xfrm>
            <a:off x="8212667" y="2959100"/>
            <a:ext cx="3026071" cy="284427"/>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3C4043"/>
              </a:buClr>
              <a:buSzPts val="1700"/>
              <a:buFont typeface="Arial"/>
              <a:buNone/>
            </a:pPr>
            <a:r>
              <a:rPr b="1" i="0" lang="en-US" sz="1700" u="none" cap="none" strike="noStrike">
                <a:solidFill>
                  <a:srgbClr val="3C4043"/>
                </a:solidFill>
                <a:latin typeface="Arial"/>
                <a:ea typeface="Arial"/>
                <a:cs typeface="Arial"/>
                <a:sym typeface="Arial"/>
              </a:rPr>
              <a:t>Counter</a:t>
            </a:r>
            <a:endParaRPr b="0" i="0" sz="1700" u="none" cap="none" strike="noStrike">
              <a:solidFill>
                <a:schemeClr val="dk1"/>
              </a:solidFill>
              <a:latin typeface="Arial"/>
              <a:ea typeface="Arial"/>
              <a:cs typeface="Arial"/>
              <a:sym typeface="Arial"/>
            </a:endParaRPr>
          </a:p>
        </p:txBody>
      </p:sp>
      <p:sp>
        <p:nvSpPr>
          <p:cNvPr id="283" name="Google Shape;283;p19"/>
          <p:cNvSpPr/>
          <p:nvPr/>
        </p:nvSpPr>
        <p:spPr>
          <a:xfrm>
            <a:off x="8212667" y="3294335"/>
            <a:ext cx="3026071" cy="274307"/>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4E52"/>
              </a:buClr>
              <a:buSzPts val="1400"/>
              <a:buFont typeface="Arial"/>
              <a:buNone/>
            </a:pPr>
            <a:r>
              <a:rPr b="0" i="0" lang="en-US" sz="1400" u="none" cap="none" strike="noStrike">
                <a:solidFill>
                  <a:srgbClr val="4A4E52"/>
                </a:solidFill>
                <a:latin typeface="Arial"/>
                <a:ea typeface="Arial"/>
                <a:cs typeface="Arial"/>
                <a:sym typeface="Arial"/>
              </a:rPr>
              <a:t>Remembers the current count</a:t>
            </a:r>
            <a:endParaRPr b="0" i="0" sz="1400" u="none" cap="none" strike="noStrike">
              <a:solidFill>
                <a:schemeClr val="dk1"/>
              </a:solidFill>
              <a:latin typeface="Arial"/>
              <a:ea typeface="Arial"/>
              <a:cs typeface="Arial"/>
              <a:sym typeface="Arial"/>
            </a:endParaRPr>
          </a:p>
        </p:txBody>
      </p:sp>
      <p:sp>
        <p:nvSpPr>
          <p:cNvPr id="284" name="Google Shape;284;p19"/>
          <p:cNvSpPr/>
          <p:nvPr/>
        </p:nvSpPr>
        <p:spPr>
          <a:xfrm>
            <a:off x="736600" y="4223941"/>
            <a:ext cx="10642600" cy="640027"/>
          </a:xfrm>
          <a:prstGeom prst="roundRect">
            <a:avLst>
              <a:gd fmla="val 19843" name="adj"/>
            </a:avLst>
          </a:prstGeom>
          <a:solidFill>
            <a:srgbClr val="2F32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9"/>
          <p:cNvSpPr/>
          <p:nvPr/>
        </p:nvSpPr>
        <p:spPr>
          <a:xfrm>
            <a:off x="990600" y="4401741"/>
            <a:ext cx="3642377" cy="309827"/>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5E9D6"/>
              </a:buClr>
              <a:buSzPts val="1600"/>
              <a:buFont typeface="Courier New"/>
              <a:buNone/>
            </a:pPr>
            <a:r>
              <a:rPr b="0" i="0" lang="en-US" sz="1600" u="none" cap="none" strike="noStrike">
                <a:solidFill>
                  <a:srgbClr val="F5E9D6"/>
                </a:solidFill>
                <a:latin typeface="Courier New"/>
                <a:ea typeface="Courier New"/>
                <a:cs typeface="Courier New"/>
                <a:sym typeface="Courier New"/>
              </a:rPr>
              <a:t>next_state = f(state, inputs)</a:t>
            </a:r>
            <a:endParaRPr b="0" i="0" sz="1600" u="none" cap="none" strike="noStrike">
              <a:solidFill>
                <a:schemeClr val="dk1"/>
              </a:solidFill>
              <a:latin typeface="Arial"/>
              <a:ea typeface="Arial"/>
              <a:cs typeface="Arial"/>
              <a:sym typeface="Arial"/>
            </a:endParaRPr>
          </a:p>
        </p:txBody>
      </p:sp>
      <p:sp>
        <p:nvSpPr>
          <p:cNvPr id="286" name="Google Shape;286;p19"/>
          <p:cNvSpPr/>
          <p:nvPr/>
        </p:nvSpPr>
        <p:spPr>
          <a:xfrm>
            <a:off x="4653889" y="4419476"/>
            <a:ext cx="5775722" cy="274307"/>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9C4D6"/>
              </a:buClr>
              <a:buSzPts val="1400"/>
              <a:buFont typeface="Arial"/>
              <a:buNone/>
            </a:pPr>
            <a:r>
              <a:rPr b="0" i="0" lang="en-US" sz="1400" u="none" cap="none" strike="noStrike">
                <a:solidFill>
                  <a:srgbClr val="A9C4D6"/>
                </a:solidFill>
                <a:latin typeface="Arial"/>
                <a:ea typeface="Arial"/>
                <a:cs typeface="Arial"/>
                <a:sym typeface="Arial"/>
              </a:rPr>
              <a:t>← combinational logic, stored in flip-flops on each clock edge</a:t>
            </a:r>
            <a:endParaRPr b="0" i="0" sz="1400" u="none" cap="none" strike="noStrike">
              <a:solidFill>
                <a:schemeClr val="dk1"/>
              </a:solidFill>
              <a:latin typeface="Arial"/>
              <a:ea typeface="Arial"/>
              <a:cs typeface="Arial"/>
              <a:sym typeface="Arial"/>
            </a:endParaRPr>
          </a:p>
        </p:txBody>
      </p:sp>
      <p:sp>
        <p:nvSpPr>
          <p:cNvPr id="287" name="Google Shape;287;p19"/>
          <p:cNvSpPr/>
          <p:nvPr/>
        </p:nvSpPr>
        <p:spPr>
          <a:xfrm>
            <a:off x="10566400" y="6238280"/>
            <a:ext cx="812800" cy="23872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3C4043"/>
              </a:buClr>
              <a:buSzPts val="1200"/>
              <a:buFont typeface="Arial"/>
              <a:buNone/>
            </a:pPr>
            <a:r>
              <a:rPr b="0" i="0" lang="en-US" sz="1200" u="none" cap="none" strike="noStrike">
                <a:solidFill>
                  <a:srgbClr val="3C4043"/>
                </a:solidFill>
                <a:latin typeface="Arial"/>
                <a:ea typeface="Arial"/>
                <a:cs typeface="Arial"/>
                <a:sym typeface="Arial"/>
              </a:rPr>
              <a:t>16</a:t>
            </a:r>
            <a:endParaRPr b="0" i="0" sz="1200" u="none" cap="none" strike="noStrike">
              <a:solidFill>
                <a:schemeClr val="dk1"/>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0DC"/>
        </a:solidFill>
      </p:bgPr>
    </p:bg>
    <p:spTree>
      <p:nvGrpSpPr>
        <p:cNvPr id="292" name="Shape 292"/>
        <p:cNvGrpSpPr/>
        <p:nvPr/>
      </p:nvGrpSpPr>
      <p:grpSpPr>
        <a:xfrm>
          <a:off x="0" y="0"/>
          <a:ext cx="0" cy="0"/>
          <a:chOff x="0" y="0"/>
          <a:chExt cx="0" cy="0"/>
        </a:xfrm>
      </p:grpSpPr>
      <p:sp>
        <p:nvSpPr>
          <p:cNvPr id="293" name="Google Shape;293;p20"/>
          <p:cNvSpPr/>
          <p:nvPr/>
        </p:nvSpPr>
        <p:spPr>
          <a:xfrm>
            <a:off x="114300" y="114300"/>
            <a:ext cx="5886450" cy="381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C4043"/>
              </a:buClr>
              <a:buSzPts val="2000"/>
              <a:buFont typeface="Arial"/>
              <a:buNone/>
            </a:pPr>
            <a:r>
              <a:rPr b="0" i="0" lang="en-US" sz="2000" u="none" cap="none" strike="noStrike">
                <a:solidFill>
                  <a:srgbClr val="3C4043"/>
                </a:solidFill>
                <a:latin typeface="Arial"/>
                <a:ea typeface="Arial"/>
                <a:cs typeface="Arial"/>
                <a:sym typeface="Arial"/>
              </a:rPr>
              <a:t>Sequential Logic</a:t>
            </a:r>
            <a:endParaRPr b="0" i="0" sz="2000" u="none" cap="none" strike="noStrike">
              <a:solidFill>
                <a:schemeClr val="dk1"/>
              </a:solidFill>
              <a:latin typeface="Arial"/>
              <a:ea typeface="Arial"/>
              <a:cs typeface="Arial"/>
              <a:sym typeface="Arial"/>
            </a:endParaRPr>
          </a:p>
        </p:txBody>
      </p:sp>
      <p:sp>
        <p:nvSpPr>
          <p:cNvPr id="294" name="Google Shape;294;p20"/>
          <p:cNvSpPr txBox="1"/>
          <p:nvPr>
            <p:ph type="title"/>
          </p:nvPr>
        </p:nvSpPr>
        <p:spPr>
          <a:xfrm>
            <a:off x="736600" y="762000"/>
            <a:ext cx="10961878" cy="5842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3C4043"/>
              </a:buClr>
              <a:buSzPts val="4000"/>
              <a:buFont typeface="Arial"/>
              <a:buNone/>
            </a:pPr>
            <a:r>
              <a:rPr b="0" i="0" lang="en-US" sz="4000">
                <a:solidFill>
                  <a:srgbClr val="3C4043"/>
                </a:solidFill>
                <a:latin typeface="Arial"/>
                <a:ea typeface="Arial"/>
                <a:cs typeface="Arial"/>
                <a:sym typeface="Arial"/>
              </a:rPr>
              <a:t>Flip-Flops</a:t>
            </a:r>
            <a:endParaRPr sz="4000"/>
          </a:p>
        </p:txBody>
      </p:sp>
      <p:pic>
        <p:nvPicPr>
          <p:cNvPr descr="line" id="295" name="Google Shape;295;p20"/>
          <p:cNvPicPr preferRelativeResize="0"/>
          <p:nvPr/>
        </p:nvPicPr>
        <p:blipFill rotWithShape="1">
          <a:blip r:embed="rId3">
            <a:alphaModFix/>
          </a:blip>
          <a:srcRect b="0" l="0" r="0" t="0"/>
          <a:stretch/>
        </p:blipFill>
        <p:spPr>
          <a:xfrm>
            <a:off x="736600" y="1524000"/>
            <a:ext cx="10642600" cy="12700"/>
          </a:xfrm>
          <a:prstGeom prst="rect">
            <a:avLst/>
          </a:prstGeom>
          <a:noFill/>
          <a:ln>
            <a:noFill/>
          </a:ln>
        </p:spPr>
      </p:pic>
      <p:sp>
        <p:nvSpPr>
          <p:cNvPr id="296" name="Google Shape;296;p20"/>
          <p:cNvSpPr/>
          <p:nvPr/>
        </p:nvSpPr>
        <p:spPr>
          <a:xfrm>
            <a:off x="736600" y="1739900"/>
            <a:ext cx="4970780" cy="688314"/>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3C4043"/>
              </a:buClr>
              <a:buSzPts val="1800"/>
              <a:buFont typeface="Arial"/>
              <a:buNone/>
            </a:pPr>
            <a:r>
              <a:rPr b="0" i="0" lang="en-US" sz="1800" u="none" cap="none" strike="noStrike">
                <a:solidFill>
                  <a:srgbClr val="3C4043"/>
                </a:solidFill>
                <a:latin typeface="Arial"/>
                <a:ea typeface="Arial"/>
                <a:cs typeface="Arial"/>
                <a:sym typeface="Arial"/>
              </a:rPr>
              <a:t>The </a:t>
            </a:r>
            <a:r>
              <a:rPr b="1" i="0" lang="en-US" sz="1800" u="none" cap="none" strike="noStrike">
                <a:solidFill>
                  <a:srgbClr val="3C4043"/>
                </a:solidFill>
                <a:latin typeface="Arial"/>
                <a:ea typeface="Arial"/>
                <a:cs typeface="Arial"/>
                <a:sym typeface="Arial"/>
              </a:rPr>
              <a:t>D flip-flop</a:t>
            </a:r>
            <a:r>
              <a:rPr b="0" i="0" lang="en-US" sz="1800" u="none" cap="none" strike="noStrike">
                <a:solidFill>
                  <a:srgbClr val="3C4043"/>
                </a:solidFill>
                <a:latin typeface="Arial"/>
                <a:ea typeface="Arial"/>
                <a:cs typeface="Arial"/>
                <a:sym typeface="Arial"/>
              </a:rPr>
              <a:t> stores 1 bit. On the rising clock edge, Q copies D. Otherwise Q holds.</a:t>
            </a:r>
            <a:endParaRPr b="0" i="0" sz="1800" u="none" cap="none" strike="noStrike">
              <a:solidFill>
                <a:schemeClr val="dk1"/>
              </a:solidFill>
              <a:latin typeface="Arial"/>
              <a:ea typeface="Arial"/>
              <a:cs typeface="Arial"/>
              <a:sym typeface="Arial"/>
            </a:endParaRPr>
          </a:p>
        </p:txBody>
      </p:sp>
      <p:sp>
        <p:nvSpPr>
          <p:cNvPr id="297" name="Google Shape;297;p20"/>
          <p:cNvSpPr/>
          <p:nvPr/>
        </p:nvSpPr>
        <p:spPr>
          <a:xfrm>
            <a:off x="736600" y="2580618"/>
            <a:ext cx="4826000" cy="1250950"/>
          </a:xfrm>
          <a:prstGeom prst="rect">
            <a:avLst/>
          </a:prstGeom>
          <a:solidFill>
            <a:srgbClr val="FFF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aphicFrame>
        <p:nvGraphicFramePr>
          <p:cNvPr id="298" name="Google Shape;298;p20"/>
          <p:cNvGraphicFramePr/>
          <p:nvPr/>
        </p:nvGraphicFramePr>
        <p:xfrm>
          <a:off x="749300" y="2593318"/>
          <a:ext cx="3000000" cy="3000000"/>
        </p:xfrm>
        <a:graphic>
          <a:graphicData uri="http://schemas.openxmlformats.org/drawingml/2006/table">
            <a:tbl>
              <a:tblPr>
                <a:noFill/>
                <a:tableStyleId>{BA11AAC2-A7CE-4588-8191-665CEFB64C56}</a:tableStyleId>
              </a:tblPr>
              <a:tblGrid>
                <a:gridCol w="2647325"/>
                <a:gridCol w="2165975"/>
              </a:tblGrid>
              <a:tr h="412750">
                <a:tc>
                  <a:txBody>
                    <a:bodyPr/>
                    <a:lstStyle/>
                    <a:p>
                      <a:pPr indent="0" lvl="0" marL="0" marR="0" rtl="0" algn="ctr">
                        <a:lnSpc>
                          <a:spcPct val="140000"/>
                        </a:lnSpc>
                        <a:spcBef>
                          <a:spcPts val="0"/>
                        </a:spcBef>
                        <a:spcAft>
                          <a:spcPts val="0"/>
                        </a:spcAft>
                        <a:buClr>
                          <a:srgbClr val="3C4043"/>
                        </a:buClr>
                        <a:buSzPts val="1500"/>
                        <a:buFont typeface="Arial"/>
                        <a:buNone/>
                      </a:pPr>
                      <a:r>
                        <a:rPr b="1" lang="en-US" sz="1500" u="none" cap="none" strike="noStrike">
                          <a:solidFill>
                            <a:srgbClr val="3C4043"/>
                          </a:solidFill>
                          <a:latin typeface="Arial"/>
                          <a:ea typeface="Arial"/>
                          <a:cs typeface="Arial"/>
                          <a:sym typeface="Arial"/>
                        </a:rPr>
                        <a:t>clk</a:t>
                      </a:r>
                      <a:endParaRPr sz="1500" u="none" cap="none" strike="noStrike">
                        <a:latin typeface="Arial"/>
                        <a:ea typeface="Arial"/>
                        <a:cs typeface="Arial"/>
                        <a:sym typeface="Arial"/>
                      </a:endParaRPr>
                    </a:p>
                  </a:txBody>
                  <a:tcPr marT="66675" marB="66675" marR="66675" marL="66675">
                    <a:lnL cap="flat" cmpd="sng" w="12700">
                      <a:solidFill>
                        <a:srgbClr val="CBC6BF"/>
                      </a:solidFill>
                      <a:prstDash val="solid"/>
                      <a:round/>
                      <a:headEnd len="sm" w="sm" type="none"/>
                      <a:tailEnd len="sm" w="sm" type="none"/>
                    </a:lnL>
                    <a:lnR cap="flat" cmpd="sng" w="12700">
                      <a:solidFill>
                        <a:srgbClr val="BCB8B1"/>
                      </a:solidFill>
                      <a:prstDash val="solid"/>
                      <a:round/>
                      <a:headEnd len="sm" w="sm" type="none"/>
                      <a:tailEnd len="sm" w="sm" type="none"/>
                    </a:lnR>
                    <a:lnT cap="flat" cmpd="sng" w="12700">
                      <a:solidFill>
                        <a:srgbClr val="CBC6BF"/>
                      </a:solidFill>
                      <a:prstDash val="solid"/>
                      <a:round/>
                      <a:headEnd len="sm" w="sm" type="none"/>
                      <a:tailEnd len="sm" w="sm" type="none"/>
                    </a:lnT>
                    <a:lnB cap="flat" cmpd="sng" w="12700">
                      <a:solidFill>
                        <a:srgbClr val="BCB8B1"/>
                      </a:solidFill>
                      <a:prstDash val="solid"/>
                      <a:round/>
                      <a:headEnd len="sm" w="sm" type="none"/>
                      <a:tailEnd len="sm" w="sm" type="none"/>
                    </a:lnB>
                    <a:solidFill>
                      <a:srgbClr val="ECE6DE"/>
                    </a:solidFill>
                  </a:tcPr>
                </a:tc>
                <a:tc>
                  <a:txBody>
                    <a:bodyPr/>
                    <a:lstStyle/>
                    <a:p>
                      <a:pPr indent="0" lvl="0" marL="0" marR="0" rtl="0" algn="ctr">
                        <a:lnSpc>
                          <a:spcPct val="140000"/>
                        </a:lnSpc>
                        <a:spcBef>
                          <a:spcPts val="0"/>
                        </a:spcBef>
                        <a:spcAft>
                          <a:spcPts val="0"/>
                        </a:spcAft>
                        <a:buClr>
                          <a:srgbClr val="3C4043"/>
                        </a:buClr>
                        <a:buSzPts val="1500"/>
                        <a:buFont typeface="Arial"/>
                        <a:buNone/>
                      </a:pPr>
                      <a:r>
                        <a:rPr b="1" lang="en-US" sz="1500" u="none" cap="none" strike="noStrike">
                          <a:solidFill>
                            <a:srgbClr val="3C4043"/>
                          </a:solidFill>
                          <a:latin typeface="Arial"/>
                          <a:ea typeface="Arial"/>
                          <a:cs typeface="Arial"/>
                          <a:sym typeface="Arial"/>
                        </a:rPr>
                        <a:t>Q next</a:t>
                      </a:r>
                      <a:endParaRPr sz="1500" u="none" cap="none" strike="noStrike">
                        <a:latin typeface="Arial"/>
                        <a:ea typeface="Arial"/>
                        <a:cs typeface="Arial"/>
                        <a:sym typeface="Arial"/>
                      </a:endParaRPr>
                    </a:p>
                  </a:txBody>
                  <a:tcPr marT="66675" marB="66675" marR="66675" marL="66675">
                    <a:lnL cap="flat" cmpd="sng" w="12700">
                      <a:solidFill>
                        <a:srgbClr val="BCB8B1"/>
                      </a:solidFill>
                      <a:prstDash val="solid"/>
                      <a:round/>
                      <a:headEnd len="sm" w="sm" type="none"/>
                      <a:tailEnd len="sm" w="sm" type="none"/>
                    </a:lnL>
                    <a:lnR cap="flat" cmpd="sng" w="12700">
                      <a:solidFill>
                        <a:srgbClr val="BCB8B1"/>
                      </a:solidFill>
                      <a:prstDash val="solid"/>
                      <a:round/>
                      <a:headEnd len="sm" w="sm" type="none"/>
                      <a:tailEnd len="sm" w="sm" type="none"/>
                    </a:lnR>
                    <a:lnT cap="flat" cmpd="sng" w="12700">
                      <a:solidFill>
                        <a:srgbClr val="CBC6BF"/>
                      </a:solidFill>
                      <a:prstDash val="solid"/>
                      <a:round/>
                      <a:headEnd len="sm" w="sm" type="none"/>
                      <a:tailEnd len="sm" w="sm" type="none"/>
                    </a:lnT>
                    <a:lnB cap="flat" cmpd="sng" w="12700">
                      <a:solidFill>
                        <a:srgbClr val="BCB8B1"/>
                      </a:solidFill>
                      <a:prstDash val="solid"/>
                      <a:round/>
                      <a:headEnd len="sm" w="sm" type="none"/>
                      <a:tailEnd len="sm" w="sm" type="none"/>
                    </a:lnB>
                    <a:solidFill>
                      <a:srgbClr val="ECE6DE"/>
                    </a:solidFill>
                  </a:tcPr>
                </a:tc>
              </a:tr>
              <a:tr h="412750">
                <a:tc>
                  <a:txBody>
                    <a:bodyPr/>
                    <a:lstStyle/>
                    <a:p>
                      <a:pPr indent="0" lvl="0" marL="0" marR="0" rtl="0" algn="ctr">
                        <a:lnSpc>
                          <a:spcPct val="140000"/>
                        </a:lnSpc>
                        <a:spcBef>
                          <a:spcPts val="0"/>
                        </a:spcBef>
                        <a:spcAft>
                          <a:spcPts val="0"/>
                        </a:spcAft>
                        <a:buClr>
                          <a:srgbClr val="3C4043"/>
                        </a:buClr>
                        <a:buSzPts val="1500"/>
                        <a:buFont typeface="Arial"/>
                        <a:buNone/>
                      </a:pPr>
                      <a:r>
                        <a:rPr lang="en-US" sz="1500" u="none" cap="none" strike="noStrike">
                          <a:solidFill>
                            <a:srgbClr val="3C4043"/>
                          </a:solidFill>
                          <a:latin typeface="Arial"/>
                          <a:ea typeface="Arial"/>
                          <a:cs typeface="Arial"/>
                          <a:sym typeface="Arial"/>
                        </a:rPr>
                        <a:t>rising edge ↑</a:t>
                      </a:r>
                      <a:endParaRPr sz="1500" u="none" cap="none" strike="noStrike">
                        <a:latin typeface="Arial"/>
                        <a:ea typeface="Arial"/>
                        <a:cs typeface="Arial"/>
                        <a:sym typeface="Arial"/>
                      </a:endParaRPr>
                    </a:p>
                  </a:txBody>
                  <a:tcPr marT="66675" marB="66675" marR="66675" marL="66675">
                    <a:lnL cap="flat" cmpd="sng" w="12700">
                      <a:solidFill>
                        <a:srgbClr val="CBC6BF"/>
                      </a:solidFill>
                      <a:prstDash val="solid"/>
                      <a:round/>
                      <a:headEnd len="sm" w="sm" type="none"/>
                      <a:tailEnd len="sm" w="sm" type="none"/>
                    </a:lnL>
                    <a:lnR cap="flat" cmpd="sng" w="12700">
                      <a:solidFill>
                        <a:srgbClr val="CBC6BF"/>
                      </a:solidFill>
                      <a:prstDash val="solid"/>
                      <a:round/>
                      <a:headEnd len="sm" w="sm" type="none"/>
                      <a:tailEnd len="sm" w="sm" type="none"/>
                    </a:lnR>
                    <a:lnT cap="flat" cmpd="sng" w="12700">
                      <a:solidFill>
                        <a:srgbClr val="BCB8B1"/>
                      </a:solidFill>
                      <a:prstDash val="solid"/>
                      <a:round/>
                      <a:headEnd len="sm" w="sm" type="none"/>
                      <a:tailEnd len="sm" w="sm" type="none"/>
                    </a:lnT>
                    <a:lnB cap="flat" cmpd="sng" w="12700">
                      <a:solidFill>
                        <a:srgbClr val="CBC6BF"/>
                      </a:solidFill>
                      <a:prstDash val="solid"/>
                      <a:round/>
                      <a:headEnd len="sm" w="sm" type="none"/>
                      <a:tailEnd len="sm" w="sm" type="none"/>
                    </a:lnB>
                  </a:tcPr>
                </a:tc>
                <a:tc>
                  <a:txBody>
                    <a:bodyPr/>
                    <a:lstStyle/>
                    <a:p>
                      <a:pPr indent="0" lvl="0" marL="0" marR="0" rtl="0" algn="ctr">
                        <a:lnSpc>
                          <a:spcPct val="140000"/>
                        </a:lnSpc>
                        <a:spcBef>
                          <a:spcPts val="0"/>
                        </a:spcBef>
                        <a:spcAft>
                          <a:spcPts val="0"/>
                        </a:spcAft>
                        <a:buClr>
                          <a:srgbClr val="3C4043"/>
                        </a:buClr>
                        <a:buSzPts val="1500"/>
                        <a:buFont typeface="Arial"/>
                        <a:buNone/>
                      </a:pPr>
                      <a:r>
                        <a:rPr lang="en-US" sz="1500" u="none" cap="none" strike="noStrike">
                          <a:solidFill>
                            <a:srgbClr val="3C4043"/>
                          </a:solidFill>
                          <a:latin typeface="Arial"/>
                          <a:ea typeface="Arial"/>
                          <a:cs typeface="Arial"/>
                          <a:sym typeface="Arial"/>
                        </a:rPr>
                        <a:t>D</a:t>
                      </a:r>
                      <a:endParaRPr sz="1500" u="none" cap="none" strike="noStrike">
                        <a:latin typeface="Arial"/>
                        <a:ea typeface="Arial"/>
                        <a:cs typeface="Arial"/>
                        <a:sym typeface="Arial"/>
                      </a:endParaRPr>
                    </a:p>
                  </a:txBody>
                  <a:tcPr marT="66675" marB="66675" marR="66675" marL="66675">
                    <a:lnL cap="flat" cmpd="sng" w="12700">
                      <a:solidFill>
                        <a:srgbClr val="CBC6BF"/>
                      </a:solidFill>
                      <a:prstDash val="solid"/>
                      <a:round/>
                      <a:headEnd len="sm" w="sm" type="none"/>
                      <a:tailEnd len="sm" w="sm" type="none"/>
                    </a:lnL>
                    <a:lnR cap="flat" cmpd="sng" w="12700">
                      <a:solidFill>
                        <a:srgbClr val="CBC6BF"/>
                      </a:solidFill>
                      <a:prstDash val="solid"/>
                      <a:round/>
                      <a:headEnd len="sm" w="sm" type="none"/>
                      <a:tailEnd len="sm" w="sm" type="none"/>
                    </a:lnR>
                    <a:lnT cap="flat" cmpd="sng" w="12700">
                      <a:solidFill>
                        <a:srgbClr val="BCB8B1"/>
                      </a:solidFill>
                      <a:prstDash val="solid"/>
                      <a:round/>
                      <a:headEnd len="sm" w="sm" type="none"/>
                      <a:tailEnd len="sm" w="sm" type="none"/>
                    </a:lnT>
                    <a:lnB cap="flat" cmpd="sng" w="12700">
                      <a:solidFill>
                        <a:srgbClr val="CBC6BF"/>
                      </a:solidFill>
                      <a:prstDash val="solid"/>
                      <a:round/>
                      <a:headEnd len="sm" w="sm" type="none"/>
                      <a:tailEnd len="sm" w="sm" type="none"/>
                    </a:lnB>
                  </a:tcPr>
                </a:tc>
              </a:tr>
              <a:tr h="412750">
                <a:tc>
                  <a:txBody>
                    <a:bodyPr/>
                    <a:lstStyle/>
                    <a:p>
                      <a:pPr indent="0" lvl="0" marL="0" marR="0" rtl="0" algn="ctr">
                        <a:lnSpc>
                          <a:spcPct val="140000"/>
                        </a:lnSpc>
                        <a:spcBef>
                          <a:spcPts val="0"/>
                        </a:spcBef>
                        <a:spcAft>
                          <a:spcPts val="0"/>
                        </a:spcAft>
                        <a:buClr>
                          <a:srgbClr val="3C4043"/>
                        </a:buClr>
                        <a:buSzPts val="1500"/>
                        <a:buFont typeface="Arial"/>
                        <a:buNone/>
                      </a:pPr>
                      <a:r>
                        <a:rPr lang="en-US" sz="1500" u="none" cap="none" strike="noStrike">
                          <a:solidFill>
                            <a:srgbClr val="3C4043"/>
                          </a:solidFill>
                          <a:latin typeface="Arial"/>
                          <a:ea typeface="Arial"/>
                          <a:cs typeface="Arial"/>
                          <a:sym typeface="Arial"/>
                        </a:rPr>
                        <a:t>anything else</a:t>
                      </a:r>
                      <a:endParaRPr sz="1500" u="none" cap="none" strike="noStrike">
                        <a:latin typeface="Arial"/>
                        <a:ea typeface="Arial"/>
                        <a:cs typeface="Arial"/>
                        <a:sym typeface="Arial"/>
                      </a:endParaRPr>
                    </a:p>
                  </a:txBody>
                  <a:tcPr marT="66675" marB="66675" marR="66675" marL="66675">
                    <a:lnL cap="flat" cmpd="sng" w="12700">
                      <a:solidFill>
                        <a:srgbClr val="CBC6BF"/>
                      </a:solidFill>
                      <a:prstDash val="solid"/>
                      <a:round/>
                      <a:headEnd len="sm" w="sm" type="none"/>
                      <a:tailEnd len="sm" w="sm" type="none"/>
                    </a:lnL>
                    <a:lnR cap="flat" cmpd="sng" w="12700">
                      <a:solidFill>
                        <a:srgbClr val="CBC6BF"/>
                      </a:solidFill>
                      <a:prstDash val="solid"/>
                      <a:round/>
                      <a:headEnd len="sm" w="sm" type="none"/>
                      <a:tailEnd len="sm" w="sm" type="none"/>
                    </a:lnR>
                    <a:lnT cap="flat" cmpd="sng" w="12700">
                      <a:solidFill>
                        <a:srgbClr val="CBC6BF"/>
                      </a:solidFill>
                      <a:prstDash val="solid"/>
                      <a:round/>
                      <a:headEnd len="sm" w="sm" type="none"/>
                      <a:tailEnd len="sm" w="sm" type="none"/>
                    </a:lnT>
                    <a:lnB cap="flat" cmpd="sng" w="12700">
                      <a:solidFill>
                        <a:srgbClr val="CBC6BF"/>
                      </a:solidFill>
                      <a:prstDash val="solid"/>
                      <a:round/>
                      <a:headEnd len="sm" w="sm" type="none"/>
                      <a:tailEnd len="sm" w="sm" type="none"/>
                    </a:lnB>
                  </a:tcPr>
                </a:tc>
                <a:tc>
                  <a:txBody>
                    <a:bodyPr/>
                    <a:lstStyle/>
                    <a:p>
                      <a:pPr indent="0" lvl="0" marL="0" marR="0" rtl="0" algn="ctr">
                        <a:lnSpc>
                          <a:spcPct val="140000"/>
                        </a:lnSpc>
                        <a:spcBef>
                          <a:spcPts val="0"/>
                        </a:spcBef>
                        <a:spcAft>
                          <a:spcPts val="0"/>
                        </a:spcAft>
                        <a:buClr>
                          <a:srgbClr val="3C4043"/>
                        </a:buClr>
                        <a:buSzPts val="1500"/>
                        <a:buFont typeface="Arial"/>
                        <a:buNone/>
                      </a:pPr>
                      <a:r>
                        <a:rPr lang="en-US" sz="1500" u="none" cap="none" strike="noStrike">
                          <a:solidFill>
                            <a:srgbClr val="3C4043"/>
                          </a:solidFill>
                          <a:latin typeface="Arial"/>
                          <a:ea typeface="Arial"/>
                          <a:cs typeface="Arial"/>
                          <a:sym typeface="Arial"/>
                        </a:rPr>
                        <a:t>Q (hold)</a:t>
                      </a:r>
                      <a:endParaRPr sz="1500" u="none" cap="none" strike="noStrike">
                        <a:latin typeface="Arial"/>
                        <a:ea typeface="Arial"/>
                        <a:cs typeface="Arial"/>
                        <a:sym typeface="Arial"/>
                      </a:endParaRPr>
                    </a:p>
                  </a:txBody>
                  <a:tcPr marT="66675" marB="66675" marR="66675" marL="66675">
                    <a:lnL cap="flat" cmpd="sng" w="12700">
                      <a:solidFill>
                        <a:srgbClr val="CBC6BF"/>
                      </a:solidFill>
                      <a:prstDash val="solid"/>
                      <a:round/>
                      <a:headEnd len="sm" w="sm" type="none"/>
                      <a:tailEnd len="sm" w="sm" type="none"/>
                    </a:lnL>
                    <a:lnR cap="flat" cmpd="sng" w="12700">
                      <a:solidFill>
                        <a:srgbClr val="CBC6BF"/>
                      </a:solidFill>
                      <a:prstDash val="solid"/>
                      <a:round/>
                      <a:headEnd len="sm" w="sm" type="none"/>
                      <a:tailEnd len="sm" w="sm" type="none"/>
                    </a:lnR>
                    <a:lnT cap="flat" cmpd="sng" w="12700">
                      <a:solidFill>
                        <a:srgbClr val="CBC6BF"/>
                      </a:solidFill>
                      <a:prstDash val="solid"/>
                      <a:round/>
                      <a:headEnd len="sm" w="sm" type="none"/>
                      <a:tailEnd len="sm" w="sm" type="none"/>
                    </a:lnT>
                    <a:lnB cap="flat" cmpd="sng" w="12700">
                      <a:solidFill>
                        <a:srgbClr val="CBC6BF"/>
                      </a:solidFill>
                      <a:prstDash val="solid"/>
                      <a:round/>
                      <a:headEnd len="sm" w="sm" type="none"/>
                      <a:tailEnd len="sm" w="sm" type="none"/>
                    </a:lnB>
                  </a:tcPr>
                </a:tc>
              </a:tr>
            </a:tbl>
          </a:graphicData>
        </a:graphic>
      </p:graphicFrame>
      <p:sp>
        <p:nvSpPr>
          <p:cNvPr id="299" name="Google Shape;299;p20"/>
          <p:cNvSpPr/>
          <p:nvPr/>
        </p:nvSpPr>
        <p:spPr>
          <a:xfrm>
            <a:off x="736600" y="4009368"/>
            <a:ext cx="4970780" cy="55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4E52"/>
              </a:buClr>
              <a:buSzPts val="1500"/>
              <a:buFont typeface="Arial"/>
              <a:buNone/>
            </a:pPr>
            <a:r>
              <a:rPr b="1" i="0" lang="en-US" sz="1500" u="none" cap="none" strike="noStrike">
                <a:solidFill>
                  <a:srgbClr val="4A4E52"/>
                </a:solidFill>
                <a:latin typeface="Arial"/>
                <a:ea typeface="Arial"/>
                <a:cs typeface="Arial"/>
                <a:sym typeface="Arial"/>
              </a:rPr>
              <a:t>Latch</a:t>
            </a:r>
            <a:r>
              <a:rPr b="0" i="0" lang="en-US" sz="1500" u="none" cap="none" strike="noStrike">
                <a:solidFill>
                  <a:srgbClr val="4A4E52"/>
                </a:solidFill>
                <a:latin typeface="Arial"/>
                <a:ea typeface="Arial"/>
                <a:cs typeface="Arial"/>
                <a:sym typeface="Arial"/>
              </a:rPr>
              <a:t> = transparent while enable is high. </a:t>
            </a:r>
            <a:r>
              <a:rPr b="1" i="0" lang="en-US" sz="1500" u="none" cap="none" strike="noStrike">
                <a:solidFill>
                  <a:srgbClr val="4A4E52"/>
                </a:solidFill>
                <a:latin typeface="Arial"/>
                <a:ea typeface="Arial"/>
                <a:cs typeface="Arial"/>
                <a:sym typeface="Arial"/>
              </a:rPr>
              <a:t>Flip-flop</a:t>
            </a:r>
            <a:r>
              <a:rPr b="0" i="0" lang="en-US" sz="1500" u="none" cap="none" strike="noStrike">
                <a:solidFill>
                  <a:srgbClr val="4A4E52"/>
                </a:solidFill>
                <a:latin typeface="Arial"/>
                <a:ea typeface="Arial"/>
                <a:cs typeface="Arial"/>
                <a:sym typeface="Arial"/>
              </a:rPr>
              <a:t> = samples only at the edge. On FPGAs, use flip-flops.</a:t>
            </a:r>
            <a:endParaRPr b="0" i="0" sz="1500" u="none" cap="none" strike="noStrike">
              <a:solidFill>
                <a:schemeClr val="dk1"/>
              </a:solidFill>
              <a:latin typeface="Arial"/>
              <a:ea typeface="Arial"/>
              <a:cs typeface="Arial"/>
              <a:sym typeface="Arial"/>
            </a:endParaRPr>
          </a:p>
        </p:txBody>
      </p:sp>
      <p:sp>
        <p:nvSpPr>
          <p:cNvPr id="300" name="Google Shape;300;p20"/>
          <p:cNvSpPr/>
          <p:nvPr/>
        </p:nvSpPr>
        <p:spPr>
          <a:xfrm>
            <a:off x="5969000" y="1739900"/>
            <a:ext cx="5410200" cy="2570163"/>
          </a:xfrm>
          <a:prstGeom prst="roundRect">
            <a:avLst>
              <a:gd fmla="val 5930" name="adj"/>
            </a:avLst>
          </a:prstGeom>
          <a:solidFill>
            <a:srgbClr val="2F3237"/>
          </a:solidFill>
          <a:ln>
            <a:noFill/>
          </a:ln>
        </p:spPr>
        <p:txBody>
          <a:bodyPr anchorCtr="0" anchor="t" bIns="183950" lIns="234750" spcFirstLastPara="1" rIns="89200" wrap="square" tIns="209350">
            <a:noAutofit/>
          </a:bodyPr>
          <a:lstStyle/>
          <a:p>
            <a:pPr indent="0" lvl="0" marL="0" marR="0" rtl="0" algn="l">
              <a:lnSpc>
                <a:spcPct val="145000"/>
              </a:lnSpc>
              <a:spcBef>
                <a:spcPts val="0"/>
              </a:spcBef>
              <a:spcAft>
                <a:spcPts val="0"/>
              </a:spcAft>
              <a:buClr>
                <a:srgbClr val="A9C4D6"/>
              </a:buClr>
              <a:buSzPts val="1400"/>
              <a:buFont typeface="Courier New"/>
              <a:buNone/>
            </a:pPr>
            <a:r>
              <a:rPr b="0" i="0" lang="en-US" sz="1400" u="none" cap="none" strike="noStrike">
                <a:solidFill>
                  <a:srgbClr val="A9C4D6"/>
                </a:solidFill>
                <a:latin typeface="Courier New"/>
                <a:ea typeface="Courier New"/>
                <a:cs typeface="Courier New"/>
                <a:sym typeface="Courier New"/>
              </a:rPr>
              <a:t>// D flip-flop</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logic q;</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always_ff @(posedge clk)</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  q &lt;= d;</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A9C4D6"/>
              </a:buClr>
              <a:buSzPts val="1400"/>
              <a:buFont typeface="Courier New"/>
              <a:buNone/>
            </a:pPr>
            <a:r>
              <a:rPr b="0" i="0" lang="en-US" sz="1400" u="none" cap="none" strike="noStrike">
                <a:solidFill>
                  <a:srgbClr val="A9C4D6"/>
                </a:solidFill>
                <a:latin typeface="Courier New"/>
                <a:ea typeface="Courier New"/>
                <a:cs typeface="Courier New"/>
                <a:sym typeface="Courier New"/>
              </a:rPr>
              <a:t>// posedge clk = rising edge</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A9C4D6"/>
              </a:buClr>
              <a:buSzPts val="1400"/>
              <a:buFont typeface="Courier New"/>
              <a:buNone/>
            </a:pPr>
            <a:r>
              <a:rPr b="0" i="0" lang="en-US" sz="1400" u="none" cap="none" strike="noStrike">
                <a:solidFill>
                  <a:srgbClr val="A9C4D6"/>
                </a:solidFill>
                <a:latin typeface="Courier New"/>
                <a:ea typeface="Courier New"/>
                <a:cs typeface="Courier New"/>
                <a:sym typeface="Courier New"/>
              </a:rPr>
              <a:t>// &lt;= is nonblocking (clocked)</a:t>
            </a:r>
            <a:endParaRPr b="0" i="0" sz="1400" u="none" cap="none" strike="noStrike">
              <a:solidFill>
                <a:schemeClr val="dk1"/>
              </a:solidFill>
              <a:latin typeface="Arial"/>
              <a:ea typeface="Arial"/>
              <a:cs typeface="Arial"/>
              <a:sym typeface="Arial"/>
            </a:endParaRPr>
          </a:p>
        </p:txBody>
      </p:sp>
      <p:sp>
        <p:nvSpPr>
          <p:cNvPr id="301" name="Google Shape;301;p20"/>
          <p:cNvSpPr/>
          <p:nvPr/>
        </p:nvSpPr>
        <p:spPr>
          <a:xfrm>
            <a:off x="10566400" y="6238280"/>
            <a:ext cx="812800" cy="23872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3C4043"/>
              </a:buClr>
              <a:buSzPts val="1200"/>
              <a:buFont typeface="Arial"/>
              <a:buNone/>
            </a:pPr>
            <a:r>
              <a:rPr b="0" i="0" lang="en-US" sz="1200" u="none" cap="none" strike="noStrike">
                <a:solidFill>
                  <a:srgbClr val="3C4043"/>
                </a:solidFill>
                <a:latin typeface="Arial"/>
                <a:ea typeface="Arial"/>
                <a:cs typeface="Arial"/>
                <a:sym typeface="Arial"/>
              </a:rPr>
              <a:t>17</a:t>
            </a:r>
            <a:endParaRPr b="0" i="0" sz="1200" u="none" cap="none" strike="noStrike">
              <a:solidFill>
                <a:schemeClr val="dk1"/>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0DC"/>
        </a:solidFill>
      </p:bgPr>
    </p:bg>
    <p:spTree>
      <p:nvGrpSpPr>
        <p:cNvPr id="306" name="Shape 306"/>
        <p:cNvGrpSpPr/>
        <p:nvPr/>
      </p:nvGrpSpPr>
      <p:grpSpPr>
        <a:xfrm>
          <a:off x="0" y="0"/>
          <a:ext cx="0" cy="0"/>
          <a:chOff x="0" y="0"/>
          <a:chExt cx="0" cy="0"/>
        </a:xfrm>
      </p:grpSpPr>
      <p:sp>
        <p:nvSpPr>
          <p:cNvPr id="307" name="Google Shape;307;p21"/>
          <p:cNvSpPr/>
          <p:nvPr/>
        </p:nvSpPr>
        <p:spPr>
          <a:xfrm>
            <a:off x="114300" y="114300"/>
            <a:ext cx="5886450" cy="381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C4043"/>
              </a:buClr>
              <a:buSzPts val="2000"/>
              <a:buFont typeface="Arial"/>
              <a:buNone/>
            </a:pPr>
            <a:r>
              <a:rPr b="0" i="0" lang="en-US" sz="2000" u="none" cap="none" strike="noStrike">
                <a:solidFill>
                  <a:srgbClr val="3C4043"/>
                </a:solidFill>
                <a:latin typeface="Arial"/>
                <a:ea typeface="Arial"/>
                <a:cs typeface="Arial"/>
                <a:sym typeface="Arial"/>
              </a:rPr>
              <a:t>Sequential Logic</a:t>
            </a:r>
            <a:endParaRPr b="0" i="0" sz="2000" u="none" cap="none" strike="noStrike">
              <a:solidFill>
                <a:schemeClr val="dk1"/>
              </a:solidFill>
              <a:latin typeface="Arial"/>
              <a:ea typeface="Arial"/>
              <a:cs typeface="Arial"/>
              <a:sym typeface="Arial"/>
            </a:endParaRPr>
          </a:p>
        </p:txBody>
      </p:sp>
      <p:sp>
        <p:nvSpPr>
          <p:cNvPr id="308" name="Google Shape;308;p21"/>
          <p:cNvSpPr txBox="1"/>
          <p:nvPr>
            <p:ph type="title"/>
          </p:nvPr>
        </p:nvSpPr>
        <p:spPr>
          <a:xfrm>
            <a:off x="736600" y="762000"/>
            <a:ext cx="10961878" cy="5842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3C4043"/>
              </a:buClr>
              <a:buSzPts val="4000"/>
              <a:buFont typeface="Arial"/>
              <a:buNone/>
            </a:pPr>
            <a:r>
              <a:rPr b="0" i="0" lang="en-US" sz="4000">
                <a:solidFill>
                  <a:srgbClr val="3C4043"/>
                </a:solidFill>
                <a:latin typeface="Arial"/>
                <a:ea typeface="Arial"/>
                <a:cs typeface="Arial"/>
                <a:sym typeface="Arial"/>
              </a:rPr>
              <a:t>Clocked State Updates</a:t>
            </a:r>
            <a:endParaRPr sz="4000"/>
          </a:p>
        </p:txBody>
      </p:sp>
      <p:pic>
        <p:nvPicPr>
          <p:cNvPr descr="line" id="309" name="Google Shape;309;p21"/>
          <p:cNvPicPr preferRelativeResize="0"/>
          <p:nvPr/>
        </p:nvPicPr>
        <p:blipFill rotWithShape="1">
          <a:blip r:embed="rId3">
            <a:alphaModFix/>
          </a:blip>
          <a:srcRect b="0" l="0" r="0" t="0"/>
          <a:stretch/>
        </p:blipFill>
        <p:spPr>
          <a:xfrm>
            <a:off x="736600" y="1524000"/>
            <a:ext cx="10642600" cy="12700"/>
          </a:xfrm>
          <a:prstGeom prst="rect">
            <a:avLst/>
          </a:prstGeom>
          <a:noFill/>
          <a:ln>
            <a:noFill/>
          </a:ln>
        </p:spPr>
      </p:pic>
      <p:sp>
        <p:nvSpPr>
          <p:cNvPr id="310" name="Google Shape;310;p21"/>
          <p:cNvSpPr/>
          <p:nvPr/>
        </p:nvSpPr>
        <p:spPr>
          <a:xfrm>
            <a:off x="736600" y="1739900"/>
            <a:ext cx="10642600" cy="2260600"/>
          </a:xfrm>
          <a:prstGeom prst="roundRect">
            <a:avLst>
              <a:gd fmla="val 6742" name="adj"/>
            </a:avLst>
          </a:prstGeom>
          <a:solidFill>
            <a:srgbClr val="FFF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21"/>
          <p:cNvSpPr/>
          <p:nvPr/>
        </p:nvSpPr>
        <p:spPr>
          <a:xfrm>
            <a:off x="990600" y="2092995"/>
            <a:ext cx="812800" cy="309827"/>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C4043"/>
              </a:buClr>
              <a:buSzPts val="1600"/>
              <a:buFont typeface="Courier New"/>
              <a:buNone/>
            </a:pPr>
            <a:r>
              <a:rPr b="1" i="0" lang="en-US" sz="1600" u="none" cap="none" strike="noStrike">
                <a:solidFill>
                  <a:srgbClr val="3C4043"/>
                </a:solidFill>
                <a:latin typeface="Courier New"/>
                <a:ea typeface="Courier New"/>
                <a:cs typeface="Courier New"/>
                <a:sym typeface="Courier New"/>
              </a:rPr>
              <a:t>clk</a:t>
            </a:r>
            <a:endParaRPr b="0" i="0" sz="1600" u="none" cap="none" strike="noStrike">
              <a:solidFill>
                <a:schemeClr val="dk1"/>
              </a:solidFill>
              <a:latin typeface="Arial"/>
              <a:ea typeface="Arial"/>
              <a:cs typeface="Arial"/>
              <a:sym typeface="Arial"/>
            </a:endParaRPr>
          </a:p>
        </p:txBody>
      </p:sp>
      <p:sp>
        <p:nvSpPr>
          <p:cNvPr id="312" name="Google Shape;312;p21"/>
          <p:cNvSpPr/>
          <p:nvPr/>
        </p:nvSpPr>
        <p:spPr>
          <a:xfrm>
            <a:off x="990600" y="2727995"/>
            <a:ext cx="812800" cy="309827"/>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B6F9E"/>
              </a:buClr>
              <a:buSzPts val="1600"/>
              <a:buFont typeface="Courier New"/>
              <a:buNone/>
            </a:pPr>
            <a:r>
              <a:rPr b="1" i="0" lang="en-US" sz="1600" u="none" cap="none" strike="noStrike">
                <a:solidFill>
                  <a:srgbClr val="1B6F9E"/>
                </a:solidFill>
                <a:latin typeface="Courier New"/>
                <a:ea typeface="Courier New"/>
                <a:cs typeface="Courier New"/>
                <a:sym typeface="Courier New"/>
              </a:rPr>
              <a:t>d</a:t>
            </a:r>
            <a:endParaRPr b="0" i="0" sz="1600" u="none" cap="none" strike="noStrike">
              <a:solidFill>
                <a:schemeClr val="dk1"/>
              </a:solidFill>
              <a:latin typeface="Arial"/>
              <a:ea typeface="Arial"/>
              <a:cs typeface="Arial"/>
              <a:sym typeface="Arial"/>
            </a:endParaRPr>
          </a:p>
        </p:txBody>
      </p:sp>
      <p:sp>
        <p:nvSpPr>
          <p:cNvPr id="313" name="Google Shape;313;p21"/>
          <p:cNvSpPr/>
          <p:nvPr/>
        </p:nvSpPr>
        <p:spPr>
          <a:xfrm>
            <a:off x="990600" y="3362995"/>
            <a:ext cx="812800" cy="309827"/>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5462A"/>
              </a:buClr>
              <a:buSzPts val="1600"/>
              <a:buFont typeface="Courier New"/>
              <a:buNone/>
            </a:pPr>
            <a:r>
              <a:rPr b="1" i="0" lang="en-US" sz="1600" u="none" cap="none" strike="noStrike">
                <a:solidFill>
                  <a:srgbClr val="B5462A"/>
                </a:solidFill>
                <a:latin typeface="Courier New"/>
                <a:ea typeface="Courier New"/>
                <a:cs typeface="Courier New"/>
                <a:sym typeface="Courier New"/>
              </a:rPr>
              <a:t>q</a:t>
            </a:r>
            <a:endParaRPr b="0" i="0" sz="1600" u="none" cap="none" strike="noStrike">
              <a:solidFill>
                <a:schemeClr val="dk1"/>
              </a:solidFill>
              <a:latin typeface="Arial"/>
              <a:ea typeface="Arial"/>
              <a:cs typeface="Arial"/>
              <a:sym typeface="Arial"/>
            </a:endParaRPr>
          </a:p>
        </p:txBody>
      </p:sp>
      <p:pic>
        <p:nvPicPr>
          <p:cNvPr descr="Timing diagram: q copies d only at rising clock edges, and ignores a short glitch on d between edges" id="314" name="Google Shape;314;p21"/>
          <p:cNvPicPr preferRelativeResize="0"/>
          <p:nvPr/>
        </p:nvPicPr>
        <p:blipFill rotWithShape="1">
          <a:blip r:embed="rId4">
            <a:alphaModFix/>
          </a:blip>
          <a:srcRect b="0" l="-41" r="-41" t="0"/>
          <a:stretch/>
        </p:blipFill>
        <p:spPr>
          <a:xfrm>
            <a:off x="1930400" y="1917700"/>
            <a:ext cx="6985000" cy="1905000"/>
          </a:xfrm>
          <a:prstGeom prst="rect">
            <a:avLst/>
          </a:prstGeom>
          <a:noFill/>
          <a:ln>
            <a:noFill/>
          </a:ln>
        </p:spPr>
      </p:pic>
      <p:sp>
        <p:nvSpPr>
          <p:cNvPr id="315" name="Google Shape;315;p21"/>
          <p:cNvSpPr/>
          <p:nvPr/>
        </p:nvSpPr>
        <p:spPr>
          <a:xfrm>
            <a:off x="736600" y="4203700"/>
            <a:ext cx="5363210" cy="55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C4043"/>
              </a:buClr>
              <a:buSzPts val="1500"/>
              <a:buFont typeface="Arial"/>
              <a:buNone/>
            </a:pPr>
            <a:r>
              <a:rPr b="0" i="0" lang="en-US" sz="1500" u="none" cap="none" strike="noStrike">
                <a:solidFill>
                  <a:srgbClr val="3C4043"/>
                </a:solidFill>
                <a:latin typeface="Arial"/>
                <a:ea typeface="Arial"/>
                <a:cs typeface="Arial"/>
                <a:sym typeface="Arial"/>
              </a:rPr>
              <a:t>q changes </a:t>
            </a:r>
            <a:r>
              <a:rPr b="1" i="0" lang="en-US" sz="1500" u="none" cap="none" strike="noStrike">
                <a:solidFill>
                  <a:srgbClr val="3C4043"/>
                </a:solidFill>
                <a:latin typeface="Arial"/>
                <a:ea typeface="Arial"/>
                <a:cs typeface="Arial"/>
                <a:sym typeface="Arial"/>
              </a:rPr>
              <a:t>only at rising edges</a:t>
            </a:r>
            <a:r>
              <a:rPr b="0" i="0" lang="en-US" sz="1500" u="none" cap="none" strike="noStrike">
                <a:solidFill>
                  <a:srgbClr val="3C4043"/>
                </a:solidFill>
                <a:latin typeface="Arial"/>
                <a:ea typeface="Arial"/>
                <a:cs typeface="Arial"/>
                <a:sym typeface="Arial"/>
              </a:rPr>
              <a:t> (dashed lines), all flip-flops at the same instant</a:t>
            </a:r>
            <a:endParaRPr b="0" i="0" sz="1500" u="none" cap="none" strike="noStrike">
              <a:solidFill>
                <a:schemeClr val="dk1"/>
              </a:solidFill>
              <a:latin typeface="Arial"/>
              <a:ea typeface="Arial"/>
              <a:cs typeface="Arial"/>
              <a:sym typeface="Arial"/>
            </a:endParaRPr>
          </a:p>
        </p:txBody>
      </p:sp>
      <p:sp>
        <p:nvSpPr>
          <p:cNvPr id="316" name="Google Shape;316;p21"/>
          <p:cNvSpPr/>
          <p:nvPr/>
        </p:nvSpPr>
        <p:spPr>
          <a:xfrm>
            <a:off x="6172200" y="4203700"/>
            <a:ext cx="5363210" cy="55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C4043"/>
              </a:buClr>
              <a:buSzPts val="1500"/>
              <a:buFont typeface="Arial"/>
              <a:buNone/>
            </a:pPr>
            <a:r>
              <a:rPr b="0" i="0" lang="en-US" sz="1500" u="none" cap="none" strike="noStrike">
                <a:solidFill>
                  <a:srgbClr val="3C4043"/>
                </a:solidFill>
                <a:latin typeface="Arial"/>
                <a:ea typeface="Arial"/>
                <a:cs typeface="Arial"/>
                <a:sym typeface="Arial"/>
              </a:rPr>
              <a:t>The short </a:t>
            </a:r>
            <a:r>
              <a:rPr b="1" i="0" lang="en-US" sz="1500" u="none" cap="none" strike="noStrike">
                <a:solidFill>
                  <a:srgbClr val="B5462A"/>
                </a:solidFill>
                <a:latin typeface="Arial"/>
                <a:ea typeface="Arial"/>
                <a:cs typeface="Arial"/>
                <a:sym typeface="Arial"/>
              </a:rPr>
              <a:t>glitch</a:t>
            </a:r>
            <a:r>
              <a:rPr b="0" i="0" lang="en-US" sz="1500" u="none" cap="none" strike="noStrike">
                <a:solidFill>
                  <a:srgbClr val="3C4043"/>
                </a:solidFill>
                <a:latin typeface="Arial"/>
                <a:ea typeface="Arial"/>
                <a:cs typeface="Arial"/>
                <a:sym typeface="Arial"/>
              </a:rPr>
              <a:t> on d (shaded) falls between edges, so q never sees it</a:t>
            </a:r>
            <a:endParaRPr b="0" i="0" sz="1500" u="none" cap="none" strike="noStrike">
              <a:solidFill>
                <a:schemeClr val="dk1"/>
              </a:solidFill>
              <a:latin typeface="Arial"/>
              <a:ea typeface="Arial"/>
              <a:cs typeface="Arial"/>
              <a:sym typeface="Arial"/>
            </a:endParaRPr>
          </a:p>
        </p:txBody>
      </p:sp>
      <p:sp>
        <p:nvSpPr>
          <p:cNvPr id="317" name="Google Shape;317;p21"/>
          <p:cNvSpPr/>
          <p:nvPr/>
        </p:nvSpPr>
        <p:spPr>
          <a:xfrm>
            <a:off x="10566400" y="6238280"/>
            <a:ext cx="812800" cy="23872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3C4043"/>
              </a:buClr>
              <a:buSzPts val="1200"/>
              <a:buFont typeface="Arial"/>
              <a:buNone/>
            </a:pPr>
            <a:r>
              <a:rPr b="0" i="0" lang="en-US" sz="1200" u="none" cap="none" strike="noStrike">
                <a:solidFill>
                  <a:srgbClr val="3C4043"/>
                </a:solidFill>
                <a:latin typeface="Arial"/>
                <a:ea typeface="Arial"/>
                <a:cs typeface="Arial"/>
                <a:sym typeface="Arial"/>
              </a:rPr>
              <a:t>18</a:t>
            </a:r>
            <a:endParaRPr b="0" i="0" sz="1200" u="none" cap="none" strike="noStrike">
              <a:solidFill>
                <a:schemeClr val="dk1"/>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0DC"/>
        </a:solidFill>
      </p:bgPr>
    </p:bg>
    <p:spTree>
      <p:nvGrpSpPr>
        <p:cNvPr id="322" name="Shape 322"/>
        <p:cNvGrpSpPr/>
        <p:nvPr/>
      </p:nvGrpSpPr>
      <p:grpSpPr>
        <a:xfrm>
          <a:off x="0" y="0"/>
          <a:ext cx="0" cy="0"/>
          <a:chOff x="0" y="0"/>
          <a:chExt cx="0" cy="0"/>
        </a:xfrm>
      </p:grpSpPr>
      <p:sp>
        <p:nvSpPr>
          <p:cNvPr id="323" name="Google Shape;323;p22"/>
          <p:cNvSpPr/>
          <p:nvPr/>
        </p:nvSpPr>
        <p:spPr>
          <a:xfrm>
            <a:off x="114300" y="114300"/>
            <a:ext cx="5886450" cy="381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C4043"/>
              </a:buClr>
              <a:buSzPts val="2000"/>
              <a:buFont typeface="Arial"/>
              <a:buNone/>
            </a:pPr>
            <a:r>
              <a:rPr b="0" i="0" lang="en-US" sz="2000" u="none" cap="none" strike="noStrike">
                <a:solidFill>
                  <a:srgbClr val="3C4043"/>
                </a:solidFill>
                <a:latin typeface="Arial"/>
                <a:ea typeface="Arial"/>
                <a:cs typeface="Arial"/>
                <a:sym typeface="Arial"/>
              </a:rPr>
              <a:t>Sequential Logic</a:t>
            </a:r>
            <a:endParaRPr b="0" i="0" sz="2000" u="none" cap="none" strike="noStrike">
              <a:solidFill>
                <a:schemeClr val="dk1"/>
              </a:solidFill>
              <a:latin typeface="Arial"/>
              <a:ea typeface="Arial"/>
              <a:cs typeface="Arial"/>
              <a:sym typeface="Arial"/>
            </a:endParaRPr>
          </a:p>
        </p:txBody>
      </p:sp>
      <p:sp>
        <p:nvSpPr>
          <p:cNvPr id="324" name="Google Shape;324;p22"/>
          <p:cNvSpPr txBox="1"/>
          <p:nvPr>
            <p:ph type="title"/>
          </p:nvPr>
        </p:nvSpPr>
        <p:spPr>
          <a:xfrm>
            <a:off x="736600" y="762000"/>
            <a:ext cx="10961878" cy="5842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3C4043"/>
              </a:buClr>
              <a:buSzPts val="4000"/>
              <a:buFont typeface="Arial"/>
              <a:buNone/>
            </a:pPr>
            <a:r>
              <a:rPr b="0" i="0" lang="en-US" sz="4000">
                <a:solidFill>
                  <a:srgbClr val="3C4043"/>
                </a:solidFill>
                <a:latin typeface="Arial"/>
                <a:ea typeface="Arial"/>
                <a:cs typeface="Arial"/>
                <a:sym typeface="Arial"/>
              </a:rPr>
              <a:t>Clocked Updates in Code: &lt;= vs =</a:t>
            </a:r>
            <a:endParaRPr sz="4000"/>
          </a:p>
        </p:txBody>
      </p:sp>
      <p:pic>
        <p:nvPicPr>
          <p:cNvPr descr="line" id="325" name="Google Shape;325;p22"/>
          <p:cNvPicPr preferRelativeResize="0"/>
          <p:nvPr/>
        </p:nvPicPr>
        <p:blipFill rotWithShape="1">
          <a:blip r:embed="rId3">
            <a:alphaModFix/>
          </a:blip>
          <a:srcRect b="0" l="0" r="0" t="0"/>
          <a:stretch/>
        </p:blipFill>
        <p:spPr>
          <a:xfrm>
            <a:off x="736600" y="1524000"/>
            <a:ext cx="10642600" cy="12700"/>
          </a:xfrm>
          <a:prstGeom prst="rect">
            <a:avLst/>
          </a:prstGeom>
          <a:noFill/>
          <a:ln>
            <a:noFill/>
          </a:ln>
        </p:spPr>
      </p:pic>
      <p:sp>
        <p:nvSpPr>
          <p:cNvPr id="326" name="Google Shape;326;p22"/>
          <p:cNvSpPr/>
          <p:nvPr/>
        </p:nvSpPr>
        <p:spPr>
          <a:xfrm>
            <a:off x="736600" y="1739900"/>
            <a:ext cx="10961878" cy="375245"/>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3C4043"/>
              </a:buClr>
              <a:buSzPts val="1900"/>
              <a:buFont typeface="Arial"/>
              <a:buNone/>
            </a:pPr>
            <a:r>
              <a:rPr b="0" i="0" lang="en-US" sz="1900" u="none" cap="none" strike="noStrike">
                <a:solidFill>
                  <a:srgbClr val="3C4043"/>
                </a:solidFill>
                <a:latin typeface="Arial"/>
                <a:ea typeface="Arial"/>
                <a:cs typeface="Arial"/>
                <a:sym typeface="Arial"/>
              </a:rPr>
              <a:t>Nonblocking </a:t>
            </a:r>
            <a:r>
              <a:rPr b="1" i="0" lang="en-US" sz="1900" u="none" cap="none" strike="noStrike">
                <a:solidFill>
                  <a:srgbClr val="3C4043"/>
                </a:solidFill>
                <a:latin typeface="Arial"/>
                <a:ea typeface="Arial"/>
                <a:cs typeface="Arial"/>
                <a:sym typeface="Arial"/>
              </a:rPr>
              <a:t>&lt;=</a:t>
            </a:r>
            <a:r>
              <a:rPr b="0" i="0" lang="en-US" sz="1900" u="none" cap="none" strike="noStrike">
                <a:solidFill>
                  <a:srgbClr val="3C4043"/>
                </a:solidFill>
                <a:latin typeface="Arial"/>
                <a:ea typeface="Arial"/>
                <a:cs typeface="Arial"/>
                <a:sym typeface="Arial"/>
              </a:rPr>
              <a:t> reads every old value first, then updates all at once, just like real flip-flops.</a:t>
            </a:r>
            <a:endParaRPr b="0" i="0" sz="1900" u="none" cap="none" strike="noStrike">
              <a:solidFill>
                <a:schemeClr val="dk1"/>
              </a:solidFill>
              <a:latin typeface="Arial"/>
              <a:ea typeface="Arial"/>
              <a:cs typeface="Arial"/>
              <a:sym typeface="Arial"/>
            </a:endParaRPr>
          </a:p>
        </p:txBody>
      </p:sp>
      <p:sp>
        <p:nvSpPr>
          <p:cNvPr id="327" name="Google Shape;327;p22"/>
          <p:cNvSpPr/>
          <p:nvPr/>
        </p:nvSpPr>
        <p:spPr>
          <a:xfrm>
            <a:off x="736600" y="2292945"/>
            <a:ext cx="5168900" cy="2160058"/>
          </a:xfrm>
          <a:prstGeom prst="roundRect">
            <a:avLst>
              <a:gd fmla="val 7055" name="adj"/>
            </a:avLst>
          </a:prstGeom>
          <a:solidFill>
            <a:srgbClr val="2F32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22"/>
          <p:cNvSpPr/>
          <p:nvPr/>
        </p:nvSpPr>
        <p:spPr>
          <a:xfrm>
            <a:off x="736600" y="2292945"/>
            <a:ext cx="5168900" cy="2160058"/>
          </a:xfrm>
          <a:custGeom>
            <a:rect b="b" l="l" r="r" t="t"/>
            <a:pathLst>
              <a:path extrusionOk="0" h="2160058" w="5168900">
                <a:moveTo>
                  <a:pt x="0" y="152400"/>
                </a:moveTo>
                <a:lnTo>
                  <a:pt x="0" y="152400"/>
                </a:lnTo>
                <a:cubicBezTo>
                  <a:pt x="0" y="68232"/>
                  <a:pt x="68232" y="0"/>
                  <a:pt x="152400" y="0"/>
                </a:cubicBezTo>
                <a:lnTo>
                  <a:pt x="5016500" y="0"/>
                </a:lnTo>
                <a:cubicBezTo>
                  <a:pt x="5056919" y="0"/>
                  <a:pt x="5095683" y="16056"/>
                  <a:pt x="5124263" y="44637"/>
                </a:cubicBezTo>
                <a:cubicBezTo>
                  <a:pt x="5152844" y="73217"/>
                  <a:pt x="5168900" y="111981"/>
                  <a:pt x="5168900" y="152400"/>
                </a:cubicBezTo>
                <a:lnTo>
                  <a:pt x="5168900" y="152400"/>
                </a:lnTo>
                <a:cubicBezTo>
                  <a:pt x="5168900" y="103302"/>
                  <a:pt x="5100668" y="63500"/>
                  <a:pt x="5016500" y="63500"/>
                </a:cubicBezTo>
                <a:lnTo>
                  <a:pt x="152400" y="63500"/>
                </a:lnTo>
                <a:cubicBezTo>
                  <a:pt x="68232" y="63500"/>
                  <a:pt x="0" y="103302"/>
                  <a:pt x="0" y="152400"/>
                </a:cubicBezTo>
                <a:close/>
              </a:path>
            </a:pathLst>
          </a:custGeom>
          <a:solidFill>
            <a:srgbClr val="6FB0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22"/>
          <p:cNvSpPr/>
          <p:nvPr/>
        </p:nvSpPr>
        <p:spPr>
          <a:xfrm>
            <a:off x="1016000" y="2585045"/>
            <a:ext cx="4748403" cy="274307"/>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9C4D6"/>
              </a:buClr>
              <a:buSzPts val="1400"/>
              <a:buFont typeface="Arial"/>
              <a:buNone/>
            </a:pPr>
            <a:r>
              <a:rPr b="1" i="0" lang="en-US" sz="1400" u="none" cap="none" strike="noStrike">
                <a:solidFill>
                  <a:srgbClr val="A9C4D6"/>
                </a:solidFill>
                <a:latin typeface="Arial"/>
                <a:ea typeface="Arial"/>
                <a:cs typeface="Arial"/>
                <a:sym typeface="Arial"/>
              </a:rPr>
              <a:t>NONBLOCKING: SWAPS</a:t>
            </a:r>
            <a:endParaRPr b="0" i="0" sz="1400" u="none" cap="none" strike="noStrike">
              <a:solidFill>
                <a:schemeClr val="dk1"/>
              </a:solidFill>
              <a:latin typeface="Arial"/>
              <a:ea typeface="Arial"/>
              <a:cs typeface="Arial"/>
              <a:sym typeface="Arial"/>
            </a:endParaRPr>
          </a:p>
        </p:txBody>
      </p:sp>
      <p:sp>
        <p:nvSpPr>
          <p:cNvPr id="330" name="Google Shape;330;p22"/>
          <p:cNvSpPr/>
          <p:nvPr/>
        </p:nvSpPr>
        <p:spPr>
          <a:xfrm>
            <a:off x="1016000" y="2935560"/>
            <a:ext cx="4748403" cy="1314252"/>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always_ff @(posedge clk) begin</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  a &lt;= b;</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  b &lt;= a;</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end</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A9C4D6"/>
              </a:buClr>
              <a:buSzPts val="1400"/>
              <a:buFont typeface="Courier New"/>
              <a:buNone/>
            </a:pPr>
            <a:r>
              <a:rPr b="0" i="0" lang="en-US" sz="1400" u="none" cap="none" strike="noStrike">
                <a:solidFill>
                  <a:srgbClr val="A9C4D6"/>
                </a:solidFill>
                <a:latin typeface="Courier New"/>
                <a:ea typeface="Courier New"/>
                <a:cs typeface="Courier New"/>
                <a:sym typeface="Courier New"/>
              </a:rPr>
              <a:t>// a=1,b=2 → a=2,b=1</a:t>
            </a:r>
            <a:endParaRPr b="0" i="0" sz="1400" u="none" cap="none" strike="noStrike">
              <a:solidFill>
                <a:schemeClr val="dk1"/>
              </a:solidFill>
              <a:latin typeface="Arial"/>
              <a:ea typeface="Arial"/>
              <a:cs typeface="Arial"/>
              <a:sym typeface="Arial"/>
            </a:endParaRPr>
          </a:p>
        </p:txBody>
      </p:sp>
      <p:sp>
        <p:nvSpPr>
          <p:cNvPr id="331" name="Google Shape;331;p22"/>
          <p:cNvSpPr/>
          <p:nvPr/>
        </p:nvSpPr>
        <p:spPr>
          <a:xfrm>
            <a:off x="6210300" y="2292945"/>
            <a:ext cx="5168900" cy="2160058"/>
          </a:xfrm>
          <a:prstGeom prst="roundRect">
            <a:avLst>
              <a:gd fmla="val 7055" name="adj"/>
            </a:avLst>
          </a:prstGeom>
          <a:solidFill>
            <a:srgbClr val="2F32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22"/>
          <p:cNvSpPr/>
          <p:nvPr/>
        </p:nvSpPr>
        <p:spPr>
          <a:xfrm>
            <a:off x="6210300" y="2292945"/>
            <a:ext cx="5168900" cy="2160058"/>
          </a:xfrm>
          <a:custGeom>
            <a:rect b="b" l="l" r="r" t="t"/>
            <a:pathLst>
              <a:path extrusionOk="0" h="2160058" w="5168900">
                <a:moveTo>
                  <a:pt x="0" y="152400"/>
                </a:moveTo>
                <a:lnTo>
                  <a:pt x="0" y="152400"/>
                </a:lnTo>
                <a:cubicBezTo>
                  <a:pt x="0" y="68232"/>
                  <a:pt x="68232" y="0"/>
                  <a:pt x="152400" y="0"/>
                </a:cubicBezTo>
                <a:lnTo>
                  <a:pt x="5016500" y="0"/>
                </a:lnTo>
                <a:cubicBezTo>
                  <a:pt x="5056919" y="0"/>
                  <a:pt x="5095683" y="16056"/>
                  <a:pt x="5124263" y="44637"/>
                </a:cubicBezTo>
                <a:cubicBezTo>
                  <a:pt x="5152844" y="73217"/>
                  <a:pt x="5168900" y="111981"/>
                  <a:pt x="5168900" y="152400"/>
                </a:cubicBezTo>
                <a:lnTo>
                  <a:pt x="5168900" y="152400"/>
                </a:lnTo>
                <a:cubicBezTo>
                  <a:pt x="5168900" y="103302"/>
                  <a:pt x="5100668" y="63500"/>
                  <a:pt x="5016500" y="63500"/>
                </a:cubicBezTo>
                <a:lnTo>
                  <a:pt x="152400" y="63500"/>
                </a:lnTo>
                <a:cubicBezTo>
                  <a:pt x="68232" y="63500"/>
                  <a:pt x="0" y="103302"/>
                  <a:pt x="0" y="152400"/>
                </a:cubicBezTo>
                <a:close/>
              </a:path>
            </a:pathLst>
          </a:custGeom>
          <a:solidFill>
            <a:srgbClr val="E078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22"/>
          <p:cNvSpPr/>
          <p:nvPr/>
        </p:nvSpPr>
        <p:spPr>
          <a:xfrm>
            <a:off x="6489700" y="2585045"/>
            <a:ext cx="4748403" cy="274307"/>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0A58C"/>
              </a:buClr>
              <a:buSzPts val="1400"/>
              <a:buFont typeface="Arial"/>
              <a:buNone/>
            </a:pPr>
            <a:r>
              <a:rPr b="1" i="0" lang="en-US" sz="1400" u="none" cap="none" strike="noStrike">
                <a:solidFill>
                  <a:srgbClr val="F0A58C"/>
                </a:solidFill>
                <a:latin typeface="Arial"/>
                <a:ea typeface="Arial"/>
                <a:cs typeface="Arial"/>
                <a:sym typeface="Arial"/>
              </a:rPr>
              <a:t>BLOCKING: DOESN'T</a:t>
            </a:r>
            <a:endParaRPr b="0" i="0" sz="1400" u="none" cap="none" strike="noStrike">
              <a:solidFill>
                <a:schemeClr val="dk1"/>
              </a:solidFill>
              <a:latin typeface="Arial"/>
              <a:ea typeface="Arial"/>
              <a:cs typeface="Arial"/>
              <a:sym typeface="Arial"/>
            </a:endParaRPr>
          </a:p>
        </p:txBody>
      </p:sp>
      <p:sp>
        <p:nvSpPr>
          <p:cNvPr id="334" name="Google Shape;334;p22"/>
          <p:cNvSpPr/>
          <p:nvPr/>
        </p:nvSpPr>
        <p:spPr>
          <a:xfrm>
            <a:off x="6489700" y="2935560"/>
            <a:ext cx="4748403" cy="1314252"/>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always_ff @(posedge clk) begin</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  a = b;</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  b = a;</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end</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0A58C"/>
              </a:buClr>
              <a:buSzPts val="1400"/>
              <a:buFont typeface="Courier New"/>
              <a:buNone/>
            </a:pPr>
            <a:r>
              <a:rPr b="0" i="0" lang="en-US" sz="1400" u="none" cap="none" strike="noStrike">
                <a:solidFill>
                  <a:srgbClr val="F0A58C"/>
                </a:solidFill>
                <a:latin typeface="Courier New"/>
                <a:ea typeface="Courier New"/>
                <a:cs typeface="Courier New"/>
                <a:sym typeface="Courier New"/>
              </a:rPr>
              <a:t>// a=1,b=2 → a=2,b=2</a:t>
            </a:r>
            <a:endParaRPr b="0" i="0" sz="1400" u="none" cap="none" strike="noStrike">
              <a:solidFill>
                <a:schemeClr val="dk1"/>
              </a:solidFill>
              <a:latin typeface="Arial"/>
              <a:ea typeface="Arial"/>
              <a:cs typeface="Arial"/>
              <a:sym typeface="Arial"/>
            </a:endParaRPr>
          </a:p>
        </p:txBody>
      </p:sp>
      <p:sp>
        <p:nvSpPr>
          <p:cNvPr id="335" name="Google Shape;335;p22"/>
          <p:cNvSpPr/>
          <p:nvPr/>
        </p:nvSpPr>
        <p:spPr>
          <a:xfrm>
            <a:off x="10566400" y="6238280"/>
            <a:ext cx="812800" cy="23872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3C4043"/>
              </a:buClr>
              <a:buSzPts val="1200"/>
              <a:buFont typeface="Arial"/>
              <a:buNone/>
            </a:pPr>
            <a:r>
              <a:rPr b="0" i="0" lang="en-US" sz="1200" u="none" cap="none" strike="noStrike">
                <a:solidFill>
                  <a:srgbClr val="3C4043"/>
                </a:solidFill>
                <a:latin typeface="Arial"/>
                <a:ea typeface="Arial"/>
                <a:cs typeface="Arial"/>
                <a:sym typeface="Arial"/>
              </a:rPr>
              <a:t>19</a:t>
            </a:r>
            <a:endParaRPr b="0" i="0" sz="1200" u="none" cap="none" strike="noStrike">
              <a:solidFill>
                <a:schemeClr val="dk1"/>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0DC"/>
        </a:solidFill>
      </p:bgPr>
    </p:bg>
    <p:spTree>
      <p:nvGrpSpPr>
        <p:cNvPr id="340" name="Shape 340"/>
        <p:cNvGrpSpPr/>
        <p:nvPr/>
      </p:nvGrpSpPr>
      <p:grpSpPr>
        <a:xfrm>
          <a:off x="0" y="0"/>
          <a:ext cx="0" cy="0"/>
          <a:chOff x="0" y="0"/>
          <a:chExt cx="0" cy="0"/>
        </a:xfrm>
      </p:grpSpPr>
      <p:sp>
        <p:nvSpPr>
          <p:cNvPr id="341" name="Google Shape;341;p23"/>
          <p:cNvSpPr/>
          <p:nvPr/>
        </p:nvSpPr>
        <p:spPr>
          <a:xfrm>
            <a:off x="114300" y="114300"/>
            <a:ext cx="5886450" cy="381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C4043"/>
              </a:buClr>
              <a:buSzPts val="2000"/>
              <a:buFont typeface="Arial"/>
              <a:buNone/>
            </a:pPr>
            <a:r>
              <a:rPr b="0" i="0" lang="en-US" sz="2000" u="none" cap="none" strike="noStrike">
                <a:solidFill>
                  <a:srgbClr val="3C4043"/>
                </a:solidFill>
                <a:latin typeface="Arial"/>
                <a:ea typeface="Arial"/>
                <a:cs typeface="Arial"/>
                <a:sym typeface="Arial"/>
              </a:rPr>
              <a:t>Sequential Logic</a:t>
            </a:r>
            <a:endParaRPr b="0" i="0" sz="2000" u="none" cap="none" strike="noStrike">
              <a:solidFill>
                <a:schemeClr val="dk1"/>
              </a:solidFill>
              <a:latin typeface="Arial"/>
              <a:ea typeface="Arial"/>
              <a:cs typeface="Arial"/>
              <a:sym typeface="Arial"/>
            </a:endParaRPr>
          </a:p>
        </p:txBody>
      </p:sp>
      <p:sp>
        <p:nvSpPr>
          <p:cNvPr id="342" name="Google Shape;342;p23"/>
          <p:cNvSpPr txBox="1"/>
          <p:nvPr>
            <p:ph type="title"/>
          </p:nvPr>
        </p:nvSpPr>
        <p:spPr>
          <a:xfrm>
            <a:off x="736600" y="762000"/>
            <a:ext cx="10961878" cy="5842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3C4043"/>
              </a:buClr>
              <a:buSzPts val="4000"/>
              <a:buFont typeface="Arial"/>
              <a:buNone/>
            </a:pPr>
            <a:r>
              <a:rPr b="0" i="0" lang="en-US" sz="4000">
                <a:solidFill>
                  <a:srgbClr val="3C4043"/>
                </a:solidFill>
                <a:latin typeface="Arial"/>
                <a:ea typeface="Arial"/>
                <a:cs typeface="Arial"/>
                <a:sym typeface="Arial"/>
              </a:rPr>
              <a:t>Registers</a:t>
            </a:r>
            <a:endParaRPr sz="4000"/>
          </a:p>
        </p:txBody>
      </p:sp>
      <p:pic>
        <p:nvPicPr>
          <p:cNvPr descr="line" id="343" name="Google Shape;343;p23"/>
          <p:cNvPicPr preferRelativeResize="0"/>
          <p:nvPr/>
        </p:nvPicPr>
        <p:blipFill rotWithShape="1">
          <a:blip r:embed="rId3">
            <a:alphaModFix/>
          </a:blip>
          <a:srcRect b="0" l="0" r="0" t="0"/>
          <a:stretch/>
        </p:blipFill>
        <p:spPr>
          <a:xfrm>
            <a:off x="736600" y="1524000"/>
            <a:ext cx="10642600" cy="12700"/>
          </a:xfrm>
          <a:prstGeom prst="rect">
            <a:avLst/>
          </a:prstGeom>
          <a:noFill/>
          <a:ln>
            <a:noFill/>
          </a:ln>
        </p:spPr>
      </p:pic>
      <p:sp>
        <p:nvSpPr>
          <p:cNvPr id="344" name="Google Shape;344;p23"/>
          <p:cNvSpPr/>
          <p:nvPr/>
        </p:nvSpPr>
        <p:spPr>
          <a:xfrm>
            <a:off x="736600" y="1739900"/>
            <a:ext cx="4970780" cy="688314"/>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3C4043"/>
              </a:buClr>
              <a:buSzPts val="1800"/>
              <a:buFont typeface="Arial"/>
              <a:buNone/>
            </a:pPr>
            <a:r>
              <a:rPr b="0" i="0" lang="en-US" sz="1800" u="none" cap="none" strike="noStrike">
                <a:solidFill>
                  <a:srgbClr val="3C4043"/>
                </a:solidFill>
                <a:latin typeface="Arial"/>
                <a:ea typeface="Arial"/>
                <a:cs typeface="Arial"/>
                <a:sym typeface="Arial"/>
              </a:rPr>
              <a:t>A </a:t>
            </a:r>
            <a:r>
              <a:rPr b="1" i="0" lang="en-US" sz="1800" u="none" cap="none" strike="noStrike">
                <a:solidFill>
                  <a:srgbClr val="3C4043"/>
                </a:solidFill>
                <a:latin typeface="Arial"/>
                <a:ea typeface="Arial"/>
                <a:cs typeface="Arial"/>
                <a:sym typeface="Arial"/>
              </a:rPr>
              <a:t>register</a:t>
            </a:r>
            <a:r>
              <a:rPr b="0" i="0" lang="en-US" sz="1800" u="none" cap="none" strike="noStrike">
                <a:solidFill>
                  <a:srgbClr val="3C4043"/>
                </a:solidFill>
                <a:latin typeface="Arial"/>
                <a:ea typeface="Arial"/>
                <a:cs typeface="Arial"/>
                <a:sym typeface="Arial"/>
              </a:rPr>
              <a:t> is N flip-flops sharing one clock, storing an N-bit value.</a:t>
            </a:r>
            <a:endParaRPr b="0" i="0" sz="1800" u="none" cap="none" strike="noStrike">
              <a:solidFill>
                <a:schemeClr val="dk1"/>
              </a:solidFill>
              <a:latin typeface="Arial"/>
              <a:ea typeface="Arial"/>
              <a:cs typeface="Arial"/>
              <a:sym typeface="Arial"/>
            </a:endParaRPr>
          </a:p>
        </p:txBody>
      </p:sp>
      <p:sp>
        <p:nvSpPr>
          <p:cNvPr id="345" name="Google Shape;345;p23"/>
          <p:cNvSpPr/>
          <p:nvPr/>
        </p:nvSpPr>
        <p:spPr>
          <a:xfrm>
            <a:off x="736600" y="2580618"/>
            <a:ext cx="536575" cy="495300"/>
          </a:xfrm>
          <a:custGeom>
            <a:rect b="b" l="l" r="r" t="t"/>
            <a:pathLst>
              <a:path extrusionOk="0" h="495300" w="536575">
                <a:moveTo>
                  <a:pt x="63500" y="0"/>
                </a:moveTo>
                <a:lnTo>
                  <a:pt x="473075" y="0"/>
                </a:lnTo>
                <a:cubicBezTo>
                  <a:pt x="489916" y="0"/>
                  <a:pt x="506068" y="6690"/>
                  <a:pt x="517976" y="18599"/>
                </a:cubicBezTo>
                <a:cubicBezTo>
                  <a:pt x="529885" y="30507"/>
                  <a:pt x="536575" y="46659"/>
                  <a:pt x="536575" y="63500"/>
                </a:cubicBezTo>
                <a:lnTo>
                  <a:pt x="536575" y="431800"/>
                </a:lnTo>
                <a:cubicBezTo>
                  <a:pt x="536575" y="466870"/>
                  <a:pt x="508145" y="495300"/>
                  <a:pt x="473075" y="495300"/>
                </a:cubicBezTo>
                <a:lnTo>
                  <a:pt x="63500" y="495300"/>
                </a:lnTo>
                <a:cubicBezTo>
                  <a:pt x="28430" y="495300"/>
                  <a:pt x="0" y="466870"/>
                  <a:pt x="0" y="431800"/>
                </a:cubicBezTo>
                <a:lnTo>
                  <a:pt x="0" y="63500"/>
                </a:lnTo>
                <a:cubicBezTo>
                  <a:pt x="0" y="28430"/>
                  <a:pt x="28430" y="0"/>
                  <a:pt x="63500" y="0"/>
                </a:cubicBezTo>
                <a:close/>
              </a:path>
            </a:pathLst>
          </a:custGeom>
          <a:solidFill>
            <a:srgbClr val="B5462A"/>
          </a:solidFill>
          <a:ln>
            <a:noFill/>
          </a:ln>
        </p:spPr>
        <p:txBody>
          <a:bodyPr anchorCtr="0" anchor="t" bIns="88900" lIns="0" spcFirstLastPara="1" rIns="0" wrap="square" tIns="114300">
            <a:noAutofit/>
          </a:bodyPr>
          <a:lstStyle/>
          <a:p>
            <a:pPr indent="0" lvl="0" marL="0" marR="0" rtl="0" algn="ctr">
              <a:lnSpc>
                <a:spcPct val="140000"/>
              </a:lnSpc>
              <a:spcBef>
                <a:spcPts val="0"/>
              </a:spcBef>
              <a:spcAft>
                <a:spcPts val="0"/>
              </a:spcAft>
              <a:buClr>
                <a:srgbClr val="FFF8F0"/>
              </a:buClr>
              <a:buSzPts val="1500"/>
              <a:buFont typeface="Courier New"/>
              <a:buNone/>
            </a:pPr>
            <a:r>
              <a:rPr b="1" i="0" lang="en-US" sz="1500" u="none" cap="none" strike="noStrike">
                <a:solidFill>
                  <a:srgbClr val="FFF8F0"/>
                </a:solidFill>
                <a:latin typeface="Courier New"/>
                <a:ea typeface="Courier New"/>
                <a:cs typeface="Courier New"/>
                <a:sym typeface="Courier New"/>
              </a:rPr>
              <a:t>1</a:t>
            </a:r>
            <a:endParaRPr b="0" i="0" sz="1500" u="none" cap="none" strike="noStrike">
              <a:solidFill>
                <a:schemeClr val="dk1"/>
              </a:solidFill>
              <a:latin typeface="Arial"/>
              <a:ea typeface="Arial"/>
              <a:cs typeface="Arial"/>
              <a:sym typeface="Arial"/>
            </a:endParaRPr>
          </a:p>
        </p:txBody>
      </p:sp>
      <p:sp>
        <p:nvSpPr>
          <p:cNvPr id="346" name="Google Shape;346;p23"/>
          <p:cNvSpPr/>
          <p:nvPr/>
        </p:nvSpPr>
        <p:spPr>
          <a:xfrm>
            <a:off x="1349375" y="2580618"/>
            <a:ext cx="536575" cy="495300"/>
          </a:xfrm>
          <a:custGeom>
            <a:rect b="b" l="l" r="r" t="t"/>
            <a:pathLst>
              <a:path extrusionOk="0" h="495300" w="536575">
                <a:moveTo>
                  <a:pt x="63500" y="0"/>
                </a:moveTo>
                <a:lnTo>
                  <a:pt x="473075" y="0"/>
                </a:lnTo>
                <a:cubicBezTo>
                  <a:pt x="489916" y="0"/>
                  <a:pt x="506068" y="6690"/>
                  <a:pt x="517976" y="18599"/>
                </a:cubicBezTo>
                <a:cubicBezTo>
                  <a:pt x="529885" y="30507"/>
                  <a:pt x="536575" y="46659"/>
                  <a:pt x="536575" y="63500"/>
                </a:cubicBezTo>
                <a:lnTo>
                  <a:pt x="536575" y="431800"/>
                </a:lnTo>
                <a:cubicBezTo>
                  <a:pt x="536575" y="466870"/>
                  <a:pt x="508145" y="495300"/>
                  <a:pt x="473075" y="495300"/>
                </a:cubicBezTo>
                <a:lnTo>
                  <a:pt x="63500" y="495300"/>
                </a:lnTo>
                <a:cubicBezTo>
                  <a:pt x="28430" y="495300"/>
                  <a:pt x="0" y="466870"/>
                  <a:pt x="0" y="431800"/>
                </a:cubicBezTo>
                <a:lnTo>
                  <a:pt x="0" y="63500"/>
                </a:lnTo>
                <a:cubicBezTo>
                  <a:pt x="0" y="28430"/>
                  <a:pt x="28430" y="0"/>
                  <a:pt x="63500" y="0"/>
                </a:cubicBezTo>
                <a:close/>
              </a:path>
            </a:pathLst>
          </a:custGeom>
          <a:solidFill>
            <a:srgbClr val="B5462A"/>
          </a:solidFill>
          <a:ln>
            <a:noFill/>
          </a:ln>
        </p:spPr>
        <p:txBody>
          <a:bodyPr anchorCtr="0" anchor="t" bIns="88900" lIns="0" spcFirstLastPara="1" rIns="0" wrap="square" tIns="114300">
            <a:noAutofit/>
          </a:bodyPr>
          <a:lstStyle/>
          <a:p>
            <a:pPr indent="0" lvl="0" marL="0" marR="0" rtl="0" algn="ctr">
              <a:lnSpc>
                <a:spcPct val="140000"/>
              </a:lnSpc>
              <a:spcBef>
                <a:spcPts val="0"/>
              </a:spcBef>
              <a:spcAft>
                <a:spcPts val="0"/>
              </a:spcAft>
              <a:buClr>
                <a:srgbClr val="FFF8F0"/>
              </a:buClr>
              <a:buSzPts val="1500"/>
              <a:buFont typeface="Courier New"/>
              <a:buNone/>
            </a:pPr>
            <a:r>
              <a:rPr b="1" i="0" lang="en-US" sz="1500" u="none" cap="none" strike="noStrike">
                <a:solidFill>
                  <a:srgbClr val="FFF8F0"/>
                </a:solidFill>
                <a:latin typeface="Courier New"/>
                <a:ea typeface="Courier New"/>
                <a:cs typeface="Courier New"/>
                <a:sym typeface="Courier New"/>
              </a:rPr>
              <a:t>0</a:t>
            </a:r>
            <a:endParaRPr b="0" i="0" sz="1500" u="none" cap="none" strike="noStrike">
              <a:solidFill>
                <a:schemeClr val="dk1"/>
              </a:solidFill>
              <a:latin typeface="Arial"/>
              <a:ea typeface="Arial"/>
              <a:cs typeface="Arial"/>
              <a:sym typeface="Arial"/>
            </a:endParaRPr>
          </a:p>
        </p:txBody>
      </p:sp>
      <p:sp>
        <p:nvSpPr>
          <p:cNvPr id="347" name="Google Shape;347;p23"/>
          <p:cNvSpPr/>
          <p:nvPr/>
        </p:nvSpPr>
        <p:spPr>
          <a:xfrm>
            <a:off x="1962150" y="2580618"/>
            <a:ext cx="536575" cy="495300"/>
          </a:xfrm>
          <a:custGeom>
            <a:rect b="b" l="l" r="r" t="t"/>
            <a:pathLst>
              <a:path extrusionOk="0" h="495300" w="536575">
                <a:moveTo>
                  <a:pt x="63500" y="0"/>
                </a:moveTo>
                <a:lnTo>
                  <a:pt x="473075" y="0"/>
                </a:lnTo>
                <a:cubicBezTo>
                  <a:pt x="489916" y="0"/>
                  <a:pt x="506068" y="6690"/>
                  <a:pt x="517976" y="18599"/>
                </a:cubicBezTo>
                <a:cubicBezTo>
                  <a:pt x="529885" y="30507"/>
                  <a:pt x="536575" y="46659"/>
                  <a:pt x="536575" y="63500"/>
                </a:cubicBezTo>
                <a:lnTo>
                  <a:pt x="536575" y="431800"/>
                </a:lnTo>
                <a:cubicBezTo>
                  <a:pt x="536575" y="466870"/>
                  <a:pt x="508145" y="495300"/>
                  <a:pt x="473075" y="495300"/>
                </a:cubicBezTo>
                <a:lnTo>
                  <a:pt x="63500" y="495300"/>
                </a:lnTo>
                <a:cubicBezTo>
                  <a:pt x="28430" y="495300"/>
                  <a:pt x="0" y="466870"/>
                  <a:pt x="0" y="431800"/>
                </a:cubicBezTo>
                <a:lnTo>
                  <a:pt x="0" y="63500"/>
                </a:lnTo>
                <a:cubicBezTo>
                  <a:pt x="0" y="28430"/>
                  <a:pt x="28430" y="0"/>
                  <a:pt x="63500" y="0"/>
                </a:cubicBezTo>
                <a:close/>
              </a:path>
            </a:pathLst>
          </a:custGeom>
          <a:solidFill>
            <a:srgbClr val="B5462A"/>
          </a:solidFill>
          <a:ln>
            <a:noFill/>
          </a:ln>
        </p:spPr>
        <p:txBody>
          <a:bodyPr anchorCtr="0" anchor="t" bIns="88900" lIns="0" spcFirstLastPara="1" rIns="0" wrap="square" tIns="114300">
            <a:noAutofit/>
          </a:bodyPr>
          <a:lstStyle/>
          <a:p>
            <a:pPr indent="0" lvl="0" marL="0" marR="0" rtl="0" algn="ctr">
              <a:lnSpc>
                <a:spcPct val="140000"/>
              </a:lnSpc>
              <a:spcBef>
                <a:spcPts val="0"/>
              </a:spcBef>
              <a:spcAft>
                <a:spcPts val="0"/>
              </a:spcAft>
              <a:buClr>
                <a:srgbClr val="FFF8F0"/>
              </a:buClr>
              <a:buSzPts val="1500"/>
              <a:buFont typeface="Courier New"/>
              <a:buNone/>
            </a:pPr>
            <a:r>
              <a:rPr b="1" i="0" lang="en-US" sz="1500" u="none" cap="none" strike="noStrike">
                <a:solidFill>
                  <a:srgbClr val="FFF8F0"/>
                </a:solidFill>
                <a:latin typeface="Courier New"/>
                <a:ea typeface="Courier New"/>
                <a:cs typeface="Courier New"/>
                <a:sym typeface="Courier New"/>
              </a:rPr>
              <a:t>1</a:t>
            </a:r>
            <a:endParaRPr b="0" i="0" sz="1500" u="none" cap="none" strike="noStrike">
              <a:solidFill>
                <a:schemeClr val="dk1"/>
              </a:solidFill>
              <a:latin typeface="Arial"/>
              <a:ea typeface="Arial"/>
              <a:cs typeface="Arial"/>
              <a:sym typeface="Arial"/>
            </a:endParaRPr>
          </a:p>
        </p:txBody>
      </p:sp>
      <p:sp>
        <p:nvSpPr>
          <p:cNvPr id="348" name="Google Shape;348;p23"/>
          <p:cNvSpPr/>
          <p:nvPr/>
        </p:nvSpPr>
        <p:spPr>
          <a:xfrm>
            <a:off x="2574925" y="2580618"/>
            <a:ext cx="536575" cy="495300"/>
          </a:xfrm>
          <a:custGeom>
            <a:rect b="b" l="l" r="r" t="t"/>
            <a:pathLst>
              <a:path extrusionOk="0" h="495300" w="536575">
                <a:moveTo>
                  <a:pt x="63500" y="0"/>
                </a:moveTo>
                <a:lnTo>
                  <a:pt x="473075" y="0"/>
                </a:lnTo>
                <a:cubicBezTo>
                  <a:pt x="489916" y="0"/>
                  <a:pt x="506068" y="6690"/>
                  <a:pt x="517976" y="18599"/>
                </a:cubicBezTo>
                <a:cubicBezTo>
                  <a:pt x="529885" y="30507"/>
                  <a:pt x="536575" y="46659"/>
                  <a:pt x="536575" y="63500"/>
                </a:cubicBezTo>
                <a:lnTo>
                  <a:pt x="536575" y="431800"/>
                </a:lnTo>
                <a:cubicBezTo>
                  <a:pt x="536575" y="466870"/>
                  <a:pt x="508145" y="495300"/>
                  <a:pt x="473075" y="495300"/>
                </a:cubicBezTo>
                <a:lnTo>
                  <a:pt x="63500" y="495300"/>
                </a:lnTo>
                <a:cubicBezTo>
                  <a:pt x="28430" y="495300"/>
                  <a:pt x="0" y="466870"/>
                  <a:pt x="0" y="431800"/>
                </a:cubicBezTo>
                <a:lnTo>
                  <a:pt x="0" y="63500"/>
                </a:lnTo>
                <a:cubicBezTo>
                  <a:pt x="0" y="28430"/>
                  <a:pt x="28430" y="0"/>
                  <a:pt x="63500" y="0"/>
                </a:cubicBezTo>
                <a:close/>
              </a:path>
            </a:pathLst>
          </a:custGeom>
          <a:solidFill>
            <a:srgbClr val="B5462A"/>
          </a:solidFill>
          <a:ln>
            <a:noFill/>
          </a:ln>
        </p:spPr>
        <p:txBody>
          <a:bodyPr anchorCtr="0" anchor="t" bIns="88900" lIns="0" spcFirstLastPara="1" rIns="0" wrap="square" tIns="114300">
            <a:noAutofit/>
          </a:bodyPr>
          <a:lstStyle/>
          <a:p>
            <a:pPr indent="0" lvl="0" marL="0" marR="0" rtl="0" algn="ctr">
              <a:lnSpc>
                <a:spcPct val="140000"/>
              </a:lnSpc>
              <a:spcBef>
                <a:spcPts val="0"/>
              </a:spcBef>
              <a:spcAft>
                <a:spcPts val="0"/>
              </a:spcAft>
              <a:buClr>
                <a:srgbClr val="FFF8F0"/>
              </a:buClr>
              <a:buSzPts val="1500"/>
              <a:buFont typeface="Courier New"/>
              <a:buNone/>
            </a:pPr>
            <a:r>
              <a:rPr b="1" i="0" lang="en-US" sz="1500" u="none" cap="none" strike="noStrike">
                <a:solidFill>
                  <a:srgbClr val="FFF8F0"/>
                </a:solidFill>
                <a:latin typeface="Courier New"/>
                <a:ea typeface="Courier New"/>
                <a:cs typeface="Courier New"/>
                <a:sym typeface="Courier New"/>
              </a:rPr>
              <a:t>1</a:t>
            </a:r>
            <a:endParaRPr b="0" i="0" sz="1500" u="none" cap="none" strike="noStrike">
              <a:solidFill>
                <a:schemeClr val="dk1"/>
              </a:solidFill>
              <a:latin typeface="Arial"/>
              <a:ea typeface="Arial"/>
              <a:cs typeface="Arial"/>
              <a:sym typeface="Arial"/>
            </a:endParaRPr>
          </a:p>
        </p:txBody>
      </p:sp>
      <p:sp>
        <p:nvSpPr>
          <p:cNvPr id="349" name="Google Shape;349;p23"/>
          <p:cNvSpPr/>
          <p:nvPr/>
        </p:nvSpPr>
        <p:spPr>
          <a:xfrm>
            <a:off x="3187700" y="2580618"/>
            <a:ext cx="536575" cy="495300"/>
          </a:xfrm>
          <a:custGeom>
            <a:rect b="b" l="l" r="r" t="t"/>
            <a:pathLst>
              <a:path extrusionOk="0" h="495300" w="536575">
                <a:moveTo>
                  <a:pt x="63500" y="0"/>
                </a:moveTo>
                <a:lnTo>
                  <a:pt x="473075" y="0"/>
                </a:lnTo>
                <a:cubicBezTo>
                  <a:pt x="489916" y="0"/>
                  <a:pt x="506068" y="6690"/>
                  <a:pt x="517976" y="18599"/>
                </a:cubicBezTo>
                <a:cubicBezTo>
                  <a:pt x="529885" y="30507"/>
                  <a:pt x="536575" y="46659"/>
                  <a:pt x="536575" y="63500"/>
                </a:cubicBezTo>
                <a:lnTo>
                  <a:pt x="536575" y="431800"/>
                </a:lnTo>
                <a:cubicBezTo>
                  <a:pt x="536575" y="466870"/>
                  <a:pt x="508145" y="495300"/>
                  <a:pt x="473075" y="495300"/>
                </a:cubicBezTo>
                <a:lnTo>
                  <a:pt x="63500" y="495300"/>
                </a:lnTo>
                <a:cubicBezTo>
                  <a:pt x="28430" y="495300"/>
                  <a:pt x="0" y="466870"/>
                  <a:pt x="0" y="431800"/>
                </a:cubicBezTo>
                <a:lnTo>
                  <a:pt x="0" y="63500"/>
                </a:lnTo>
                <a:cubicBezTo>
                  <a:pt x="0" y="28430"/>
                  <a:pt x="28430" y="0"/>
                  <a:pt x="63500" y="0"/>
                </a:cubicBezTo>
                <a:close/>
              </a:path>
            </a:pathLst>
          </a:custGeom>
          <a:solidFill>
            <a:srgbClr val="B5462A"/>
          </a:solidFill>
          <a:ln>
            <a:noFill/>
          </a:ln>
        </p:spPr>
        <p:txBody>
          <a:bodyPr anchorCtr="0" anchor="t" bIns="88900" lIns="0" spcFirstLastPara="1" rIns="0" wrap="square" tIns="114300">
            <a:noAutofit/>
          </a:bodyPr>
          <a:lstStyle/>
          <a:p>
            <a:pPr indent="0" lvl="0" marL="0" marR="0" rtl="0" algn="ctr">
              <a:lnSpc>
                <a:spcPct val="140000"/>
              </a:lnSpc>
              <a:spcBef>
                <a:spcPts val="0"/>
              </a:spcBef>
              <a:spcAft>
                <a:spcPts val="0"/>
              </a:spcAft>
              <a:buClr>
                <a:srgbClr val="FFF8F0"/>
              </a:buClr>
              <a:buSzPts val="1500"/>
              <a:buFont typeface="Courier New"/>
              <a:buNone/>
            </a:pPr>
            <a:r>
              <a:rPr b="1" i="0" lang="en-US" sz="1500" u="none" cap="none" strike="noStrike">
                <a:solidFill>
                  <a:srgbClr val="FFF8F0"/>
                </a:solidFill>
                <a:latin typeface="Courier New"/>
                <a:ea typeface="Courier New"/>
                <a:cs typeface="Courier New"/>
                <a:sym typeface="Courier New"/>
              </a:rPr>
              <a:t>0</a:t>
            </a:r>
            <a:endParaRPr b="0" i="0" sz="1500" u="none" cap="none" strike="noStrike">
              <a:solidFill>
                <a:schemeClr val="dk1"/>
              </a:solidFill>
              <a:latin typeface="Arial"/>
              <a:ea typeface="Arial"/>
              <a:cs typeface="Arial"/>
              <a:sym typeface="Arial"/>
            </a:endParaRPr>
          </a:p>
        </p:txBody>
      </p:sp>
      <p:sp>
        <p:nvSpPr>
          <p:cNvPr id="350" name="Google Shape;350;p23"/>
          <p:cNvSpPr/>
          <p:nvPr/>
        </p:nvSpPr>
        <p:spPr>
          <a:xfrm>
            <a:off x="3800475" y="2580618"/>
            <a:ext cx="536575" cy="495300"/>
          </a:xfrm>
          <a:custGeom>
            <a:rect b="b" l="l" r="r" t="t"/>
            <a:pathLst>
              <a:path extrusionOk="0" h="495300" w="536575">
                <a:moveTo>
                  <a:pt x="63500" y="0"/>
                </a:moveTo>
                <a:lnTo>
                  <a:pt x="473075" y="0"/>
                </a:lnTo>
                <a:cubicBezTo>
                  <a:pt x="489916" y="0"/>
                  <a:pt x="506068" y="6690"/>
                  <a:pt x="517976" y="18599"/>
                </a:cubicBezTo>
                <a:cubicBezTo>
                  <a:pt x="529885" y="30507"/>
                  <a:pt x="536575" y="46659"/>
                  <a:pt x="536575" y="63500"/>
                </a:cubicBezTo>
                <a:lnTo>
                  <a:pt x="536575" y="431800"/>
                </a:lnTo>
                <a:cubicBezTo>
                  <a:pt x="536575" y="466870"/>
                  <a:pt x="508145" y="495300"/>
                  <a:pt x="473075" y="495300"/>
                </a:cubicBezTo>
                <a:lnTo>
                  <a:pt x="63500" y="495300"/>
                </a:lnTo>
                <a:cubicBezTo>
                  <a:pt x="28430" y="495300"/>
                  <a:pt x="0" y="466870"/>
                  <a:pt x="0" y="431800"/>
                </a:cubicBezTo>
                <a:lnTo>
                  <a:pt x="0" y="63500"/>
                </a:lnTo>
                <a:cubicBezTo>
                  <a:pt x="0" y="28430"/>
                  <a:pt x="28430" y="0"/>
                  <a:pt x="63500" y="0"/>
                </a:cubicBezTo>
                <a:close/>
              </a:path>
            </a:pathLst>
          </a:custGeom>
          <a:solidFill>
            <a:srgbClr val="B5462A"/>
          </a:solidFill>
          <a:ln>
            <a:noFill/>
          </a:ln>
        </p:spPr>
        <p:txBody>
          <a:bodyPr anchorCtr="0" anchor="t" bIns="88900" lIns="0" spcFirstLastPara="1" rIns="0" wrap="square" tIns="114300">
            <a:noAutofit/>
          </a:bodyPr>
          <a:lstStyle/>
          <a:p>
            <a:pPr indent="0" lvl="0" marL="0" marR="0" rtl="0" algn="ctr">
              <a:lnSpc>
                <a:spcPct val="140000"/>
              </a:lnSpc>
              <a:spcBef>
                <a:spcPts val="0"/>
              </a:spcBef>
              <a:spcAft>
                <a:spcPts val="0"/>
              </a:spcAft>
              <a:buClr>
                <a:srgbClr val="FFF8F0"/>
              </a:buClr>
              <a:buSzPts val="1500"/>
              <a:buFont typeface="Courier New"/>
              <a:buNone/>
            </a:pPr>
            <a:r>
              <a:rPr b="1" i="0" lang="en-US" sz="1500" u="none" cap="none" strike="noStrike">
                <a:solidFill>
                  <a:srgbClr val="FFF8F0"/>
                </a:solidFill>
                <a:latin typeface="Courier New"/>
                <a:ea typeface="Courier New"/>
                <a:cs typeface="Courier New"/>
                <a:sym typeface="Courier New"/>
              </a:rPr>
              <a:t>0</a:t>
            </a:r>
            <a:endParaRPr b="0" i="0" sz="1500" u="none" cap="none" strike="noStrike">
              <a:solidFill>
                <a:schemeClr val="dk1"/>
              </a:solidFill>
              <a:latin typeface="Arial"/>
              <a:ea typeface="Arial"/>
              <a:cs typeface="Arial"/>
              <a:sym typeface="Arial"/>
            </a:endParaRPr>
          </a:p>
        </p:txBody>
      </p:sp>
      <p:sp>
        <p:nvSpPr>
          <p:cNvPr id="351" name="Google Shape;351;p23"/>
          <p:cNvSpPr/>
          <p:nvPr/>
        </p:nvSpPr>
        <p:spPr>
          <a:xfrm>
            <a:off x="4413250" y="2580618"/>
            <a:ext cx="536575" cy="495300"/>
          </a:xfrm>
          <a:custGeom>
            <a:rect b="b" l="l" r="r" t="t"/>
            <a:pathLst>
              <a:path extrusionOk="0" h="495300" w="536575">
                <a:moveTo>
                  <a:pt x="63500" y="0"/>
                </a:moveTo>
                <a:lnTo>
                  <a:pt x="473075" y="0"/>
                </a:lnTo>
                <a:cubicBezTo>
                  <a:pt x="489916" y="0"/>
                  <a:pt x="506068" y="6690"/>
                  <a:pt x="517976" y="18599"/>
                </a:cubicBezTo>
                <a:cubicBezTo>
                  <a:pt x="529885" y="30507"/>
                  <a:pt x="536575" y="46659"/>
                  <a:pt x="536575" y="63500"/>
                </a:cubicBezTo>
                <a:lnTo>
                  <a:pt x="536575" y="431800"/>
                </a:lnTo>
                <a:cubicBezTo>
                  <a:pt x="536575" y="466870"/>
                  <a:pt x="508145" y="495300"/>
                  <a:pt x="473075" y="495300"/>
                </a:cubicBezTo>
                <a:lnTo>
                  <a:pt x="63500" y="495300"/>
                </a:lnTo>
                <a:cubicBezTo>
                  <a:pt x="28430" y="495300"/>
                  <a:pt x="0" y="466870"/>
                  <a:pt x="0" y="431800"/>
                </a:cubicBezTo>
                <a:lnTo>
                  <a:pt x="0" y="63500"/>
                </a:lnTo>
                <a:cubicBezTo>
                  <a:pt x="0" y="28430"/>
                  <a:pt x="28430" y="0"/>
                  <a:pt x="63500" y="0"/>
                </a:cubicBezTo>
                <a:close/>
              </a:path>
            </a:pathLst>
          </a:custGeom>
          <a:solidFill>
            <a:srgbClr val="B5462A"/>
          </a:solidFill>
          <a:ln>
            <a:noFill/>
          </a:ln>
        </p:spPr>
        <p:txBody>
          <a:bodyPr anchorCtr="0" anchor="t" bIns="88900" lIns="0" spcFirstLastPara="1" rIns="0" wrap="square" tIns="114300">
            <a:noAutofit/>
          </a:bodyPr>
          <a:lstStyle/>
          <a:p>
            <a:pPr indent="0" lvl="0" marL="0" marR="0" rtl="0" algn="ctr">
              <a:lnSpc>
                <a:spcPct val="140000"/>
              </a:lnSpc>
              <a:spcBef>
                <a:spcPts val="0"/>
              </a:spcBef>
              <a:spcAft>
                <a:spcPts val="0"/>
              </a:spcAft>
              <a:buClr>
                <a:srgbClr val="FFF8F0"/>
              </a:buClr>
              <a:buSzPts val="1500"/>
              <a:buFont typeface="Courier New"/>
              <a:buNone/>
            </a:pPr>
            <a:r>
              <a:rPr b="1" i="0" lang="en-US" sz="1500" u="none" cap="none" strike="noStrike">
                <a:solidFill>
                  <a:srgbClr val="FFF8F0"/>
                </a:solidFill>
                <a:latin typeface="Courier New"/>
                <a:ea typeface="Courier New"/>
                <a:cs typeface="Courier New"/>
                <a:sym typeface="Courier New"/>
              </a:rPr>
              <a:t>1</a:t>
            </a:r>
            <a:endParaRPr b="0" i="0" sz="1500" u="none" cap="none" strike="noStrike">
              <a:solidFill>
                <a:schemeClr val="dk1"/>
              </a:solidFill>
              <a:latin typeface="Arial"/>
              <a:ea typeface="Arial"/>
              <a:cs typeface="Arial"/>
              <a:sym typeface="Arial"/>
            </a:endParaRPr>
          </a:p>
        </p:txBody>
      </p:sp>
      <p:sp>
        <p:nvSpPr>
          <p:cNvPr id="352" name="Google Shape;352;p23"/>
          <p:cNvSpPr/>
          <p:nvPr/>
        </p:nvSpPr>
        <p:spPr>
          <a:xfrm>
            <a:off x="5026025" y="2580618"/>
            <a:ext cx="536575" cy="495300"/>
          </a:xfrm>
          <a:custGeom>
            <a:rect b="b" l="l" r="r" t="t"/>
            <a:pathLst>
              <a:path extrusionOk="0" h="495300" w="536575">
                <a:moveTo>
                  <a:pt x="63500" y="0"/>
                </a:moveTo>
                <a:lnTo>
                  <a:pt x="473075" y="0"/>
                </a:lnTo>
                <a:cubicBezTo>
                  <a:pt x="489916" y="0"/>
                  <a:pt x="506068" y="6690"/>
                  <a:pt x="517976" y="18599"/>
                </a:cubicBezTo>
                <a:cubicBezTo>
                  <a:pt x="529885" y="30507"/>
                  <a:pt x="536575" y="46659"/>
                  <a:pt x="536575" y="63500"/>
                </a:cubicBezTo>
                <a:lnTo>
                  <a:pt x="536575" y="431800"/>
                </a:lnTo>
                <a:cubicBezTo>
                  <a:pt x="536575" y="466870"/>
                  <a:pt x="508145" y="495300"/>
                  <a:pt x="473075" y="495300"/>
                </a:cubicBezTo>
                <a:lnTo>
                  <a:pt x="63500" y="495300"/>
                </a:lnTo>
                <a:cubicBezTo>
                  <a:pt x="28430" y="495300"/>
                  <a:pt x="0" y="466870"/>
                  <a:pt x="0" y="431800"/>
                </a:cubicBezTo>
                <a:lnTo>
                  <a:pt x="0" y="63500"/>
                </a:lnTo>
                <a:cubicBezTo>
                  <a:pt x="0" y="28430"/>
                  <a:pt x="28430" y="0"/>
                  <a:pt x="63500" y="0"/>
                </a:cubicBezTo>
                <a:close/>
              </a:path>
            </a:pathLst>
          </a:custGeom>
          <a:solidFill>
            <a:srgbClr val="B5462A"/>
          </a:solidFill>
          <a:ln>
            <a:noFill/>
          </a:ln>
        </p:spPr>
        <p:txBody>
          <a:bodyPr anchorCtr="0" anchor="t" bIns="88900" lIns="0" spcFirstLastPara="1" rIns="0" wrap="square" tIns="114300">
            <a:noAutofit/>
          </a:bodyPr>
          <a:lstStyle/>
          <a:p>
            <a:pPr indent="0" lvl="0" marL="0" marR="0" rtl="0" algn="ctr">
              <a:lnSpc>
                <a:spcPct val="140000"/>
              </a:lnSpc>
              <a:spcBef>
                <a:spcPts val="0"/>
              </a:spcBef>
              <a:spcAft>
                <a:spcPts val="0"/>
              </a:spcAft>
              <a:buClr>
                <a:srgbClr val="FFF8F0"/>
              </a:buClr>
              <a:buSzPts val="1500"/>
              <a:buFont typeface="Courier New"/>
              <a:buNone/>
            </a:pPr>
            <a:r>
              <a:rPr b="1" i="0" lang="en-US" sz="1500" u="none" cap="none" strike="noStrike">
                <a:solidFill>
                  <a:srgbClr val="FFF8F0"/>
                </a:solidFill>
                <a:latin typeface="Courier New"/>
                <a:ea typeface="Courier New"/>
                <a:cs typeface="Courier New"/>
                <a:sym typeface="Courier New"/>
              </a:rPr>
              <a:t>0</a:t>
            </a:r>
            <a:endParaRPr b="0" i="0" sz="1500" u="none" cap="none" strike="noStrike">
              <a:solidFill>
                <a:schemeClr val="dk1"/>
              </a:solidFill>
              <a:latin typeface="Arial"/>
              <a:ea typeface="Arial"/>
              <a:cs typeface="Arial"/>
              <a:sym typeface="Arial"/>
            </a:endParaRPr>
          </a:p>
        </p:txBody>
      </p:sp>
      <p:sp>
        <p:nvSpPr>
          <p:cNvPr id="353" name="Google Shape;353;p23"/>
          <p:cNvSpPr/>
          <p:nvPr/>
        </p:nvSpPr>
        <p:spPr>
          <a:xfrm>
            <a:off x="736600" y="3253718"/>
            <a:ext cx="5232400" cy="274307"/>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4E52"/>
              </a:buClr>
              <a:buSzPts val="1400"/>
              <a:buFont typeface="Arial"/>
              <a:buNone/>
            </a:pPr>
            <a:r>
              <a:rPr b="0" i="0" lang="en-US" sz="1400" u="none" cap="none" strike="noStrike">
                <a:solidFill>
                  <a:srgbClr val="4A4E52"/>
                </a:solidFill>
                <a:latin typeface="Arial"/>
                <a:ea typeface="Arial"/>
                <a:cs typeface="Arial"/>
                <a:sym typeface="Arial"/>
              </a:rPr>
              <a:t>8 flip-flops = one 8-bit register, all updated on the same edge</a:t>
            </a:r>
            <a:endParaRPr b="0" i="0" sz="1400" u="none" cap="none" strike="noStrike">
              <a:solidFill>
                <a:schemeClr val="dk1"/>
              </a:solidFill>
              <a:latin typeface="Arial"/>
              <a:ea typeface="Arial"/>
              <a:cs typeface="Arial"/>
              <a:sym typeface="Arial"/>
            </a:endParaRPr>
          </a:p>
        </p:txBody>
      </p:sp>
      <p:sp>
        <p:nvSpPr>
          <p:cNvPr id="354" name="Google Shape;354;p23"/>
          <p:cNvSpPr/>
          <p:nvPr/>
        </p:nvSpPr>
        <p:spPr>
          <a:xfrm>
            <a:off x="813308" y="3680420"/>
            <a:ext cx="4886452" cy="939800"/>
          </a:xfrm>
          <a:prstGeom prst="rect">
            <a:avLst/>
          </a:prstGeom>
          <a:noFill/>
          <a:ln>
            <a:noFill/>
          </a:ln>
        </p:spPr>
        <p:txBody>
          <a:bodyPr anchorCtr="0" anchor="t" bIns="0" lIns="0" spcFirstLastPara="1" rIns="0" wrap="square" tIns="0">
            <a:noAutofit/>
          </a:bodyPr>
          <a:lstStyle/>
          <a:p>
            <a:pPr indent="-177292" lvl="0" marL="177292" marR="0" rtl="0" algn="l">
              <a:lnSpc>
                <a:spcPct val="150000"/>
              </a:lnSpc>
              <a:spcBef>
                <a:spcPts val="0"/>
              </a:spcBef>
              <a:spcAft>
                <a:spcPts val="0"/>
              </a:spcAft>
              <a:buClr>
                <a:srgbClr val="3C4043"/>
              </a:buClr>
              <a:buSzPts val="1600"/>
              <a:buFont typeface="Arial"/>
              <a:buChar char="•"/>
            </a:pPr>
            <a:r>
              <a:rPr b="0" i="0" lang="en-US" sz="1600" u="none" cap="none" strike="noStrike">
                <a:solidFill>
                  <a:srgbClr val="3C4043"/>
                </a:solidFill>
                <a:latin typeface="Arial"/>
                <a:ea typeface="Arial"/>
                <a:cs typeface="Arial"/>
                <a:sym typeface="Arial"/>
              </a:rPr>
              <a:t>Hold CPU values, pipeline stages, settings</a:t>
            </a:r>
            <a:endParaRPr b="0" i="0" sz="1600" u="none" cap="none" strike="noStrike">
              <a:solidFill>
                <a:schemeClr val="dk1"/>
              </a:solidFill>
              <a:latin typeface="Arial"/>
              <a:ea typeface="Arial"/>
              <a:cs typeface="Arial"/>
              <a:sym typeface="Arial"/>
            </a:endParaRPr>
          </a:p>
          <a:p>
            <a:pPr indent="-177292" lvl="0" marL="177292" marR="0" rtl="0" algn="l">
              <a:lnSpc>
                <a:spcPct val="150000"/>
              </a:lnSpc>
              <a:spcBef>
                <a:spcPts val="0"/>
              </a:spcBef>
              <a:spcAft>
                <a:spcPts val="0"/>
              </a:spcAft>
              <a:buClr>
                <a:srgbClr val="3C4043"/>
              </a:buClr>
              <a:buSzPts val="1600"/>
              <a:buFont typeface="Arial"/>
              <a:buChar char="•"/>
            </a:pPr>
            <a:r>
              <a:rPr b="0" i="0" lang="en-US" sz="1600" u="none" cap="none" strike="noStrike">
                <a:solidFill>
                  <a:srgbClr val="3C4043"/>
                </a:solidFill>
                <a:latin typeface="Arial"/>
                <a:ea typeface="Arial"/>
                <a:cs typeface="Arial"/>
                <a:sym typeface="Arial"/>
              </a:rPr>
              <a:t>Vivado maps each bit to an FPGA flip-flop (FDRE / FDCE)</a:t>
            </a:r>
            <a:endParaRPr b="0" i="0" sz="1600" u="none" cap="none" strike="noStrike">
              <a:solidFill>
                <a:schemeClr val="dk1"/>
              </a:solidFill>
              <a:latin typeface="Arial"/>
              <a:ea typeface="Arial"/>
              <a:cs typeface="Arial"/>
              <a:sym typeface="Arial"/>
            </a:endParaRPr>
          </a:p>
        </p:txBody>
      </p:sp>
      <p:sp>
        <p:nvSpPr>
          <p:cNvPr id="355" name="Google Shape;355;p23"/>
          <p:cNvSpPr/>
          <p:nvPr/>
        </p:nvSpPr>
        <p:spPr>
          <a:xfrm>
            <a:off x="5969000" y="1739900"/>
            <a:ext cx="5410200" cy="2570163"/>
          </a:xfrm>
          <a:prstGeom prst="roundRect">
            <a:avLst>
              <a:gd fmla="val 5930" name="adj"/>
            </a:avLst>
          </a:prstGeom>
          <a:solidFill>
            <a:srgbClr val="2F3237"/>
          </a:solidFill>
          <a:ln>
            <a:noFill/>
          </a:ln>
        </p:spPr>
        <p:txBody>
          <a:bodyPr anchorCtr="0" anchor="t" bIns="183950" lIns="234750" spcFirstLastPara="1" rIns="89200" wrap="square" tIns="209350">
            <a:noAutofit/>
          </a:bodyPr>
          <a:lstStyle/>
          <a:p>
            <a:pPr indent="0" lvl="0" marL="0" marR="0" rtl="0" algn="l">
              <a:lnSpc>
                <a:spcPct val="145000"/>
              </a:lnSpc>
              <a:spcBef>
                <a:spcPts val="0"/>
              </a:spcBef>
              <a:spcAft>
                <a:spcPts val="0"/>
              </a:spcAft>
              <a:buClr>
                <a:srgbClr val="A9C4D6"/>
              </a:buClr>
              <a:buSzPts val="1400"/>
              <a:buFont typeface="Courier New"/>
              <a:buNone/>
            </a:pPr>
            <a:r>
              <a:rPr b="0" i="0" lang="en-US" sz="1400" u="none" cap="none" strike="noStrike">
                <a:solidFill>
                  <a:srgbClr val="A9C4D6"/>
                </a:solidFill>
                <a:latin typeface="Courier New"/>
                <a:ea typeface="Courier New"/>
                <a:cs typeface="Courier New"/>
                <a:sym typeface="Courier New"/>
              </a:rPr>
              <a:t>// 8-bit register</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logic [7:0] r;</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always_ff @(posedge clk)</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  r &lt;= d;</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A9C4D6"/>
              </a:buClr>
              <a:buSzPts val="1400"/>
              <a:buFont typeface="Courier New"/>
              <a:buNone/>
            </a:pPr>
            <a:r>
              <a:rPr b="0" i="0" lang="en-US" sz="1400" u="none" cap="none" strike="noStrike">
                <a:solidFill>
                  <a:srgbClr val="A9C4D6"/>
                </a:solidFill>
                <a:latin typeface="Courier New"/>
                <a:ea typeface="Courier New"/>
                <a:cs typeface="Courier New"/>
                <a:sym typeface="Courier New"/>
              </a:rPr>
              <a:t>// same code as one flip-flop,</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A9C4D6"/>
              </a:buClr>
              <a:buSzPts val="1400"/>
              <a:buFont typeface="Courier New"/>
              <a:buNone/>
            </a:pPr>
            <a:r>
              <a:rPr b="0" i="0" lang="en-US" sz="1400" u="none" cap="none" strike="noStrike">
                <a:solidFill>
                  <a:srgbClr val="A9C4D6"/>
                </a:solidFill>
                <a:latin typeface="Courier New"/>
                <a:ea typeface="Courier New"/>
                <a:cs typeface="Courier New"/>
                <a:sym typeface="Courier New"/>
              </a:rPr>
              <a:t>// just a wider signal</a:t>
            </a:r>
            <a:endParaRPr b="0" i="0" sz="1400" u="none" cap="none" strike="noStrike">
              <a:solidFill>
                <a:schemeClr val="dk1"/>
              </a:solidFill>
              <a:latin typeface="Arial"/>
              <a:ea typeface="Arial"/>
              <a:cs typeface="Arial"/>
              <a:sym typeface="Arial"/>
            </a:endParaRPr>
          </a:p>
        </p:txBody>
      </p:sp>
      <p:sp>
        <p:nvSpPr>
          <p:cNvPr id="356" name="Google Shape;356;p23"/>
          <p:cNvSpPr/>
          <p:nvPr/>
        </p:nvSpPr>
        <p:spPr>
          <a:xfrm>
            <a:off x="10566400" y="6238280"/>
            <a:ext cx="812800" cy="23872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3C4043"/>
              </a:buClr>
              <a:buSzPts val="1200"/>
              <a:buFont typeface="Arial"/>
              <a:buNone/>
            </a:pPr>
            <a:r>
              <a:rPr b="0" i="0" lang="en-US" sz="1200" u="none" cap="none" strike="noStrike">
                <a:solidFill>
                  <a:srgbClr val="3C4043"/>
                </a:solidFill>
                <a:latin typeface="Arial"/>
                <a:ea typeface="Arial"/>
                <a:cs typeface="Arial"/>
                <a:sym typeface="Arial"/>
              </a:rPr>
              <a:t>20</a:t>
            </a:r>
            <a:endParaRPr b="0" i="0" sz="1200" u="none" cap="none" strike="noStrike">
              <a:solidFill>
                <a:schemeClr val="dk1"/>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0DC"/>
        </a:solidFill>
      </p:bgPr>
    </p:bg>
    <p:spTree>
      <p:nvGrpSpPr>
        <p:cNvPr id="361" name="Shape 361"/>
        <p:cNvGrpSpPr/>
        <p:nvPr/>
      </p:nvGrpSpPr>
      <p:grpSpPr>
        <a:xfrm>
          <a:off x="0" y="0"/>
          <a:ext cx="0" cy="0"/>
          <a:chOff x="0" y="0"/>
          <a:chExt cx="0" cy="0"/>
        </a:xfrm>
      </p:grpSpPr>
      <p:sp>
        <p:nvSpPr>
          <p:cNvPr id="362" name="Google Shape;362;p24"/>
          <p:cNvSpPr/>
          <p:nvPr/>
        </p:nvSpPr>
        <p:spPr>
          <a:xfrm>
            <a:off x="114300" y="114300"/>
            <a:ext cx="5886450" cy="381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C4043"/>
              </a:buClr>
              <a:buSzPts val="2000"/>
              <a:buFont typeface="Arial"/>
              <a:buNone/>
            </a:pPr>
            <a:r>
              <a:rPr b="0" i="0" lang="en-US" sz="2000" u="none" cap="none" strike="noStrike">
                <a:solidFill>
                  <a:srgbClr val="3C4043"/>
                </a:solidFill>
                <a:latin typeface="Arial"/>
                <a:ea typeface="Arial"/>
                <a:cs typeface="Arial"/>
                <a:sym typeface="Arial"/>
              </a:rPr>
              <a:t>Sequential Logic</a:t>
            </a:r>
            <a:endParaRPr b="0" i="0" sz="2000" u="none" cap="none" strike="noStrike">
              <a:solidFill>
                <a:schemeClr val="dk1"/>
              </a:solidFill>
              <a:latin typeface="Arial"/>
              <a:ea typeface="Arial"/>
              <a:cs typeface="Arial"/>
              <a:sym typeface="Arial"/>
            </a:endParaRPr>
          </a:p>
        </p:txBody>
      </p:sp>
      <p:sp>
        <p:nvSpPr>
          <p:cNvPr id="363" name="Google Shape;363;p24"/>
          <p:cNvSpPr txBox="1"/>
          <p:nvPr>
            <p:ph type="title"/>
          </p:nvPr>
        </p:nvSpPr>
        <p:spPr>
          <a:xfrm>
            <a:off x="736600" y="762000"/>
            <a:ext cx="10961878" cy="5842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3C4043"/>
              </a:buClr>
              <a:buSzPts val="4000"/>
              <a:buFont typeface="Arial"/>
              <a:buNone/>
            </a:pPr>
            <a:r>
              <a:rPr b="0" i="0" lang="en-US" sz="4000">
                <a:solidFill>
                  <a:srgbClr val="3C4043"/>
                </a:solidFill>
                <a:latin typeface="Arial"/>
                <a:ea typeface="Arial"/>
                <a:cs typeface="Arial"/>
                <a:sym typeface="Arial"/>
              </a:rPr>
              <a:t>Enable Signals</a:t>
            </a:r>
            <a:endParaRPr sz="4000"/>
          </a:p>
        </p:txBody>
      </p:sp>
      <p:pic>
        <p:nvPicPr>
          <p:cNvPr descr="line" id="364" name="Google Shape;364;p24"/>
          <p:cNvPicPr preferRelativeResize="0"/>
          <p:nvPr/>
        </p:nvPicPr>
        <p:blipFill rotWithShape="1">
          <a:blip r:embed="rId3">
            <a:alphaModFix/>
          </a:blip>
          <a:srcRect b="0" l="0" r="0" t="0"/>
          <a:stretch/>
        </p:blipFill>
        <p:spPr>
          <a:xfrm>
            <a:off x="736600" y="1524000"/>
            <a:ext cx="10642600" cy="12700"/>
          </a:xfrm>
          <a:prstGeom prst="rect">
            <a:avLst/>
          </a:prstGeom>
          <a:noFill/>
          <a:ln>
            <a:noFill/>
          </a:ln>
        </p:spPr>
      </p:pic>
      <p:sp>
        <p:nvSpPr>
          <p:cNvPr id="365" name="Google Shape;365;p24"/>
          <p:cNvSpPr/>
          <p:nvPr/>
        </p:nvSpPr>
        <p:spPr>
          <a:xfrm>
            <a:off x="736600" y="1739900"/>
            <a:ext cx="4970780" cy="688314"/>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3C4043"/>
              </a:buClr>
              <a:buSzPts val="1800"/>
              <a:buFont typeface="Arial"/>
              <a:buNone/>
            </a:pPr>
            <a:r>
              <a:rPr b="0" i="0" lang="en-US" sz="1800" u="none" cap="none" strike="noStrike">
                <a:solidFill>
                  <a:srgbClr val="3C4043"/>
                </a:solidFill>
                <a:latin typeface="Arial"/>
                <a:ea typeface="Arial"/>
                <a:cs typeface="Arial"/>
                <a:sym typeface="Arial"/>
              </a:rPr>
              <a:t>An </a:t>
            </a:r>
            <a:r>
              <a:rPr b="1" i="0" lang="en-US" sz="1800" u="none" cap="none" strike="noStrike">
                <a:solidFill>
                  <a:srgbClr val="3C4043"/>
                </a:solidFill>
                <a:latin typeface="Arial"/>
                <a:ea typeface="Arial"/>
                <a:cs typeface="Arial"/>
                <a:sym typeface="Arial"/>
              </a:rPr>
              <a:t>enable</a:t>
            </a:r>
            <a:r>
              <a:rPr b="0" i="0" lang="en-US" sz="1800" u="none" cap="none" strike="noStrike">
                <a:solidFill>
                  <a:srgbClr val="3C4043"/>
                </a:solidFill>
                <a:latin typeface="Arial"/>
                <a:ea typeface="Arial"/>
                <a:cs typeface="Arial"/>
                <a:sym typeface="Arial"/>
              </a:rPr>
              <a:t> decides whether the register loads a new value on this edge, or holds.</a:t>
            </a:r>
            <a:endParaRPr b="0" i="0" sz="1800" u="none" cap="none" strike="noStrike">
              <a:solidFill>
                <a:schemeClr val="dk1"/>
              </a:solidFill>
              <a:latin typeface="Arial"/>
              <a:ea typeface="Arial"/>
              <a:cs typeface="Arial"/>
              <a:sym typeface="Arial"/>
            </a:endParaRPr>
          </a:p>
        </p:txBody>
      </p:sp>
      <p:sp>
        <p:nvSpPr>
          <p:cNvPr id="366" name="Google Shape;366;p24"/>
          <p:cNvSpPr/>
          <p:nvPr/>
        </p:nvSpPr>
        <p:spPr>
          <a:xfrm>
            <a:off x="813308" y="2580618"/>
            <a:ext cx="4886452" cy="1244600"/>
          </a:xfrm>
          <a:prstGeom prst="rect">
            <a:avLst/>
          </a:prstGeom>
          <a:noFill/>
          <a:ln>
            <a:noFill/>
          </a:ln>
        </p:spPr>
        <p:txBody>
          <a:bodyPr anchorCtr="0" anchor="t" bIns="0" lIns="0" spcFirstLastPara="1" rIns="0" wrap="square" tIns="0">
            <a:noAutofit/>
          </a:bodyPr>
          <a:lstStyle/>
          <a:p>
            <a:pPr indent="-177292" lvl="0" marL="177292" marR="0" rtl="0" algn="l">
              <a:lnSpc>
                <a:spcPct val="150000"/>
              </a:lnSpc>
              <a:spcBef>
                <a:spcPts val="0"/>
              </a:spcBef>
              <a:spcAft>
                <a:spcPts val="0"/>
              </a:spcAft>
              <a:buClr>
                <a:srgbClr val="3C4043"/>
              </a:buClr>
              <a:buSzPts val="1600"/>
              <a:buFont typeface="Arial"/>
              <a:buChar char="•"/>
            </a:pPr>
            <a:r>
              <a:rPr b="0" i="0" lang="en-US" sz="1600" u="none" cap="none" strike="noStrike">
                <a:solidFill>
                  <a:srgbClr val="3C4043"/>
                </a:solidFill>
                <a:latin typeface="Arial"/>
                <a:ea typeface="Arial"/>
                <a:cs typeface="Arial"/>
                <a:sym typeface="Arial"/>
              </a:rPr>
              <a:t>Holding in a clocked block is fine: no latch, the flip-flop already remembers</a:t>
            </a:r>
            <a:endParaRPr b="0" i="0" sz="1600" u="none" cap="none" strike="noStrike">
              <a:solidFill>
                <a:schemeClr val="dk1"/>
              </a:solidFill>
              <a:latin typeface="Arial"/>
              <a:ea typeface="Arial"/>
              <a:cs typeface="Arial"/>
              <a:sym typeface="Arial"/>
            </a:endParaRPr>
          </a:p>
          <a:p>
            <a:pPr indent="-177292" lvl="0" marL="177292" marR="0" rtl="0" algn="l">
              <a:lnSpc>
                <a:spcPct val="150000"/>
              </a:lnSpc>
              <a:spcBef>
                <a:spcPts val="0"/>
              </a:spcBef>
              <a:spcAft>
                <a:spcPts val="0"/>
              </a:spcAft>
              <a:buClr>
                <a:srgbClr val="3C4043"/>
              </a:buClr>
              <a:buSzPts val="1600"/>
              <a:buFont typeface="Arial"/>
              <a:buChar char="•"/>
            </a:pPr>
            <a:r>
              <a:rPr b="0" i="0" lang="en-US" sz="1600" u="none" cap="none" strike="noStrike">
                <a:solidFill>
                  <a:srgbClr val="3C4043"/>
                </a:solidFill>
                <a:latin typeface="Arial"/>
                <a:ea typeface="Arial"/>
                <a:cs typeface="Arial"/>
                <a:sym typeface="Arial"/>
              </a:rPr>
              <a:t>Slow things down with a 1-cycle enable pulse, not a new clock</a:t>
            </a:r>
            <a:endParaRPr b="0" i="0" sz="1600" u="none" cap="none" strike="noStrike">
              <a:solidFill>
                <a:schemeClr val="dk1"/>
              </a:solidFill>
              <a:latin typeface="Arial"/>
              <a:ea typeface="Arial"/>
              <a:cs typeface="Arial"/>
              <a:sym typeface="Arial"/>
            </a:endParaRPr>
          </a:p>
        </p:txBody>
      </p:sp>
      <p:sp>
        <p:nvSpPr>
          <p:cNvPr id="367" name="Google Shape;367;p24"/>
          <p:cNvSpPr/>
          <p:nvPr/>
        </p:nvSpPr>
        <p:spPr>
          <a:xfrm>
            <a:off x="736600" y="3977618"/>
            <a:ext cx="4826000" cy="1145514"/>
          </a:xfrm>
          <a:prstGeom prst="roundRect">
            <a:avLst>
              <a:gd fmla="val 11087" name="adj"/>
            </a:avLst>
          </a:prstGeom>
          <a:solidFill>
            <a:srgbClr val="FFF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24"/>
          <p:cNvSpPr/>
          <p:nvPr/>
        </p:nvSpPr>
        <p:spPr>
          <a:xfrm>
            <a:off x="736600" y="3977618"/>
            <a:ext cx="4826000" cy="1145514"/>
          </a:xfrm>
          <a:custGeom>
            <a:rect b="b" l="l" r="r" t="t"/>
            <a:pathLst>
              <a:path extrusionOk="0" h="1145514" w="4826000">
                <a:moveTo>
                  <a:pt x="127000" y="1145514"/>
                </a:moveTo>
                <a:lnTo>
                  <a:pt x="127000" y="1145514"/>
                </a:lnTo>
                <a:cubicBezTo>
                  <a:pt x="56860" y="1145514"/>
                  <a:pt x="0" y="1088654"/>
                  <a:pt x="0" y="1018514"/>
                </a:cubicBezTo>
                <a:lnTo>
                  <a:pt x="0" y="127000"/>
                </a:lnTo>
                <a:cubicBezTo>
                  <a:pt x="0" y="56860"/>
                  <a:pt x="56860" y="0"/>
                  <a:pt x="127000" y="0"/>
                </a:cubicBezTo>
                <a:lnTo>
                  <a:pt x="127000" y="0"/>
                </a:lnTo>
                <a:cubicBezTo>
                  <a:pt x="84916" y="0"/>
                  <a:pt x="50800" y="56860"/>
                  <a:pt x="50800" y="127000"/>
                </a:cubicBezTo>
                <a:lnTo>
                  <a:pt x="50800" y="1018514"/>
                </a:lnTo>
                <a:cubicBezTo>
                  <a:pt x="50800" y="1088654"/>
                  <a:pt x="84916" y="1145514"/>
                  <a:pt x="127000" y="1145514"/>
                </a:cubicBezTo>
                <a:close/>
              </a:path>
            </a:pathLst>
          </a:custGeom>
          <a:solidFill>
            <a:srgbClr val="B546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24"/>
          <p:cNvSpPr/>
          <p:nvPr/>
        </p:nvSpPr>
        <p:spPr>
          <a:xfrm>
            <a:off x="1016000" y="4155418"/>
            <a:ext cx="4447540" cy="254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B5462A"/>
              </a:buClr>
              <a:buSzPts val="1500"/>
              <a:buFont typeface="Arial"/>
              <a:buNone/>
            </a:pPr>
            <a:r>
              <a:rPr b="1" i="0" lang="en-US" sz="1500" u="none" cap="none" strike="noStrike">
                <a:solidFill>
                  <a:srgbClr val="B5462A"/>
                </a:solidFill>
                <a:latin typeface="Arial"/>
                <a:ea typeface="Arial"/>
                <a:cs typeface="Arial"/>
                <a:sym typeface="Arial"/>
              </a:rPr>
              <a:t>Don't gate the clock</a:t>
            </a:r>
            <a:endParaRPr b="0" i="0" sz="1500" u="none" cap="none" strike="noStrike">
              <a:solidFill>
                <a:schemeClr val="dk1"/>
              </a:solidFill>
              <a:latin typeface="Arial"/>
              <a:ea typeface="Arial"/>
              <a:cs typeface="Arial"/>
              <a:sym typeface="Arial"/>
            </a:endParaRPr>
          </a:p>
        </p:txBody>
      </p:sp>
      <p:sp>
        <p:nvSpPr>
          <p:cNvPr id="370" name="Google Shape;370;p24"/>
          <p:cNvSpPr/>
          <p:nvPr/>
        </p:nvSpPr>
        <p:spPr>
          <a:xfrm>
            <a:off x="1016000" y="4447518"/>
            <a:ext cx="4447540" cy="523214"/>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4E52"/>
              </a:buClr>
              <a:buSzPts val="1400"/>
              <a:buFont typeface="Arial"/>
              <a:buNone/>
            </a:pPr>
            <a:r>
              <a:rPr b="0" i="0" lang="en-US" sz="1400" u="none" cap="none" strike="noStrike">
                <a:solidFill>
                  <a:srgbClr val="4A4E52"/>
                </a:solidFill>
                <a:latin typeface="Arial"/>
                <a:ea typeface="Arial"/>
                <a:cs typeface="Arial"/>
                <a:sym typeface="Arial"/>
              </a:rPr>
              <a:t>clk &amp; en creates glitches and timing problems. Keep the board clock; use enables.</a:t>
            </a:r>
            <a:endParaRPr b="0" i="0" sz="1400" u="none" cap="none" strike="noStrike">
              <a:solidFill>
                <a:schemeClr val="dk1"/>
              </a:solidFill>
              <a:latin typeface="Arial"/>
              <a:ea typeface="Arial"/>
              <a:cs typeface="Arial"/>
              <a:sym typeface="Arial"/>
            </a:endParaRPr>
          </a:p>
        </p:txBody>
      </p:sp>
      <p:sp>
        <p:nvSpPr>
          <p:cNvPr id="371" name="Google Shape;371;p24"/>
          <p:cNvSpPr/>
          <p:nvPr/>
        </p:nvSpPr>
        <p:spPr>
          <a:xfrm>
            <a:off x="5969000" y="1739900"/>
            <a:ext cx="5410200" cy="3343473"/>
          </a:xfrm>
          <a:prstGeom prst="roundRect">
            <a:avLst>
              <a:gd fmla="val 4558" name="adj"/>
            </a:avLst>
          </a:prstGeom>
          <a:solidFill>
            <a:srgbClr val="2F3237"/>
          </a:solidFill>
          <a:ln>
            <a:noFill/>
          </a:ln>
        </p:spPr>
        <p:txBody>
          <a:bodyPr anchorCtr="0" anchor="t" bIns="183950" lIns="234750" spcFirstLastPara="1" rIns="89200" wrap="square" tIns="209350">
            <a:noAutofit/>
          </a:bodyPr>
          <a:lstStyle/>
          <a:p>
            <a:pPr indent="0" lvl="0" marL="0" marR="0" rtl="0" algn="l">
              <a:lnSpc>
                <a:spcPct val="145000"/>
              </a:lnSpc>
              <a:spcBef>
                <a:spcPts val="0"/>
              </a:spcBef>
              <a:spcAft>
                <a:spcPts val="0"/>
              </a:spcAft>
              <a:buClr>
                <a:srgbClr val="A9C4D6"/>
              </a:buClr>
              <a:buSzPts val="1400"/>
              <a:buFont typeface="Courier New"/>
              <a:buNone/>
            </a:pPr>
            <a:r>
              <a:rPr b="0" i="0" lang="en-US" sz="1400" u="none" cap="none" strike="noStrike">
                <a:solidFill>
                  <a:srgbClr val="A9C4D6"/>
                </a:solidFill>
                <a:latin typeface="Courier New"/>
                <a:ea typeface="Courier New"/>
                <a:cs typeface="Courier New"/>
                <a:sym typeface="Courier New"/>
              </a:rPr>
              <a:t>// GOOD: enable</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always_ff @(posedge clk)</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  if (en)</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    q &lt;= d;</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  </a:t>
            </a:r>
            <a:r>
              <a:rPr b="0" i="0" lang="en-US" sz="1400" u="none" cap="none" strike="noStrike">
                <a:solidFill>
                  <a:srgbClr val="A9C4D6"/>
                </a:solidFill>
                <a:latin typeface="Courier New"/>
                <a:ea typeface="Courier New"/>
                <a:cs typeface="Courier New"/>
                <a:sym typeface="Courier New"/>
              </a:rPr>
              <a:t>// no else: q holds</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0A58C"/>
              </a:buClr>
              <a:buSzPts val="1400"/>
              <a:buFont typeface="Courier New"/>
              <a:buNone/>
            </a:pPr>
            <a:r>
              <a:rPr b="0" i="0" lang="en-US" sz="1400" u="none" cap="none" strike="noStrike">
                <a:solidFill>
                  <a:srgbClr val="F0A58C"/>
                </a:solidFill>
                <a:latin typeface="Courier New"/>
                <a:ea typeface="Courier New"/>
                <a:cs typeface="Courier New"/>
                <a:sym typeface="Courier New"/>
              </a:rPr>
              <a:t>// BAD: gated clock</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logic gclk;</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assign gclk = clk &amp; en;</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always_ff @(posedge gclk)</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  q &lt;= d;</a:t>
            </a:r>
            <a:endParaRPr b="0" i="0" sz="1400" u="none" cap="none" strike="noStrike">
              <a:solidFill>
                <a:schemeClr val="dk1"/>
              </a:solidFill>
              <a:latin typeface="Arial"/>
              <a:ea typeface="Arial"/>
              <a:cs typeface="Arial"/>
              <a:sym typeface="Arial"/>
            </a:endParaRPr>
          </a:p>
        </p:txBody>
      </p:sp>
      <p:sp>
        <p:nvSpPr>
          <p:cNvPr id="372" name="Google Shape;372;p24"/>
          <p:cNvSpPr/>
          <p:nvPr/>
        </p:nvSpPr>
        <p:spPr>
          <a:xfrm>
            <a:off x="10566400" y="6238280"/>
            <a:ext cx="812800" cy="23872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3C4043"/>
              </a:buClr>
              <a:buSzPts val="1200"/>
              <a:buFont typeface="Arial"/>
              <a:buNone/>
            </a:pPr>
            <a:r>
              <a:rPr b="0" i="0" lang="en-US" sz="1200" u="none" cap="none" strike="noStrike">
                <a:solidFill>
                  <a:srgbClr val="3C4043"/>
                </a:solidFill>
                <a:latin typeface="Arial"/>
                <a:ea typeface="Arial"/>
                <a:cs typeface="Arial"/>
                <a:sym typeface="Arial"/>
              </a:rPr>
              <a:t>21</a:t>
            </a:r>
            <a:endParaRPr b="0" i="0" sz="1200" u="none" cap="none" strike="noStrike">
              <a:solidFill>
                <a:schemeClr val="dk1"/>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0DC"/>
        </a:solidFill>
      </p:bgPr>
    </p:bg>
    <p:spTree>
      <p:nvGrpSpPr>
        <p:cNvPr id="377" name="Shape 377"/>
        <p:cNvGrpSpPr/>
        <p:nvPr/>
      </p:nvGrpSpPr>
      <p:grpSpPr>
        <a:xfrm>
          <a:off x="0" y="0"/>
          <a:ext cx="0" cy="0"/>
          <a:chOff x="0" y="0"/>
          <a:chExt cx="0" cy="0"/>
        </a:xfrm>
      </p:grpSpPr>
      <p:sp>
        <p:nvSpPr>
          <p:cNvPr id="378" name="Google Shape;378;p25"/>
          <p:cNvSpPr/>
          <p:nvPr/>
        </p:nvSpPr>
        <p:spPr>
          <a:xfrm>
            <a:off x="114300" y="114300"/>
            <a:ext cx="5886450" cy="381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C4043"/>
              </a:buClr>
              <a:buSzPts val="2000"/>
              <a:buFont typeface="Arial"/>
              <a:buNone/>
            </a:pPr>
            <a:r>
              <a:rPr b="0" i="0" lang="en-US" sz="2000" u="none" cap="none" strike="noStrike">
                <a:solidFill>
                  <a:srgbClr val="3C4043"/>
                </a:solidFill>
                <a:latin typeface="Arial"/>
                <a:ea typeface="Arial"/>
                <a:cs typeface="Arial"/>
                <a:sym typeface="Arial"/>
              </a:rPr>
              <a:t>Sequential Logic</a:t>
            </a:r>
            <a:endParaRPr b="0" i="0" sz="2000" u="none" cap="none" strike="noStrike">
              <a:solidFill>
                <a:schemeClr val="dk1"/>
              </a:solidFill>
              <a:latin typeface="Arial"/>
              <a:ea typeface="Arial"/>
              <a:cs typeface="Arial"/>
              <a:sym typeface="Arial"/>
            </a:endParaRPr>
          </a:p>
        </p:txBody>
      </p:sp>
      <p:sp>
        <p:nvSpPr>
          <p:cNvPr id="379" name="Google Shape;379;p25"/>
          <p:cNvSpPr txBox="1"/>
          <p:nvPr>
            <p:ph type="title"/>
          </p:nvPr>
        </p:nvSpPr>
        <p:spPr>
          <a:xfrm>
            <a:off x="736600" y="762000"/>
            <a:ext cx="10961878" cy="5842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3C4043"/>
              </a:buClr>
              <a:buSzPts val="4000"/>
              <a:buFont typeface="Arial"/>
              <a:buNone/>
            </a:pPr>
            <a:r>
              <a:rPr b="0" i="0" lang="en-US" sz="4000">
                <a:solidFill>
                  <a:srgbClr val="3C4043"/>
                </a:solidFill>
                <a:latin typeface="Arial"/>
                <a:ea typeface="Arial"/>
                <a:cs typeface="Arial"/>
                <a:sym typeface="Arial"/>
              </a:rPr>
              <a:t>Synchronous Reset</a:t>
            </a:r>
            <a:endParaRPr sz="4000"/>
          </a:p>
        </p:txBody>
      </p:sp>
      <p:pic>
        <p:nvPicPr>
          <p:cNvPr descr="line" id="380" name="Google Shape;380;p25"/>
          <p:cNvPicPr preferRelativeResize="0"/>
          <p:nvPr/>
        </p:nvPicPr>
        <p:blipFill rotWithShape="1">
          <a:blip r:embed="rId3">
            <a:alphaModFix/>
          </a:blip>
          <a:srcRect b="0" l="0" r="0" t="0"/>
          <a:stretch/>
        </p:blipFill>
        <p:spPr>
          <a:xfrm>
            <a:off x="736600" y="1524000"/>
            <a:ext cx="10642600" cy="12700"/>
          </a:xfrm>
          <a:prstGeom prst="rect">
            <a:avLst/>
          </a:prstGeom>
          <a:noFill/>
          <a:ln>
            <a:noFill/>
          </a:ln>
        </p:spPr>
      </p:pic>
      <p:sp>
        <p:nvSpPr>
          <p:cNvPr id="381" name="Google Shape;381;p25"/>
          <p:cNvSpPr/>
          <p:nvPr/>
        </p:nvSpPr>
        <p:spPr>
          <a:xfrm>
            <a:off x="736600" y="1739900"/>
            <a:ext cx="4970780" cy="101977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3C4043"/>
              </a:buClr>
              <a:buSzPts val="1800"/>
              <a:buFont typeface="Arial"/>
              <a:buNone/>
            </a:pPr>
            <a:r>
              <a:rPr b="0" i="0" lang="en-US" sz="1800" u="none" cap="none" strike="noStrike">
                <a:solidFill>
                  <a:srgbClr val="3C4043"/>
                </a:solidFill>
                <a:latin typeface="Arial"/>
                <a:ea typeface="Arial"/>
                <a:cs typeface="Arial"/>
                <a:sym typeface="Arial"/>
              </a:rPr>
              <a:t>Reset puts state into a known starting value. </a:t>
            </a:r>
            <a:r>
              <a:rPr b="1" i="0" lang="en-US" sz="1800" u="none" cap="none" strike="noStrike">
                <a:solidFill>
                  <a:srgbClr val="3C4043"/>
                </a:solidFill>
                <a:latin typeface="Arial"/>
                <a:ea typeface="Arial"/>
                <a:cs typeface="Arial"/>
                <a:sym typeface="Arial"/>
              </a:rPr>
              <a:t>Synchronous</a:t>
            </a:r>
            <a:r>
              <a:rPr b="0" i="0" lang="en-US" sz="1800" u="none" cap="none" strike="noStrike">
                <a:solidFill>
                  <a:srgbClr val="3C4043"/>
                </a:solidFill>
                <a:latin typeface="Arial"/>
                <a:ea typeface="Arial"/>
                <a:cs typeface="Arial"/>
                <a:sym typeface="Arial"/>
              </a:rPr>
              <a:t> reset only acts </a:t>
            </a:r>
            <a:r>
              <a:rPr b="1" i="0" lang="en-US" sz="1800" u="none" cap="none" strike="noStrike">
                <a:solidFill>
                  <a:srgbClr val="3C4043"/>
                </a:solidFill>
                <a:latin typeface="Arial"/>
                <a:ea typeface="Arial"/>
                <a:cs typeface="Arial"/>
                <a:sym typeface="Arial"/>
              </a:rPr>
              <a:t>on a clock edge</a:t>
            </a:r>
            <a:r>
              <a:rPr b="0" i="0" lang="en-US" sz="1800" u="none" cap="none" strike="noStrike">
                <a:solidFill>
                  <a:srgbClr val="3C4043"/>
                </a:solidFill>
                <a:latin typeface="Arial"/>
                <a:ea typeface="Arial"/>
                <a:cs typeface="Arial"/>
                <a:sym typeface="Arial"/>
              </a:rPr>
              <a:t>.</a:t>
            </a:r>
            <a:endParaRPr b="0" i="0" sz="1800" u="none" cap="none" strike="noStrike">
              <a:solidFill>
                <a:schemeClr val="dk1"/>
              </a:solidFill>
              <a:latin typeface="Arial"/>
              <a:ea typeface="Arial"/>
              <a:cs typeface="Arial"/>
              <a:sym typeface="Arial"/>
            </a:endParaRPr>
          </a:p>
        </p:txBody>
      </p:sp>
      <p:sp>
        <p:nvSpPr>
          <p:cNvPr id="382" name="Google Shape;382;p25"/>
          <p:cNvSpPr/>
          <p:nvPr/>
        </p:nvSpPr>
        <p:spPr>
          <a:xfrm>
            <a:off x="813308" y="2912070"/>
            <a:ext cx="4886452" cy="1244600"/>
          </a:xfrm>
          <a:prstGeom prst="rect">
            <a:avLst/>
          </a:prstGeom>
          <a:noFill/>
          <a:ln>
            <a:noFill/>
          </a:ln>
        </p:spPr>
        <p:txBody>
          <a:bodyPr anchorCtr="0" anchor="t" bIns="0" lIns="0" spcFirstLastPara="1" rIns="0" wrap="square" tIns="0">
            <a:noAutofit/>
          </a:bodyPr>
          <a:lstStyle/>
          <a:p>
            <a:pPr indent="-177292" lvl="0" marL="177292" marR="0" rtl="0" algn="l">
              <a:lnSpc>
                <a:spcPct val="150000"/>
              </a:lnSpc>
              <a:spcBef>
                <a:spcPts val="0"/>
              </a:spcBef>
              <a:spcAft>
                <a:spcPts val="0"/>
              </a:spcAft>
              <a:buClr>
                <a:srgbClr val="3C4043"/>
              </a:buClr>
              <a:buSzPts val="1600"/>
              <a:buFont typeface="Arial"/>
              <a:buChar char="•"/>
            </a:pPr>
            <a:r>
              <a:rPr b="0" i="0" lang="en-US" sz="1600" u="none" cap="none" strike="noStrike">
                <a:solidFill>
                  <a:srgbClr val="3C4043"/>
                </a:solidFill>
                <a:latin typeface="Arial"/>
                <a:ea typeface="Arial"/>
                <a:cs typeface="Arial"/>
                <a:sym typeface="Arial"/>
              </a:rPr>
              <a:t>rst is just another input checked at the edge</a:t>
            </a:r>
            <a:endParaRPr b="0" i="0" sz="1600" u="none" cap="none" strike="noStrike">
              <a:solidFill>
                <a:schemeClr val="dk1"/>
              </a:solidFill>
              <a:latin typeface="Arial"/>
              <a:ea typeface="Arial"/>
              <a:cs typeface="Arial"/>
              <a:sym typeface="Arial"/>
            </a:endParaRPr>
          </a:p>
          <a:p>
            <a:pPr indent="-177292" lvl="0" marL="177292" marR="0" rtl="0" algn="l">
              <a:lnSpc>
                <a:spcPct val="150000"/>
              </a:lnSpc>
              <a:spcBef>
                <a:spcPts val="0"/>
              </a:spcBef>
              <a:spcAft>
                <a:spcPts val="0"/>
              </a:spcAft>
              <a:buClr>
                <a:srgbClr val="3C4043"/>
              </a:buClr>
              <a:buSzPts val="1600"/>
              <a:buFont typeface="Arial"/>
              <a:buChar char="•"/>
            </a:pPr>
            <a:r>
              <a:rPr b="0" i="0" lang="en-US" sz="1600" u="none" cap="none" strike="noStrike">
                <a:solidFill>
                  <a:srgbClr val="3C4043"/>
                </a:solidFill>
                <a:latin typeface="Arial"/>
                <a:ea typeface="Arial"/>
                <a:cs typeface="Arial"/>
                <a:sym typeface="Arial"/>
              </a:rPr>
              <a:t>Clean timing: everything happens at the edge</a:t>
            </a:r>
            <a:endParaRPr b="0" i="0" sz="1600" u="none" cap="none" strike="noStrike">
              <a:solidFill>
                <a:schemeClr val="dk1"/>
              </a:solidFill>
              <a:latin typeface="Arial"/>
              <a:ea typeface="Arial"/>
              <a:cs typeface="Arial"/>
              <a:sym typeface="Arial"/>
            </a:endParaRPr>
          </a:p>
          <a:p>
            <a:pPr indent="-177292" lvl="0" marL="177292" marR="0" rtl="0" algn="l">
              <a:lnSpc>
                <a:spcPct val="150000"/>
              </a:lnSpc>
              <a:spcBef>
                <a:spcPts val="0"/>
              </a:spcBef>
              <a:spcAft>
                <a:spcPts val="0"/>
              </a:spcAft>
              <a:buClr>
                <a:srgbClr val="3C4043"/>
              </a:buClr>
              <a:buSzPts val="1600"/>
              <a:buFont typeface="Arial"/>
              <a:buChar char="•"/>
            </a:pPr>
            <a:r>
              <a:rPr b="0" i="0" lang="en-US" sz="1600" u="none" cap="none" strike="noStrike">
                <a:solidFill>
                  <a:srgbClr val="3C4043"/>
                </a:solidFill>
                <a:latin typeface="Arial"/>
                <a:ea typeface="Arial"/>
                <a:cs typeface="Arial"/>
                <a:sym typeface="Arial"/>
              </a:rPr>
              <a:t>Generally recommended on AMD FPGAs</a:t>
            </a:r>
            <a:endParaRPr b="0" i="0" sz="1600" u="none" cap="none" strike="noStrike">
              <a:solidFill>
                <a:schemeClr val="dk1"/>
              </a:solidFill>
              <a:latin typeface="Arial"/>
              <a:ea typeface="Arial"/>
              <a:cs typeface="Arial"/>
              <a:sym typeface="Arial"/>
            </a:endParaRPr>
          </a:p>
          <a:p>
            <a:pPr indent="-177292" lvl="0" marL="177292" marR="0" rtl="0" algn="l">
              <a:lnSpc>
                <a:spcPct val="150000"/>
              </a:lnSpc>
              <a:spcBef>
                <a:spcPts val="0"/>
              </a:spcBef>
              <a:spcAft>
                <a:spcPts val="0"/>
              </a:spcAft>
              <a:buClr>
                <a:srgbClr val="3C4043"/>
              </a:buClr>
              <a:buSzPts val="1600"/>
              <a:buFont typeface="Arial"/>
              <a:buChar char="•"/>
            </a:pPr>
            <a:r>
              <a:rPr b="0" i="0" lang="en-US" sz="1600" u="none" cap="none" strike="noStrike">
                <a:solidFill>
                  <a:srgbClr val="3C4043"/>
                </a:solidFill>
                <a:latin typeface="Arial"/>
                <a:ea typeface="Arial"/>
                <a:cs typeface="Arial"/>
                <a:sym typeface="Arial"/>
              </a:rPr>
              <a:t>Maps to FDRE flip-flops</a:t>
            </a:r>
            <a:endParaRPr b="0" i="0" sz="1600" u="none" cap="none" strike="noStrike">
              <a:solidFill>
                <a:schemeClr val="dk1"/>
              </a:solidFill>
              <a:latin typeface="Arial"/>
              <a:ea typeface="Arial"/>
              <a:cs typeface="Arial"/>
              <a:sym typeface="Arial"/>
            </a:endParaRPr>
          </a:p>
        </p:txBody>
      </p:sp>
      <p:sp>
        <p:nvSpPr>
          <p:cNvPr id="383" name="Google Shape;383;p25"/>
          <p:cNvSpPr/>
          <p:nvPr/>
        </p:nvSpPr>
        <p:spPr>
          <a:xfrm>
            <a:off x="5969000" y="1739900"/>
            <a:ext cx="5410200" cy="2827933"/>
          </a:xfrm>
          <a:prstGeom prst="roundRect">
            <a:avLst>
              <a:gd fmla="val 5389" name="adj"/>
            </a:avLst>
          </a:prstGeom>
          <a:solidFill>
            <a:srgbClr val="2F3237"/>
          </a:solidFill>
          <a:ln>
            <a:noFill/>
          </a:ln>
        </p:spPr>
        <p:txBody>
          <a:bodyPr anchorCtr="0" anchor="t" bIns="183950" lIns="234750" spcFirstLastPara="1" rIns="89200" wrap="square" tIns="209350">
            <a:noAutofit/>
          </a:bodyPr>
          <a:lstStyle/>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always_ff @(posedge clk) begin</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  if (rst)</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    q &lt;= 8'd0;</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  else</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    q &lt;= d;</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end</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A9C4D6"/>
              </a:buClr>
              <a:buSzPts val="1400"/>
              <a:buFont typeface="Courier New"/>
              <a:buNone/>
            </a:pPr>
            <a:r>
              <a:rPr b="0" i="0" lang="en-US" sz="1400" u="none" cap="none" strike="noStrike">
                <a:solidFill>
                  <a:srgbClr val="A9C4D6"/>
                </a:solidFill>
                <a:latin typeface="Courier New"/>
                <a:ea typeface="Courier New"/>
                <a:cs typeface="Courier New"/>
                <a:sym typeface="Courier New"/>
              </a:rPr>
              <a:t>// only clk in the sensitivity</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A9C4D6"/>
              </a:buClr>
              <a:buSzPts val="1400"/>
              <a:buFont typeface="Courier New"/>
              <a:buNone/>
            </a:pPr>
            <a:r>
              <a:rPr b="0" i="0" lang="en-US" sz="1400" u="none" cap="none" strike="noStrike">
                <a:solidFill>
                  <a:srgbClr val="A9C4D6"/>
                </a:solidFill>
                <a:latin typeface="Courier New"/>
                <a:ea typeface="Courier New"/>
                <a:cs typeface="Courier New"/>
                <a:sym typeface="Courier New"/>
              </a:rPr>
              <a:t>// list: reset waits for an edge</a:t>
            </a:r>
            <a:endParaRPr b="0" i="0" sz="1400" u="none" cap="none" strike="noStrike">
              <a:solidFill>
                <a:schemeClr val="dk1"/>
              </a:solidFill>
              <a:latin typeface="Arial"/>
              <a:ea typeface="Arial"/>
              <a:cs typeface="Arial"/>
              <a:sym typeface="Arial"/>
            </a:endParaRPr>
          </a:p>
        </p:txBody>
      </p:sp>
      <p:sp>
        <p:nvSpPr>
          <p:cNvPr id="384" name="Google Shape;384;p25"/>
          <p:cNvSpPr/>
          <p:nvPr/>
        </p:nvSpPr>
        <p:spPr>
          <a:xfrm>
            <a:off x="10566400" y="6238280"/>
            <a:ext cx="812800" cy="23872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3C4043"/>
              </a:buClr>
              <a:buSzPts val="1200"/>
              <a:buFont typeface="Arial"/>
              <a:buNone/>
            </a:pPr>
            <a:r>
              <a:rPr b="0" i="0" lang="en-US" sz="1200" u="none" cap="none" strike="noStrike">
                <a:solidFill>
                  <a:srgbClr val="3C4043"/>
                </a:solidFill>
                <a:latin typeface="Arial"/>
                <a:ea typeface="Arial"/>
                <a:cs typeface="Arial"/>
                <a:sym typeface="Arial"/>
              </a:rPr>
              <a:t>22</a:t>
            </a:r>
            <a:endParaRPr b="0" i="0" sz="1200" u="none" cap="none" strike="noStrike">
              <a:solidFill>
                <a:schemeClr val="dk1"/>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0DC"/>
        </a:solidFill>
      </p:bgPr>
    </p:bg>
    <p:spTree>
      <p:nvGrpSpPr>
        <p:cNvPr id="389" name="Shape 389"/>
        <p:cNvGrpSpPr/>
        <p:nvPr/>
      </p:nvGrpSpPr>
      <p:grpSpPr>
        <a:xfrm>
          <a:off x="0" y="0"/>
          <a:ext cx="0" cy="0"/>
          <a:chOff x="0" y="0"/>
          <a:chExt cx="0" cy="0"/>
        </a:xfrm>
      </p:grpSpPr>
      <p:sp>
        <p:nvSpPr>
          <p:cNvPr id="390" name="Google Shape;390;p26"/>
          <p:cNvSpPr/>
          <p:nvPr/>
        </p:nvSpPr>
        <p:spPr>
          <a:xfrm>
            <a:off x="114300" y="114300"/>
            <a:ext cx="5886450" cy="381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C4043"/>
              </a:buClr>
              <a:buSzPts val="2000"/>
              <a:buFont typeface="Arial"/>
              <a:buNone/>
            </a:pPr>
            <a:r>
              <a:rPr b="0" i="0" lang="en-US" sz="2000" u="none" cap="none" strike="noStrike">
                <a:solidFill>
                  <a:srgbClr val="3C4043"/>
                </a:solidFill>
                <a:latin typeface="Arial"/>
                <a:ea typeface="Arial"/>
                <a:cs typeface="Arial"/>
                <a:sym typeface="Arial"/>
              </a:rPr>
              <a:t>Sequential Logic</a:t>
            </a:r>
            <a:endParaRPr b="0" i="0" sz="2000" u="none" cap="none" strike="noStrike">
              <a:solidFill>
                <a:schemeClr val="dk1"/>
              </a:solidFill>
              <a:latin typeface="Arial"/>
              <a:ea typeface="Arial"/>
              <a:cs typeface="Arial"/>
              <a:sym typeface="Arial"/>
            </a:endParaRPr>
          </a:p>
        </p:txBody>
      </p:sp>
      <p:sp>
        <p:nvSpPr>
          <p:cNvPr id="391" name="Google Shape;391;p26"/>
          <p:cNvSpPr txBox="1"/>
          <p:nvPr>
            <p:ph type="title"/>
          </p:nvPr>
        </p:nvSpPr>
        <p:spPr>
          <a:xfrm>
            <a:off x="736600" y="762000"/>
            <a:ext cx="10961878" cy="5842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3C4043"/>
              </a:buClr>
              <a:buSzPts val="4000"/>
              <a:buFont typeface="Arial"/>
              <a:buNone/>
            </a:pPr>
            <a:r>
              <a:rPr b="0" i="0" lang="en-US" sz="4000">
                <a:solidFill>
                  <a:srgbClr val="3C4043"/>
                </a:solidFill>
                <a:latin typeface="Arial"/>
                <a:ea typeface="Arial"/>
                <a:cs typeface="Arial"/>
                <a:sym typeface="Arial"/>
              </a:rPr>
              <a:t>Asynchronous Reset</a:t>
            </a:r>
            <a:endParaRPr sz="4000"/>
          </a:p>
        </p:txBody>
      </p:sp>
      <p:pic>
        <p:nvPicPr>
          <p:cNvPr descr="line" id="392" name="Google Shape;392;p26"/>
          <p:cNvPicPr preferRelativeResize="0"/>
          <p:nvPr/>
        </p:nvPicPr>
        <p:blipFill rotWithShape="1">
          <a:blip r:embed="rId3">
            <a:alphaModFix/>
          </a:blip>
          <a:srcRect b="0" l="0" r="0" t="0"/>
          <a:stretch/>
        </p:blipFill>
        <p:spPr>
          <a:xfrm>
            <a:off x="736600" y="1524000"/>
            <a:ext cx="10642600" cy="12700"/>
          </a:xfrm>
          <a:prstGeom prst="rect">
            <a:avLst/>
          </a:prstGeom>
          <a:noFill/>
          <a:ln>
            <a:noFill/>
          </a:ln>
        </p:spPr>
      </p:pic>
      <p:sp>
        <p:nvSpPr>
          <p:cNvPr id="393" name="Google Shape;393;p26"/>
          <p:cNvSpPr/>
          <p:nvPr/>
        </p:nvSpPr>
        <p:spPr>
          <a:xfrm>
            <a:off x="736600" y="1739900"/>
            <a:ext cx="4970780" cy="688314"/>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3C4043"/>
              </a:buClr>
              <a:buSzPts val="1800"/>
              <a:buFont typeface="Arial"/>
              <a:buNone/>
            </a:pPr>
            <a:r>
              <a:rPr b="1" i="0" lang="en-US" sz="1800" u="none" cap="none" strike="noStrike">
                <a:solidFill>
                  <a:srgbClr val="3C4043"/>
                </a:solidFill>
                <a:latin typeface="Arial"/>
                <a:ea typeface="Arial"/>
                <a:cs typeface="Arial"/>
                <a:sym typeface="Arial"/>
              </a:rPr>
              <a:t>Asynchronous</a:t>
            </a:r>
            <a:r>
              <a:rPr b="0" i="0" lang="en-US" sz="1800" u="none" cap="none" strike="noStrike">
                <a:solidFill>
                  <a:srgbClr val="3C4043"/>
                </a:solidFill>
                <a:latin typeface="Arial"/>
                <a:ea typeface="Arial"/>
                <a:cs typeface="Arial"/>
                <a:sym typeface="Arial"/>
              </a:rPr>
              <a:t> reset acts </a:t>
            </a:r>
            <a:r>
              <a:rPr b="1" i="0" lang="en-US" sz="1800" u="none" cap="none" strike="noStrike">
                <a:solidFill>
                  <a:srgbClr val="3C4043"/>
                </a:solidFill>
                <a:latin typeface="Arial"/>
                <a:ea typeface="Arial"/>
                <a:cs typeface="Arial"/>
                <a:sym typeface="Arial"/>
              </a:rPr>
              <a:t>immediately</a:t>
            </a:r>
            <a:r>
              <a:rPr b="0" i="0" lang="en-US" sz="1800" u="none" cap="none" strike="noStrike">
                <a:solidFill>
                  <a:srgbClr val="3C4043"/>
                </a:solidFill>
                <a:latin typeface="Arial"/>
                <a:ea typeface="Arial"/>
                <a:cs typeface="Arial"/>
                <a:sym typeface="Arial"/>
              </a:rPr>
              <a:t>, without waiting for the clock.</a:t>
            </a:r>
            <a:endParaRPr b="0" i="0" sz="1800" u="none" cap="none" strike="noStrike">
              <a:solidFill>
                <a:schemeClr val="dk1"/>
              </a:solidFill>
              <a:latin typeface="Arial"/>
              <a:ea typeface="Arial"/>
              <a:cs typeface="Arial"/>
              <a:sym typeface="Arial"/>
            </a:endParaRPr>
          </a:p>
        </p:txBody>
      </p:sp>
      <p:sp>
        <p:nvSpPr>
          <p:cNvPr id="394" name="Google Shape;394;p26"/>
          <p:cNvSpPr/>
          <p:nvPr/>
        </p:nvSpPr>
        <p:spPr>
          <a:xfrm>
            <a:off x="736600" y="2580618"/>
            <a:ext cx="4826000" cy="1942505"/>
          </a:xfrm>
          <a:prstGeom prst="rect">
            <a:avLst/>
          </a:prstGeom>
          <a:solidFill>
            <a:srgbClr val="FFF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aphicFrame>
        <p:nvGraphicFramePr>
          <p:cNvPr id="395" name="Google Shape;395;p26"/>
          <p:cNvGraphicFramePr/>
          <p:nvPr/>
        </p:nvGraphicFramePr>
        <p:xfrm>
          <a:off x="749300" y="2593318"/>
          <a:ext cx="3000000" cy="3000000"/>
        </p:xfrm>
        <a:graphic>
          <a:graphicData uri="http://schemas.openxmlformats.org/drawingml/2006/table">
            <a:tbl>
              <a:tblPr>
                <a:noFill/>
                <a:tableStyleId>{BA11AAC2-A7CE-4588-8191-665CEFB64C56}</a:tableStyleId>
              </a:tblPr>
              <a:tblGrid>
                <a:gridCol w="1636525"/>
                <a:gridCol w="1588400"/>
                <a:gridCol w="1588400"/>
              </a:tblGrid>
              <a:tr h="385950">
                <a:tc>
                  <a:txBody>
                    <a:bodyPr/>
                    <a:lstStyle/>
                    <a:p>
                      <a:pPr indent="0" lvl="0" marL="0" marR="0" rtl="0" algn="l">
                        <a:lnSpc>
                          <a:spcPct val="140000"/>
                        </a:lnSpc>
                        <a:spcBef>
                          <a:spcPts val="0"/>
                        </a:spcBef>
                        <a:spcAft>
                          <a:spcPts val="0"/>
                        </a:spcAft>
                        <a:buClr>
                          <a:schemeClr val="dk1"/>
                        </a:buClr>
                        <a:buSzPts val="1400"/>
                        <a:buFont typeface="Arial"/>
                        <a:buNone/>
                      </a:pPr>
                      <a:r>
                        <a:t/>
                      </a:r>
                      <a:endParaRPr sz="1400" u="none" cap="none" strike="noStrike">
                        <a:latin typeface="Arial"/>
                        <a:ea typeface="Arial"/>
                        <a:cs typeface="Arial"/>
                        <a:sym typeface="Arial"/>
                      </a:endParaRPr>
                    </a:p>
                  </a:txBody>
                  <a:tcPr marT="62225" marB="62225" marR="62225" marL="62225">
                    <a:lnL cap="flat" cmpd="sng" w="12700">
                      <a:solidFill>
                        <a:srgbClr val="CBC6BF"/>
                      </a:solidFill>
                      <a:prstDash val="solid"/>
                      <a:round/>
                      <a:headEnd len="sm" w="sm" type="none"/>
                      <a:tailEnd len="sm" w="sm" type="none"/>
                    </a:lnL>
                    <a:lnR cap="flat" cmpd="sng" w="12700">
                      <a:solidFill>
                        <a:srgbClr val="BCB8B1"/>
                      </a:solidFill>
                      <a:prstDash val="solid"/>
                      <a:round/>
                      <a:headEnd len="sm" w="sm" type="none"/>
                      <a:tailEnd len="sm" w="sm" type="none"/>
                    </a:lnR>
                    <a:lnT cap="flat" cmpd="sng" w="12700">
                      <a:solidFill>
                        <a:srgbClr val="CBC6BF"/>
                      </a:solidFill>
                      <a:prstDash val="solid"/>
                      <a:round/>
                      <a:headEnd len="sm" w="sm" type="none"/>
                      <a:tailEnd len="sm" w="sm" type="none"/>
                    </a:lnT>
                    <a:lnB cap="flat" cmpd="sng" w="12700">
                      <a:solidFill>
                        <a:srgbClr val="BCB8B1"/>
                      </a:solidFill>
                      <a:prstDash val="solid"/>
                      <a:round/>
                      <a:headEnd len="sm" w="sm" type="none"/>
                      <a:tailEnd len="sm" w="sm" type="none"/>
                    </a:lnB>
                    <a:solidFill>
                      <a:srgbClr val="ECE6DE"/>
                    </a:solidFill>
                  </a:tcPr>
                </a:tc>
                <a:tc>
                  <a:txBody>
                    <a:bodyPr/>
                    <a:lstStyle/>
                    <a:p>
                      <a:pPr indent="0" lvl="0" marL="0" marR="0" rtl="0" algn="l">
                        <a:lnSpc>
                          <a:spcPct val="140000"/>
                        </a:lnSpc>
                        <a:spcBef>
                          <a:spcPts val="0"/>
                        </a:spcBef>
                        <a:spcAft>
                          <a:spcPts val="0"/>
                        </a:spcAft>
                        <a:buClr>
                          <a:srgbClr val="3C4043"/>
                        </a:buClr>
                        <a:buSzPts val="1400"/>
                        <a:buFont typeface="Arial"/>
                        <a:buNone/>
                      </a:pPr>
                      <a:r>
                        <a:rPr b="1" lang="en-US" sz="1400" u="none" cap="none" strike="noStrike">
                          <a:solidFill>
                            <a:srgbClr val="3C4043"/>
                          </a:solidFill>
                          <a:latin typeface="Arial"/>
                          <a:ea typeface="Arial"/>
                          <a:cs typeface="Arial"/>
                          <a:sym typeface="Arial"/>
                        </a:rPr>
                        <a:t>Sync</a:t>
                      </a:r>
                      <a:endParaRPr sz="1400" u="none" cap="none" strike="noStrike">
                        <a:latin typeface="Arial"/>
                        <a:ea typeface="Arial"/>
                        <a:cs typeface="Arial"/>
                        <a:sym typeface="Arial"/>
                      </a:endParaRPr>
                    </a:p>
                  </a:txBody>
                  <a:tcPr marT="62225" marB="62225" marR="62225" marL="62225">
                    <a:lnL cap="flat" cmpd="sng" w="12700">
                      <a:solidFill>
                        <a:srgbClr val="BCB8B1"/>
                      </a:solidFill>
                      <a:prstDash val="solid"/>
                      <a:round/>
                      <a:headEnd len="sm" w="sm" type="none"/>
                      <a:tailEnd len="sm" w="sm" type="none"/>
                    </a:lnL>
                    <a:lnR cap="flat" cmpd="sng" w="12700">
                      <a:solidFill>
                        <a:srgbClr val="BCB8B1"/>
                      </a:solidFill>
                      <a:prstDash val="solid"/>
                      <a:round/>
                      <a:headEnd len="sm" w="sm" type="none"/>
                      <a:tailEnd len="sm" w="sm" type="none"/>
                    </a:lnR>
                    <a:lnT cap="flat" cmpd="sng" w="12700">
                      <a:solidFill>
                        <a:srgbClr val="CBC6BF"/>
                      </a:solidFill>
                      <a:prstDash val="solid"/>
                      <a:round/>
                      <a:headEnd len="sm" w="sm" type="none"/>
                      <a:tailEnd len="sm" w="sm" type="none"/>
                    </a:lnT>
                    <a:lnB cap="flat" cmpd="sng" w="12700">
                      <a:solidFill>
                        <a:srgbClr val="BCB8B1"/>
                      </a:solidFill>
                      <a:prstDash val="solid"/>
                      <a:round/>
                      <a:headEnd len="sm" w="sm" type="none"/>
                      <a:tailEnd len="sm" w="sm" type="none"/>
                    </a:lnB>
                    <a:solidFill>
                      <a:srgbClr val="ECE6DE"/>
                    </a:solidFill>
                  </a:tcPr>
                </a:tc>
                <a:tc>
                  <a:txBody>
                    <a:bodyPr/>
                    <a:lstStyle/>
                    <a:p>
                      <a:pPr indent="0" lvl="0" marL="0" marR="0" rtl="0" algn="l">
                        <a:lnSpc>
                          <a:spcPct val="140000"/>
                        </a:lnSpc>
                        <a:spcBef>
                          <a:spcPts val="0"/>
                        </a:spcBef>
                        <a:spcAft>
                          <a:spcPts val="0"/>
                        </a:spcAft>
                        <a:buClr>
                          <a:srgbClr val="3C4043"/>
                        </a:buClr>
                        <a:buSzPts val="1400"/>
                        <a:buFont typeface="Arial"/>
                        <a:buNone/>
                      </a:pPr>
                      <a:r>
                        <a:rPr b="1" lang="en-US" sz="1400" u="none" cap="none" strike="noStrike">
                          <a:solidFill>
                            <a:srgbClr val="3C4043"/>
                          </a:solidFill>
                          <a:latin typeface="Arial"/>
                          <a:ea typeface="Arial"/>
                          <a:cs typeface="Arial"/>
                          <a:sym typeface="Arial"/>
                        </a:rPr>
                        <a:t>Async</a:t>
                      </a:r>
                      <a:endParaRPr sz="1400" u="none" cap="none" strike="noStrike">
                        <a:latin typeface="Arial"/>
                        <a:ea typeface="Arial"/>
                        <a:cs typeface="Arial"/>
                        <a:sym typeface="Arial"/>
                      </a:endParaRPr>
                    </a:p>
                  </a:txBody>
                  <a:tcPr marT="62225" marB="62225" marR="62225" marL="62225">
                    <a:lnL cap="flat" cmpd="sng" w="12700">
                      <a:solidFill>
                        <a:srgbClr val="BCB8B1"/>
                      </a:solidFill>
                      <a:prstDash val="solid"/>
                      <a:round/>
                      <a:headEnd len="sm" w="sm" type="none"/>
                      <a:tailEnd len="sm" w="sm" type="none"/>
                    </a:lnL>
                    <a:lnR cap="flat" cmpd="sng" w="12700">
                      <a:solidFill>
                        <a:srgbClr val="BCB8B1"/>
                      </a:solidFill>
                      <a:prstDash val="solid"/>
                      <a:round/>
                      <a:headEnd len="sm" w="sm" type="none"/>
                      <a:tailEnd len="sm" w="sm" type="none"/>
                    </a:lnR>
                    <a:lnT cap="flat" cmpd="sng" w="12700">
                      <a:solidFill>
                        <a:srgbClr val="CBC6BF"/>
                      </a:solidFill>
                      <a:prstDash val="solid"/>
                      <a:round/>
                      <a:headEnd len="sm" w="sm" type="none"/>
                      <a:tailEnd len="sm" w="sm" type="none"/>
                    </a:lnT>
                    <a:lnB cap="flat" cmpd="sng" w="12700">
                      <a:solidFill>
                        <a:srgbClr val="BCB8B1"/>
                      </a:solidFill>
                      <a:prstDash val="solid"/>
                      <a:round/>
                      <a:headEnd len="sm" w="sm" type="none"/>
                      <a:tailEnd len="sm" w="sm" type="none"/>
                    </a:lnB>
                    <a:solidFill>
                      <a:srgbClr val="ECE6DE"/>
                    </a:solidFill>
                  </a:tcPr>
                </a:tc>
              </a:tr>
              <a:tr h="385950">
                <a:tc>
                  <a:txBody>
                    <a:bodyPr/>
                    <a:lstStyle/>
                    <a:p>
                      <a:pPr indent="0" lvl="0" marL="0" marR="0" rtl="0" algn="l">
                        <a:lnSpc>
                          <a:spcPct val="140000"/>
                        </a:lnSpc>
                        <a:spcBef>
                          <a:spcPts val="0"/>
                        </a:spcBef>
                        <a:spcAft>
                          <a:spcPts val="0"/>
                        </a:spcAft>
                        <a:buClr>
                          <a:srgbClr val="3C4043"/>
                        </a:buClr>
                        <a:buSzPts val="1400"/>
                        <a:buFont typeface="Arial"/>
                        <a:buNone/>
                      </a:pPr>
                      <a:r>
                        <a:rPr lang="en-US" sz="1400" u="none" cap="none" strike="noStrike">
                          <a:solidFill>
                            <a:srgbClr val="3C4043"/>
                          </a:solidFill>
                          <a:latin typeface="Arial"/>
                          <a:ea typeface="Arial"/>
                          <a:cs typeface="Arial"/>
                          <a:sym typeface="Arial"/>
                        </a:rPr>
                        <a:t>Acts</a:t>
                      </a:r>
                      <a:endParaRPr sz="1400" u="none" cap="none" strike="noStrike">
                        <a:latin typeface="Arial"/>
                        <a:ea typeface="Arial"/>
                        <a:cs typeface="Arial"/>
                        <a:sym typeface="Arial"/>
                      </a:endParaRPr>
                    </a:p>
                  </a:txBody>
                  <a:tcPr marT="62225" marB="62225" marR="62225" marL="62225">
                    <a:lnL cap="flat" cmpd="sng" w="12700">
                      <a:solidFill>
                        <a:srgbClr val="CBC6BF"/>
                      </a:solidFill>
                      <a:prstDash val="solid"/>
                      <a:round/>
                      <a:headEnd len="sm" w="sm" type="none"/>
                      <a:tailEnd len="sm" w="sm" type="none"/>
                    </a:lnL>
                    <a:lnR cap="flat" cmpd="sng" w="12700">
                      <a:solidFill>
                        <a:srgbClr val="CBC6BF"/>
                      </a:solidFill>
                      <a:prstDash val="solid"/>
                      <a:round/>
                      <a:headEnd len="sm" w="sm" type="none"/>
                      <a:tailEnd len="sm" w="sm" type="none"/>
                    </a:lnR>
                    <a:lnT cap="flat" cmpd="sng" w="12700">
                      <a:solidFill>
                        <a:srgbClr val="BCB8B1"/>
                      </a:solidFill>
                      <a:prstDash val="solid"/>
                      <a:round/>
                      <a:headEnd len="sm" w="sm" type="none"/>
                      <a:tailEnd len="sm" w="sm" type="none"/>
                    </a:lnT>
                    <a:lnB cap="flat" cmpd="sng" w="12700">
                      <a:solidFill>
                        <a:srgbClr val="CBC6BF"/>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3C4043"/>
                        </a:buClr>
                        <a:buSzPts val="1400"/>
                        <a:buFont typeface="Arial"/>
                        <a:buNone/>
                      </a:pPr>
                      <a:r>
                        <a:rPr lang="en-US" sz="1400" u="none" cap="none" strike="noStrike">
                          <a:solidFill>
                            <a:srgbClr val="3C4043"/>
                          </a:solidFill>
                          <a:latin typeface="Arial"/>
                          <a:ea typeface="Arial"/>
                          <a:cs typeface="Arial"/>
                          <a:sym typeface="Arial"/>
                        </a:rPr>
                        <a:t>at clock edge</a:t>
                      </a:r>
                      <a:endParaRPr sz="1400" u="none" cap="none" strike="noStrike">
                        <a:latin typeface="Arial"/>
                        <a:ea typeface="Arial"/>
                        <a:cs typeface="Arial"/>
                        <a:sym typeface="Arial"/>
                      </a:endParaRPr>
                    </a:p>
                  </a:txBody>
                  <a:tcPr marT="62225" marB="62225" marR="62225" marL="62225">
                    <a:lnL cap="flat" cmpd="sng" w="12700">
                      <a:solidFill>
                        <a:srgbClr val="CBC6BF"/>
                      </a:solidFill>
                      <a:prstDash val="solid"/>
                      <a:round/>
                      <a:headEnd len="sm" w="sm" type="none"/>
                      <a:tailEnd len="sm" w="sm" type="none"/>
                    </a:lnL>
                    <a:lnR cap="flat" cmpd="sng" w="12700">
                      <a:solidFill>
                        <a:srgbClr val="CBC6BF"/>
                      </a:solidFill>
                      <a:prstDash val="solid"/>
                      <a:round/>
                      <a:headEnd len="sm" w="sm" type="none"/>
                      <a:tailEnd len="sm" w="sm" type="none"/>
                    </a:lnR>
                    <a:lnT cap="flat" cmpd="sng" w="12700">
                      <a:solidFill>
                        <a:srgbClr val="BCB8B1"/>
                      </a:solidFill>
                      <a:prstDash val="solid"/>
                      <a:round/>
                      <a:headEnd len="sm" w="sm" type="none"/>
                      <a:tailEnd len="sm" w="sm" type="none"/>
                    </a:lnT>
                    <a:lnB cap="flat" cmpd="sng" w="12700">
                      <a:solidFill>
                        <a:srgbClr val="CBC6BF"/>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3C4043"/>
                        </a:buClr>
                        <a:buSzPts val="1400"/>
                        <a:buFont typeface="Arial"/>
                        <a:buNone/>
                      </a:pPr>
                      <a:r>
                        <a:rPr lang="en-US" sz="1400" u="none" cap="none" strike="noStrike">
                          <a:solidFill>
                            <a:srgbClr val="3C4043"/>
                          </a:solidFill>
                          <a:latin typeface="Arial"/>
                          <a:ea typeface="Arial"/>
                          <a:cs typeface="Arial"/>
                          <a:sym typeface="Arial"/>
                        </a:rPr>
                        <a:t>right away</a:t>
                      </a:r>
                      <a:endParaRPr sz="1400" u="none" cap="none" strike="noStrike">
                        <a:latin typeface="Arial"/>
                        <a:ea typeface="Arial"/>
                        <a:cs typeface="Arial"/>
                        <a:sym typeface="Arial"/>
                      </a:endParaRPr>
                    </a:p>
                  </a:txBody>
                  <a:tcPr marT="62225" marB="62225" marR="62225" marL="62225">
                    <a:lnL cap="flat" cmpd="sng" w="12700">
                      <a:solidFill>
                        <a:srgbClr val="CBC6BF"/>
                      </a:solidFill>
                      <a:prstDash val="solid"/>
                      <a:round/>
                      <a:headEnd len="sm" w="sm" type="none"/>
                      <a:tailEnd len="sm" w="sm" type="none"/>
                    </a:lnL>
                    <a:lnR cap="flat" cmpd="sng" w="12700">
                      <a:solidFill>
                        <a:srgbClr val="CBC6BF"/>
                      </a:solidFill>
                      <a:prstDash val="solid"/>
                      <a:round/>
                      <a:headEnd len="sm" w="sm" type="none"/>
                      <a:tailEnd len="sm" w="sm" type="none"/>
                    </a:lnR>
                    <a:lnT cap="flat" cmpd="sng" w="12700">
                      <a:solidFill>
                        <a:srgbClr val="BCB8B1"/>
                      </a:solidFill>
                      <a:prstDash val="solid"/>
                      <a:round/>
                      <a:headEnd len="sm" w="sm" type="none"/>
                      <a:tailEnd len="sm" w="sm" type="none"/>
                    </a:lnT>
                    <a:lnB cap="flat" cmpd="sng" w="12700">
                      <a:solidFill>
                        <a:srgbClr val="CBC6BF"/>
                      </a:solidFill>
                      <a:prstDash val="solid"/>
                      <a:round/>
                      <a:headEnd len="sm" w="sm" type="none"/>
                      <a:tailEnd len="sm" w="sm" type="none"/>
                    </a:lnB>
                  </a:tcPr>
                </a:tc>
              </a:tr>
              <a:tr h="385950">
                <a:tc>
                  <a:txBody>
                    <a:bodyPr/>
                    <a:lstStyle/>
                    <a:p>
                      <a:pPr indent="0" lvl="0" marL="0" marR="0" rtl="0" algn="l">
                        <a:lnSpc>
                          <a:spcPct val="140000"/>
                        </a:lnSpc>
                        <a:spcBef>
                          <a:spcPts val="0"/>
                        </a:spcBef>
                        <a:spcAft>
                          <a:spcPts val="0"/>
                        </a:spcAft>
                        <a:buClr>
                          <a:srgbClr val="3C4043"/>
                        </a:buClr>
                        <a:buSzPts val="1400"/>
                        <a:buFont typeface="Arial"/>
                        <a:buNone/>
                      </a:pPr>
                      <a:r>
                        <a:rPr lang="en-US" sz="1400" u="none" cap="none" strike="noStrike">
                          <a:solidFill>
                            <a:srgbClr val="3C4043"/>
                          </a:solidFill>
                          <a:latin typeface="Arial"/>
                          <a:ea typeface="Arial"/>
                          <a:cs typeface="Arial"/>
                          <a:sym typeface="Arial"/>
                        </a:rPr>
                        <a:t>Sensitivity</a:t>
                      </a:r>
                      <a:endParaRPr sz="1400" u="none" cap="none" strike="noStrike">
                        <a:latin typeface="Arial"/>
                        <a:ea typeface="Arial"/>
                        <a:cs typeface="Arial"/>
                        <a:sym typeface="Arial"/>
                      </a:endParaRPr>
                    </a:p>
                  </a:txBody>
                  <a:tcPr marT="62225" marB="62225" marR="62225" marL="62225">
                    <a:lnL cap="flat" cmpd="sng" w="12700">
                      <a:solidFill>
                        <a:srgbClr val="CBC6BF"/>
                      </a:solidFill>
                      <a:prstDash val="solid"/>
                      <a:round/>
                      <a:headEnd len="sm" w="sm" type="none"/>
                      <a:tailEnd len="sm" w="sm" type="none"/>
                    </a:lnL>
                    <a:lnR cap="flat" cmpd="sng" w="12700">
                      <a:solidFill>
                        <a:srgbClr val="CBC6BF"/>
                      </a:solidFill>
                      <a:prstDash val="solid"/>
                      <a:round/>
                      <a:headEnd len="sm" w="sm" type="none"/>
                      <a:tailEnd len="sm" w="sm" type="none"/>
                    </a:lnR>
                    <a:lnT cap="flat" cmpd="sng" w="12700">
                      <a:solidFill>
                        <a:srgbClr val="CBC6BF"/>
                      </a:solidFill>
                      <a:prstDash val="solid"/>
                      <a:round/>
                      <a:headEnd len="sm" w="sm" type="none"/>
                      <a:tailEnd len="sm" w="sm" type="none"/>
                    </a:lnT>
                    <a:lnB cap="flat" cmpd="sng" w="12700">
                      <a:solidFill>
                        <a:srgbClr val="CBC6BF"/>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3C4043"/>
                        </a:buClr>
                        <a:buSzPts val="1400"/>
                        <a:buFont typeface="Arial"/>
                        <a:buNone/>
                      </a:pPr>
                      <a:r>
                        <a:rPr lang="en-US" sz="1400" u="none" cap="none" strike="noStrike">
                          <a:solidFill>
                            <a:srgbClr val="3C4043"/>
                          </a:solidFill>
                          <a:latin typeface="Arial"/>
                          <a:ea typeface="Arial"/>
                          <a:cs typeface="Arial"/>
                          <a:sym typeface="Arial"/>
                        </a:rPr>
                        <a:t>posedge clk</a:t>
                      </a:r>
                      <a:endParaRPr sz="1400" u="none" cap="none" strike="noStrike">
                        <a:latin typeface="Arial"/>
                        <a:ea typeface="Arial"/>
                        <a:cs typeface="Arial"/>
                        <a:sym typeface="Arial"/>
                      </a:endParaRPr>
                    </a:p>
                  </a:txBody>
                  <a:tcPr marT="62225" marB="62225" marR="62225" marL="62225">
                    <a:lnL cap="flat" cmpd="sng" w="12700">
                      <a:solidFill>
                        <a:srgbClr val="CBC6BF"/>
                      </a:solidFill>
                      <a:prstDash val="solid"/>
                      <a:round/>
                      <a:headEnd len="sm" w="sm" type="none"/>
                      <a:tailEnd len="sm" w="sm" type="none"/>
                    </a:lnL>
                    <a:lnR cap="flat" cmpd="sng" w="12700">
                      <a:solidFill>
                        <a:srgbClr val="CBC6BF"/>
                      </a:solidFill>
                      <a:prstDash val="solid"/>
                      <a:round/>
                      <a:headEnd len="sm" w="sm" type="none"/>
                      <a:tailEnd len="sm" w="sm" type="none"/>
                    </a:lnR>
                    <a:lnT cap="flat" cmpd="sng" w="12700">
                      <a:solidFill>
                        <a:srgbClr val="CBC6BF"/>
                      </a:solidFill>
                      <a:prstDash val="solid"/>
                      <a:round/>
                      <a:headEnd len="sm" w="sm" type="none"/>
                      <a:tailEnd len="sm" w="sm" type="none"/>
                    </a:lnT>
                    <a:lnB cap="flat" cmpd="sng" w="12700">
                      <a:solidFill>
                        <a:srgbClr val="CBC6BF"/>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3C4043"/>
                        </a:buClr>
                        <a:buSzPts val="1400"/>
                        <a:buFont typeface="Arial"/>
                        <a:buNone/>
                      </a:pPr>
                      <a:r>
                        <a:rPr lang="en-US" sz="1400" u="none" cap="none" strike="noStrike">
                          <a:solidFill>
                            <a:srgbClr val="3C4043"/>
                          </a:solidFill>
                          <a:latin typeface="Arial"/>
                          <a:ea typeface="Arial"/>
                          <a:cs typeface="Arial"/>
                          <a:sym typeface="Arial"/>
                        </a:rPr>
                        <a:t>+ posedge rst</a:t>
                      </a:r>
                      <a:endParaRPr sz="1400" u="none" cap="none" strike="noStrike">
                        <a:latin typeface="Arial"/>
                        <a:ea typeface="Arial"/>
                        <a:cs typeface="Arial"/>
                        <a:sym typeface="Arial"/>
                      </a:endParaRPr>
                    </a:p>
                  </a:txBody>
                  <a:tcPr marT="62225" marB="62225" marR="62225" marL="62225">
                    <a:lnL cap="flat" cmpd="sng" w="12700">
                      <a:solidFill>
                        <a:srgbClr val="CBC6BF"/>
                      </a:solidFill>
                      <a:prstDash val="solid"/>
                      <a:round/>
                      <a:headEnd len="sm" w="sm" type="none"/>
                      <a:tailEnd len="sm" w="sm" type="none"/>
                    </a:lnL>
                    <a:lnR cap="flat" cmpd="sng" w="12700">
                      <a:solidFill>
                        <a:srgbClr val="CBC6BF"/>
                      </a:solidFill>
                      <a:prstDash val="solid"/>
                      <a:round/>
                      <a:headEnd len="sm" w="sm" type="none"/>
                      <a:tailEnd len="sm" w="sm" type="none"/>
                    </a:lnR>
                    <a:lnT cap="flat" cmpd="sng" w="12700">
                      <a:solidFill>
                        <a:srgbClr val="CBC6BF"/>
                      </a:solidFill>
                      <a:prstDash val="solid"/>
                      <a:round/>
                      <a:headEnd len="sm" w="sm" type="none"/>
                      <a:tailEnd len="sm" w="sm" type="none"/>
                    </a:lnT>
                    <a:lnB cap="flat" cmpd="sng" w="12700">
                      <a:solidFill>
                        <a:srgbClr val="CBC6BF"/>
                      </a:solidFill>
                      <a:prstDash val="solid"/>
                      <a:round/>
                      <a:headEnd len="sm" w="sm" type="none"/>
                      <a:tailEnd len="sm" w="sm" type="none"/>
                    </a:lnB>
                  </a:tcPr>
                </a:tc>
              </a:tr>
              <a:tr h="385950">
                <a:tc>
                  <a:txBody>
                    <a:bodyPr/>
                    <a:lstStyle/>
                    <a:p>
                      <a:pPr indent="0" lvl="0" marL="0" marR="0" rtl="0" algn="l">
                        <a:lnSpc>
                          <a:spcPct val="140000"/>
                        </a:lnSpc>
                        <a:spcBef>
                          <a:spcPts val="0"/>
                        </a:spcBef>
                        <a:spcAft>
                          <a:spcPts val="0"/>
                        </a:spcAft>
                        <a:buClr>
                          <a:srgbClr val="3C4043"/>
                        </a:buClr>
                        <a:buSzPts val="1400"/>
                        <a:buFont typeface="Arial"/>
                        <a:buNone/>
                      </a:pPr>
                      <a:r>
                        <a:rPr lang="en-US" sz="1400" u="none" cap="none" strike="noStrike">
                          <a:solidFill>
                            <a:srgbClr val="3C4043"/>
                          </a:solidFill>
                          <a:latin typeface="Arial"/>
                          <a:ea typeface="Arial"/>
                          <a:cs typeface="Arial"/>
                          <a:sym typeface="Arial"/>
                        </a:rPr>
                        <a:t>Needs clock</a:t>
                      </a:r>
                      <a:endParaRPr sz="1400" u="none" cap="none" strike="noStrike">
                        <a:latin typeface="Arial"/>
                        <a:ea typeface="Arial"/>
                        <a:cs typeface="Arial"/>
                        <a:sym typeface="Arial"/>
                      </a:endParaRPr>
                    </a:p>
                  </a:txBody>
                  <a:tcPr marT="62225" marB="62225" marR="62225" marL="62225">
                    <a:lnL cap="flat" cmpd="sng" w="12700">
                      <a:solidFill>
                        <a:srgbClr val="CBC6BF"/>
                      </a:solidFill>
                      <a:prstDash val="solid"/>
                      <a:round/>
                      <a:headEnd len="sm" w="sm" type="none"/>
                      <a:tailEnd len="sm" w="sm" type="none"/>
                    </a:lnL>
                    <a:lnR cap="flat" cmpd="sng" w="12700">
                      <a:solidFill>
                        <a:srgbClr val="CBC6BF"/>
                      </a:solidFill>
                      <a:prstDash val="solid"/>
                      <a:round/>
                      <a:headEnd len="sm" w="sm" type="none"/>
                      <a:tailEnd len="sm" w="sm" type="none"/>
                    </a:lnR>
                    <a:lnT cap="flat" cmpd="sng" w="12700">
                      <a:solidFill>
                        <a:srgbClr val="CBC6BF"/>
                      </a:solidFill>
                      <a:prstDash val="solid"/>
                      <a:round/>
                      <a:headEnd len="sm" w="sm" type="none"/>
                      <a:tailEnd len="sm" w="sm" type="none"/>
                    </a:lnT>
                    <a:lnB cap="flat" cmpd="sng" w="12700">
                      <a:solidFill>
                        <a:srgbClr val="CBC6BF"/>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3C4043"/>
                        </a:buClr>
                        <a:buSzPts val="1400"/>
                        <a:buFont typeface="Arial"/>
                        <a:buNone/>
                      </a:pPr>
                      <a:r>
                        <a:rPr lang="en-US" sz="1400" u="none" cap="none" strike="noStrike">
                          <a:solidFill>
                            <a:srgbClr val="3C4043"/>
                          </a:solidFill>
                          <a:latin typeface="Arial"/>
                          <a:ea typeface="Arial"/>
                          <a:cs typeface="Arial"/>
                          <a:sym typeface="Arial"/>
                        </a:rPr>
                        <a:t>yes</a:t>
                      </a:r>
                      <a:endParaRPr sz="1400" u="none" cap="none" strike="noStrike">
                        <a:latin typeface="Arial"/>
                        <a:ea typeface="Arial"/>
                        <a:cs typeface="Arial"/>
                        <a:sym typeface="Arial"/>
                      </a:endParaRPr>
                    </a:p>
                  </a:txBody>
                  <a:tcPr marT="62225" marB="62225" marR="62225" marL="62225">
                    <a:lnL cap="flat" cmpd="sng" w="12700">
                      <a:solidFill>
                        <a:srgbClr val="CBC6BF"/>
                      </a:solidFill>
                      <a:prstDash val="solid"/>
                      <a:round/>
                      <a:headEnd len="sm" w="sm" type="none"/>
                      <a:tailEnd len="sm" w="sm" type="none"/>
                    </a:lnL>
                    <a:lnR cap="flat" cmpd="sng" w="12700">
                      <a:solidFill>
                        <a:srgbClr val="CBC6BF"/>
                      </a:solidFill>
                      <a:prstDash val="solid"/>
                      <a:round/>
                      <a:headEnd len="sm" w="sm" type="none"/>
                      <a:tailEnd len="sm" w="sm" type="none"/>
                    </a:lnR>
                    <a:lnT cap="flat" cmpd="sng" w="12700">
                      <a:solidFill>
                        <a:srgbClr val="CBC6BF"/>
                      </a:solidFill>
                      <a:prstDash val="solid"/>
                      <a:round/>
                      <a:headEnd len="sm" w="sm" type="none"/>
                      <a:tailEnd len="sm" w="sm" type="none"/>
                    </a:lnT>
                    <a:lnB cap="flat" cmpd="sng" w="12700">
                      <a:solidFill>
                        <a:srgbClr val="CBC6BF"/>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3C4043"/>
                        </a:buClr>
                        <a:buSzPts val="1400"/>
                        <a:buFont typeface="Arial"/>
                        <a:buNone/>
                      </a:pPr>
                      <a:r>
                        <a:rPr lang="en-US" sz="1400" u="none" cap="none" strike="noStrike">
                          <a:solidFill>
                            <a:srgbClr val="3C4043"/>
                          </a:solidFill>
                          <a:latin typeface="Arial"/>
                          <a:ea typeface="Arial"/>
                          <a:cs typeface="Arial"/>
                          <a:sym typeface="Arial"/>
                        </a:rPr>
                        <a:t>no</a:t>
                      </a:r>
                      <a:endParaRPr sz="1400" u="none" cap="none" strike="noStrike">
                        <a:latin typeface="Arial"/>
                        <a:ea typeface="Arial"/>
                        <a:cs typeface="Arial"/>
                        <a:sym typeface="Arial"/>
                      </a:endParaRPr>
                    </a:p>
                  </a:txBody>
                  <a:tcPr marT="62225" marB="62225" marR="62225" marL="62225">
                    <a:lnL cap="flat" cmpd="sng" w="12700">
                      <a:solidFill>
                        <a:srgbClr val="CBC6BF"/>
                      </a:solidFill>
                      <a:prstDash val="solid"/>
                      <a:round/>
                      <a:headEnd len="sm" w="sm" type="none"/>
                      <a:tailEnd len="sm" w="sm" type="none"/>
                    </a:lnL>
                    <a:lnR cap="flat" cmpd="sng" w="12700">
                      <a:solidFill>
                        <a:srgbClr val="CBC6BF"/>
                      </a:solidFill>
                      <a:prstDash val="solid"/>
                      <a:round/>
                      <a:headEnd len="sm" w="sm" type="none"/>
                      <a:tailEnd len="sm" w="sm" type="none"/>
                    </a:lnR>
                    <a:lnT cap="flat" cmpd="sng" w="12700">
                      <a:solidFill>
                        <a:srgbClr val="CBC6BF"/>
                      </a:solidFill>
                      <a:prstDash val="solid"/>
                      <a:round/>
                      <a:headEnd len="sm" w="sm" type="none"/>
                      <a:tailEnd len="sm" w="sm" type="none"/>
                    </a:lnT>
                    <a:lnB cap="flat" cmpd="sng" w="12700">
                      <a:solidFill>
                        <a:srgbClr val="CBC6BF"/>
                      </a:solidFill>
                      <a:prstDash val="solid"/>
                      <a:round/>
                      <a:headEnd len="sm" w="sm" type="none"/>
                      <a:tailEnd len="sm" w="sm" type="none"/>
                    </a:lnB>
                  </a:tcPr>
                </a:tc>
              </a:tr>
              <a:tr h="385950">
                <a:tc>
                  <a:txBody>
                    <a:bodyPr/>
                    <a:lstStyle/>
                    <a:p>
                      <a:pPr indent="0" lvl="0" marL="0" marR="0" rtl="0" algn="l">
                        <a:lnSpc>
                          <a:spcPct val="140000"/>
                        </a:lnSpc>
                        <a:spcBef>
                          <a:spcPts val="0"/>
                        </a:spcBef>
                        <a:spcAft>
                          <a:spcPts val="0"/>
                        </a:spcAft>
                        <a:buClr>
                          <a:srgbClr val="3C4043"/>
                        </a:buClr>
                        <a:buSzPts val="1400"/>
                        <a:buFont typeface="Arial"/>
                        <a:buNone/>
                      </a:pPr>
                      <a:r>
                        <a:rPr lang="en-US" sz="1400" u="none" cap="none" strike="noStrike">
                          <a:solidFill>
                            <a:srgbClr val="3C4043"/>
                          </a:solidFill>
                          <a:latin typeface="Arial"/>
                          <a:ea typeface="Arial"/>
                          <a:cs typeface="Arial"/>
                          <a:sym typeface="Arial"/>
                        </a:rPr>
                        <a:t>FPGA cell</a:t>
                      </a:r>
                      <a:endParaRPr sz="1400" u="none" cap="none" strike="noStrike">
                        <a:latin typeface="Arial"/>
                        <a:ea typeface="Arial"/>
                        <a:cs typeface="Arial"/>
                        <a:sym typeface="Arial"/>
                      </a:endParaRPr>
                    </a:p>
                  </a:txBody>
                  <a:tcPr marT="62225" marB="62225" marR="62225" marL="62225">
                    <a:lnL cap="flat" cmpd="sng" w="12700">
                      <a:solidFill>
                        <a:srgbClr val="CBC6BF"/>
                      </a:solidFill>
                      <a:prstDash val="solid"/>
                      <a:round/>
                      <a:headEnd len="sm" w="sm" type="none"/>
                      <a:tailEnd len="sm" w="sm" type="none"/>
                    </a:lnL>
                    <a:lnR cap="flat" cmpd="sng" w="12700">
                      <a:solidFill>
                        <a:srgbClr val="CBC6BF"/>
                      </a:solidFill>
                      <a:prstDash val="solid"/>
                      <a:round/>
                      <a:headEnd len="sm" w="sm" type="none"/>
                      <a:tailEnd len="sm" w="sm" type="none"/>
                    </a:lnR>
                    <a:lnT cap="flat" cmpd="sng" w="12700">
                      <a:solidFill>
                        <a:srgbClr val="CBC6BF"/>
                      </a:solidFill>
                      <a:prstDash val="solid"/>
                      <a:round/>
                      <a:headEnd len="sm" w="sm" type="none"/>
                      <a:tailEnd len="sm" w="sm" type="none"/>
                    </a:lnT>
                    <a:lnB cap="flat" cmpd="sng" w="12700">
                      <a:solidFill>
                        <a:srgbClr val="CBC6BF"/>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3C4043"/>
                        </a:buClr>
                        <a:buSzPts val="1400"/>
                        <a:buFont typeface="Arial"/>
                        <a:buNone/>
                      </a:pPr>
                      <a:r>
                        <a:rPr lang="en-US" sz="1400" u="none" cap="none" strike="noStrike">
                          <a:solidFill>
                            <a:srgbClr val="3C4043"/>
                          </a:solidFill>
                          <a:latin typeface="Arial"/>
                          <a:ea typeface="Arial"/>
                          <a:cs typeface="Arial"/>
                          <a:sym typeface="Arial"/>
                        </a:rPr>
                        <a:t>FDRE</a:t>
                      </a:r>
                      <a:endParaRPr sz="1400" u="none" cap="none" strike="noStrike">
                        <a:latin typeface="Arial"/>
                        <a:ea typeface="Arial"/>
                        <a:cs typeface="Arial"/>
                        <a:sym typeface="Arial"/>
                      </a:endParaRPr>
                    </a:p>
                  </a:txBody>
                  <a:tcPr marT="62225" marB="62225" marR="62225" marL="62225">
                    <a:lnL cap="flat" cmpd="sng" w="12700">
                      <a:solidFill>
                        <a:srgbClr val="CBC6BF"/>
                      </a:solidFill>
                      <a:prstDash val="solid"/>
                      <a:round/>
                      <a:headEnd len="sm" w="sm" type="none"/>
                      <a:tailEnd len="sm" w="sm" type="none"/>
                    </a:lnL>
                    <a:lnR cap="flat" cmpd="sng" w="12700">
                      <a:solidFill>
                        <a:srgbClr val="CBC6BF"/>
                      </a:solidFill>
                      <a:prstDash val="solid"/>
                      <a:round/>
                      <a:headEnd len="sm" w="sm" type="none"/>
                      <a:tailEnd len="sm" w="sm" type="none"/>
                    </a:lnR>
                    <a:lnT cap="flat" cmpd="sng" w="12700">
                      <a:solidFill>
                        <a:srgbClr val="CBC6BF"/>
                      </a:solidFill>
                      <a:prstDash val="solid"/>
                      <a:round/>
                      <a:headEnd len="sm" w="sm" type="none"/>
                      <a:tailEnd len="sm" w="sm" type="none"/>
                    </a:lnT>
                    <a:lnB cap="flat" cmpd="sng" w="12700">
                      <a:solidFill>
                        <a:srgbClr val="CBC6BF"/>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3C4043"/>
                        </a:buClr>
                        <a:buSzPts val="1400"/>
                        <a:buFont typeface="Arial"/>
                        <a:buNone/>
                      </a:pPr>
                      <a:r>
                        <a:rPr lang="en-US" sz="1400" u="none" cap="none" strike="noStrike">
                          <a:solidFill>
                            <a:srgbClr val="3C4043"/>
                          </a:solidFill>
                          <a:latin typeface="Arial"/>
                          <a:ea typeface="Arial"/>
                          <a:cs typeface="Arial"/>
                          <a:sym typeface="Arial"/>
                        </a:rPr>
                        <a:t>FDCE</a:t>
                      </a:r>
                      <a:endParaRPr sz="1400" u="none" cap="none" strike="noStrike">
                        <a:latin typeface="Arial"/>
                        <a:ea typeface="Arial"/>
                        <a:cs typeface="Arial"/>
                        <a:sym typeface="Arial"/>
                      </a:endParaRPr>
                    </a:p>
                  </a:txBody>
                  <a:tcPr marT="62225" marB="62225" marR="62225" marL="62225">
                    <a:lnL cap="flat" cmpd="sng" w="12700">
                      <a:solidFill>
                        <a:srgbClr val="CBC6BF"/>
                      </a:solidFill>
                      <a:prstDash val="solid"/>
                      <a:round/>
                      <a:headEnd len="sm" w="sm" type="none"/>
                      <a:tailEnd len="sm" w="sm" type="none"/>
                    </a:lnL>
                    <a:lnR cap="flat" cmpd="sng" w="12700">
                      <a:solidFill>
                        <a:srgbClr val="CBC6BF"/>
                      </a:solidFill>
                      <a:prstDash val="solid"/>
                      <a:round/>
                      <a:headEnd len="sm" w="sm" type="none"/>
                      <a:tailEnd len="sm" w="sm" type="none"/>
                    </a:lnR>
                    <a:lnT cap="flat" cmpd="sng" w="12700">
                      <a:solidFill>
                        <a:srgbClr val="CBC6BF"/>
                      </a:solidFill>
                      <a:prstDash val="solid"/>
                      <a:round/>
                      <a:headEnd len="sm" w="sm" type="none"/>
                      <a:tailEnd len="sm" w="sm" type="none"/>
                    </a:lnT>
                    <a:lnB cap="flat" cmpd="sng" w="12700">
                      <a:solidFill>
                        <a:srgbClr val="CBC6BF"/>
                      </a:solidFill>
                      <a:prstDash val="solid"/>
                      <a:round/>
                      <a:headEnd len="sm" w="sm" type="none"/>
                      <a:tailEnd len="sm" w="sm" type="none"/>
                    </a:lnB>
                  </a:tcPr>
                </a:tc>
              </a:tr>
            </a:tbl>
          </a:graphicData>
        </a:graphic>
      </p:graphicFrame>
      <p:sp>
        <p:nvSpPr>
          <p:cNvPr id="396" name="Google Shape;396;p26"/>
          <p:cNvSpPr/>
          <p:nvPr/>
        </p:nvSpPr>
        <p:spPr>
          <a:xfrm>
            <a:off x="736600" y="4700922"/>
            <a:ext cx="4970780" cy="523214"/>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4E52"/>
              </a:buClr>
              <a:buSzPts val="1400"/>
              <a:buFont typeface="Arial"/>
              <a:buNone/>
            </a:pPr>
            <a:r>
              <a:rPr b="0" i="0" lang="en-US" sz="1400" u="none" cap="none" strike="noStrike">
                <a:solidFill>
                  <a:srgbClr val="4A4E52"/>
                </a:solidFill>
                <a:latin typeface="Arial"/>
                <a:ea typeface="Arial"/>
                <a:cs typeface="Arial"/>
                <a:sym typeface="Arial"/>
              </a:rPr>
              <a:t>Releasing an async reset near a clock edge can cause trouble: sync the release.</a:t>
            </a:r>
            <a:endParaRPr b="0" i="0" sz="1400" u="none" cap="none" strike="noStrike">
              <a:solidFill>
                <a:schemeClr val="dk1"/>
              </a:solidFill>
              <a:latin typeface="Arial"/>
              <a:ea typeface="Arial"/>
              <a:cs typeface="Arial"/>
              <a:sym typeface="Arial"/>
            </a:endParaRPr>
          </a:p>
        </p:txBody>
      </p:sp>
      <p:sp>
        <p:nvSpPr>
          <p:cNvPr id="397" name="Google Shape;397;p26"/>
          <p:cNvSpPr/>
          <p:nvPr/>
        </p:nvSpPr>
        <p:spPr>
          <a:xfrm>
            <a:off x="5969000" y="1739900"/>
            <a:ext cx="5410200" cy="3085703"/>
          </a:xfrm>
          <a:prstGeom prst="roundRect">
            <a:avLst>
              <a:gd fmla="val 4939" name="adj"/>
            </a:avLst>
          </a:prstGeom>
          <a:solidFill>
            <a:srgbClr val="2F3237"/>
          </a:solidFill>
          <a:ln>
            <a:noFill/>
          </a:ln>
        </p:spPr>
        <p:txBody>
          <a:bodyPr anchorCtr="0" anchor="t" bIns="183950" lIns="234750" spcFirstLastPara="1" rIns="89200" wrap="square" tIns="209350">
            <a:noAutofit/>
          </a:bodyPr>
          <a:lstStyle/>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always_ff @(posedge clk or</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           posedge rst) begin</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  if (rst)</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    q &lt;= 8'd0;</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  else</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    q &lt;= d;</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end</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A9C4D6"/>
              </a:buClr>
              <a:buSzPts val="1400"/>
              <a:buFont typeface="Courier New"/>
              <a:buNone/>
            </a:pPr>
            <a:r>
              <a:rPr b="0" i="0" lang="en-US" sz="1400" u="none" cap="none" strike="noStrike">
                <a:solidFill>
                  <a:srgbClr val="A9C4D6"/>
                </a:solidFill>
                <a:latin typeface="Courier New"/>
                <a:ea typeface="Courier New"/>
                <a:cs typeface="Courier New"/>
                <a:sym typeface="Courier New"/>
              </a:rPr>
              <a:t>// rst in the sensitivity list</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A9C4D6"/>
              </a:buClr>
              <a:buSzPts val="1400"/>
              <a:buFont typeface="Courier New"/>
              <a:buNone/>
            </a:pPr>
            <a:r>
              <a:rPr b="0" i="0" lang="en-US" sz="1400" u="none" cap="none" strike="noStrike">
                <a:solidFill>
                  <a:srgbClr val="A9C4D6"/>
                </a:solidFill>
                <a:latin typeface="Courier New"/>
                <a:ea typeface="Courier New"/>
                <a:cs typeface="Courier New"/>
                <a:sym typeface="Courier New"/>
              </a:rPr>
              <a:t>// = asynchronous</a:t>
            </a:r>
            <a:endParaRPr b="0" i="0" sz="1400" u="none" cap="none" strike="noStrike">
              <a:solidFill>
                <a:schemeClr val="dk1"/>
              </a:solidFill>
              <a:latin typeface="Arial"/>
              <a:ea typeface="Arial"/>
              <a:cs typeface="Arial"/>
              <a:sym typeface="Arial"/>
            </a:endParaRPr>
          </a:p>
        </p:txBody>
      </p:sp>
      <p:sp>
        <p:nvSpPr>
          <p:cNvPr id="398" name="Google Shape;398;p26"/>
          <p:cNvSpPr/>
          <p:nvPr/>
        </p:nvSpPr>
        <p:spPr>
          <a:xfrm>
            <a:off x="10566400" y="6238280"/>
            <a:ext cx="812800" cy="23872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3C4043"/>
              </a:buClr>
              <a:buSzPts val="1200"/>
              <a:buFont typeface="Arial"/>
              <a:buNone/>
            </a:pPr>
            <a:r>
              <a:rPr b="0" i="0" lang="en-US" sz="1200" u="none" cap="none" strike="noStrike">
                <a:solidFill>
                  <a:srgbClr val="3C4043"/>
                </a:solidFill>
                <a:latin typeface="Arial"/>
                <a:ea typeface="Arial"/>
                <a:cs typeface="Arial"/>
                <a:sym typeface="Arial"/>
              </a:rPr>
              <a:t>23</a:t>
            </a:r>
            <a:endParaRPr b="0" i="0" sz="1200" u="none" cap="none" strike="noStrike">
              <a:solidFill>
                <a:schemeClr val="dk1"/>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0DC"/>
        </a:solidFill>
      </p:bgPr>
    </p:bg>
    <p:spTree>
      <p:nvGrpSpPr>
        <p:cNvPr id="403" name="Shape 403"/>
        <p:cNvGrpSpPr/>
        <p:nvPr/>
      </p:nvGrpSpPr>
      <p:grpSpPr>
        <a:xfrm>
          <a:off x="0" y="0"/>
          <a:ext cx="0" cy="0"/>
          <a:chOff x="0" y="0"/>
          <a:chExt cx="0" cy="0"/>
        </a:xfrm>
      </p:grpSpPr>
      <p:sp>
        <p:nvSpPr>
          <p:cNvPr id="404" name="Google Shape;404;p27"/>
          <p:cNvSpPr/>
          <p:nvPr/>
        </p:nvSpPr>
        <p:spPr>
          <a:xfrm>
            <a:off x="114300" y="114300"/>
            <a:ext cx="5886450" cy="381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C4043"/>
              </a:buClr>
              <a:buSzPts val="2000"/>
              <a:buFont typeface="Arial"/>
              <a:buNone/>
            </a:pPr>
            <a:r>
              <a:rPr b="0" i="0" lang="en-US" sz="2000" u="none" cap="none" strike="noStrike">
                <a:solidFill>
                  <a:srgbClr val="3C4043"/>
                </a:solidFill>
                <a:latin typeface="Arial"/>
                <a:ea typeface="Arial"/>
                <a:cs typeface="Arial"/>
                <a:sym typeface="Arial"/>
              </a:rPr>
              <a:t>Sequential Logic</a:t>
            </a:r>
            <a:endParaRPr b="0" i="0" sz="2000" u="none" cap="none" strike="noStrike">
              <a:solidFill>
                <a:schemeClr val="dk1"/>
              </a:solidFill>
              <a:latin typeface="Arial"/>
              <a:ea typeface="Arial"/>
              <a:cs typeface="Arial"/>
              <a:sym typeface="Arial"/>
            </a:endParaRPr>
          </a:p>
        </p:txBody>
      </p:sp>
      <p:sp>
        <p:nvSpPr>
          <p:cNvPr id="405" name="Google Shape;405;p27"/>
          <p:cNvSpPr txBox="1"/>
          <p:nvPr>
            <p:ph type="title"/>
          </p:nvPr>
        </p:nvSpPr>
        <p:spPr>
          <a:xfrm>
            <a:off x="736600" y="762000"/>
            <a:ext cx="10961878" cy="5842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3C4043"/>
              </a:buClr>
              <a:buSzPts val="4000"/>
              <a:buFont typeface="Arial"/>
              <a:buNone/>
            </a:pPr>
            <a:r>
              <a:rPr b="0" i="0" lang="en-US" sz="4000">
                <a:solidFill>
                  <a:srgbClr val="3C4043"/>
                </a:solidFill>
                <a:latin typeface="Arial"/>
                <a:ea typeface="Arial"/>
                <a:cs typeface="Arial"/>
                <a:sym typeface="Arial"/>
              </a:rPr>
              <a:t>Counters</a:t>
            </a:r>
            <a:endParaRPr sz="4000"/>
          </a:p>
        </p:txBody>
      </p:sp>
      <p:pic>
        <p:nvPicPr>
          <p:cNvPr descr="line" id="406" name="Google Shape;406;p27"/>
          <p:cNvPicPr preferRelativeResize="0"/>
          <p:nvPr/>
        </p:nvPicPr>
        <p:blipFill rotWithShape="1">
          <a:blip r:embed="rId3">
            <a:alphaModFix/>
          </a:blip>
          <a:srcRect b="0" l="0" r="0" t="0"/>
          <a:stretch/>
        </p:blipFill>
        <p:spPr>
          <a:xfrm>
            <a:off x="736600" y="1524000"/>
            <a:ext cx="10642600" cy="12700"/>
          </a:xfrm>
          <a:prstGeom prst="rect">
            <a:avLst/>
          </a:prstGeom>
          <a:noFill/>
          <a:ln>
            <a:noFill/>
          </a:ln>
        </p:spPr>
      </p:pic>
      <p:sp>
        <p:nvSpPr>
          <p:cNvPr id="407" name="Google Shape;407;p27"/>
          <p:cNvSpPr/>
          <p:nvPr/>
        </p:nvSpPr>
        <p:spPr>
          <a:xfrm>
            <a:off x="736600" y="1739900"/>
            <a:ext cx="4970780" cy="688314"/>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3C4043"/>
              </a:buClr>
              <a:buSzPts val="1800"/>
              <a:buFont typeface="Arial"/>
              <a:buNone/>
            </a:pPr>
            <a:r>
              <a:rPr b="0" i="0" lang="en-US" sz="1800" u="none" cap="none" strike="noStrike">
                <a:solidFill>
                  <a:srgbClr val="3C4043"/>
                </a:solidFill>
                <a:latin typeface="Arial"/>
                <a:ea typeface="Arial"/>
                <a:cs typeface="Arial"/>
                <a:sym typeface="Arial"/>
              </a:rPr>
              <a:t>A register plus an adder feeding back into itself: </a:t>
            </a:r>
            <a:r>
              <a:rPr b="1" i="0" lang="en-US" sz="1800" u="none" cap="none" strike="noStrike">
                <a:solidFill>
                  <a:srgbClr val="3C4043"/>
                </a:solidFill>
                <a:latin typeface="Arial"/>
                <a:ea typeface="Arial"/>
                <a:cs typeface="Arial"/>
                <a:sym typeface="Arial"/>
              </a:rPr>
              <a:t>count ← count + 1</a:t>
            </a:r>
            <a:r>
              <a:rPr b="0" i="0" lang="en-US" sz="1800" u="none" cap="none" strike="noStrike">
                <a:solidFill>
                  <a:srgbClr val="3C4043"/>
                </a:solidFill>
                <a:latin typeface="Arial"/>
                <a:ea typeface="Arial"/>
                <a:cs typeface="Arial"/>
                <a:sym typeface="Arial"/>
              </a:rPr>
              <a:t> every edge.</a:t>
            </a:r>
            <a:endParaRPr b="0" i="0" sz="1800" u="none" cap="none" strike="noStrike">
              <a:solidFill>
                <a:schemeClr val="dk1"/>
              </a:solidFill>
              <a:latin typeface="Arial"/>
              <a:ea typeface="Arial"/>
              <a:cs typeface="Arial"/>
              <a:sym typeface="Arial"/>
            </a:endParaRPr>
          </a:p>
        </p:txBody>
      </p:sp>
      <p:sp>
        <p:nvSpPr>
          <p:cNvPr id="408" name="Google Shape;408;p27"/>
          <p:cNvSpPr/>
          <p:nvPr/>
        </p:nvSpPr>
        <p:spPr>
          <a:xfrm>
            <a:off x="736600" y="2580618"/>
            <a:ext cx="309959" cy="401307"/>
          </a:xfrm>
          <a:prstGeom prst="roundRect">
            <a:avLst>
              <a:gd fmla="val 20487" name="adj"/>
            </a:avLst>
          </a:prstGeom>
          <a:solidFill>
            <a:srgbClr val="B5462A"/>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FFF8F0"/>
              </a:buClr>
              <a:buSzPts val="1400"/>
              <a:buFont typeface="Courier New"/>
              <a:buNone/>
            </a:pPr>
            <a:r>
              <a:rPr b="1" i="0" lang="en-US" sz="1400" u="none" cap="none" strike="noStrike">
                <a:solidFill>
                  <a:srgbClr val="FFF8F0"/>
                </a:solidFill>
                <a:latin typeface="Courier New"/>
                <a:ea typeface="Courier New"/>
                <a:cs typeface="Courier New"/>
                <a:sym typeface="Courier New"/>
              </a:rPr>
              <a:t>0</a:t>
            </a:r>
            <a:endParaRPr b="0" i="0" sz="1400" u="none" cap="none" strike="noStrike">
              <a:solidFill>
                <a:schemeClr val="dk1"/>
              </a:solidFill>
              <a:latin typeface="Arial"/>
              <a:ea typeface="Arial"/>
              <a:cs typeface="Arial"/>
              <a:sym typeface="Arial"/>
            </a:endParaRPr>
          </a:p>
        </p:txBody>
      </p:sp>
      <p:sp>
        <p:nvSpPr>
          <p:cNvPr id="409" name="Google Shape;409;p27"/>
          <p:cNvSpPr/>
          <p:nvPr/>
        </p:nvSpPr>
        <p:spPr>
          <a:xfrm>
            <a:off x="1110059" y="2580618"/>
            <a:ext cx="309959" cy="401307"/>
          </a:xfrm>
          <a:prstGeom prst="roundRect">
            <a:avLst>
              <a:gd fmla="val 20487" name="adj"/>
            </a:avLst>
          </a:prstGeom>
          <a:solidFill>
            <a:srgbClr val="B5462A"/>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FFF8F0"/>
              </a:buClr>
              <a:buSzPts val="1400"/>
              <a:buFont typeface="Courier New"/>
              <a:buNone/>
            </a:pPr>
            <a:r>
              <a:rPr b="1" i="0" lang="en-US" sz="1400" u="none" cap="none" strike="noStrike">
                <a:solidFill>
                  <a:srgbClr val="FFF8F0"/>
                </a:solidFill>
                <a:latin typeface="Courier New"/>
                <a:ea typeface="Courier New"/>
                <a:cs typeface="Courier New"/>
                <a:sym typeface="Courier New"/>
              </a:rPr>
              <a:t>1</a:t>
            </a:r>
            <a:endParaRPr b="0" i="0" sz="1400" u="none" cap="none" strike="noStrike">
              <a:solidFill>
                <a:schemeClr val="dk1"/>
              </a:solidFill>
              <a:latin typeface="Arial"/>
              <a:ea typeface="Arial"/>
              <a:cs typeface="Arial"/>
              <a:sym typeface="Arial"/>
            </a:endParaRPr>
          </a:p>
        </p:txBody>
      </p:sp>
      <p:sp>
        <p:nvSpPr>
          <p:cNvPr id="410" name="Google Shape;410;p27"/>
          <p:cNvSpPr/>
          <p:nvPr/>
        </p:nvSpPr>
        <p:spPr>
          <a:xfrm>
            <a:off x="1483519" y="2580618"/>
            <a:ext cx="309959" cy="401307"/>
          </a:xfrm>
          <a:prstGeom prst="roundRect">
            <a:avLst>
              <a:gd fmla="val 20487" name="adj"/>
            </a:avLst>
          </a:prstGeom>
          <a:solidFill>
            <a:srgbClr val="B5462A"/>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FFF8F0"/>
              </a:buClr>
              <a:buSzPts val="1400"/>
              <a:buFont typeface="Courier New"/>
              <a:buNone/>
            </a:pPr>
            <a:r>
              <a:rPr b="1" i="0" lang="en-US" sz="1400" u="none" cap="none" strike="noStrike">
                <a:solidFill>
                  <a:srgbClr val="FFF8F0"/>
                </a:solidFill>
                <a:latin typeface="Courier New"/>
                <a:ea typeface="Courier New"/>
                <a:cs typeface="Courier New"/>
                <a:sym typeface="Courier New"/>
              </a:rPr>
              <a:t>2</a:t>
            </a:r>
            <a:endParaRPr b="0" i="0" sz="1400" u="none" cap="none" strike="noStrike">
              <a:solidFill>
                <a:schemeClr val="dk1"/>
              </a:solidFill>
              <a:latin typeface="Arial"/>
              <a:ea typeface="Arial"/>
              <a:cs typeface="Arial"/>
              <a:sym typeface="Arial"/>
            </a:endParaRPr>
          </a:p>
        </p:txBody>
      </p:sp>
      <p:sp>
        <p:nvSpPr>
          <p:cNvPr id="411" name="Google Shape;411;p27"/>
          <p:cNvSpPr/>
          <p:nvPr/>
        </p:nvSpPr>
        <p:spPr>
          <a:xfrm>
            <a:off x="1856978" y="2580618"/>
            <a:ext cx="309959" cy="401307"/>
          </a:xfrm>
          <a:prstGeom prst="roundRect">
            <a:avLst>
              <a:gd fmla="val 20487" name="adj"/>
            </a:avLst>
          </a:prstGeom>
          <a:solidFill>
            <a:srgbClr val="B5462A"/>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FFF8F0"/>
              </a:buClr>
              <a:buSzPts val="1400"/>
              <a:buFont typeface="Courier New"/>
              <a:buNone/>
            </a:pPr>
            <a:r>
              <a:rPr b="1" i="0" lang="en-US" sz="1400" u="none" cap="none" strike="noStrike">
                <a:solidFill>
                  <a:srgbClr val="FFF8F0"/>
                </a:solidFill>
                <a:latin typeface="Courier New"/>
                <a:ea typeface="Courier New"/>
                <a:cs typeface="Courier New"/>
                <a:sym typeface="Courier New"/>
              </a:rPr>
              <a:t>3</a:t>
            </a:r>
            <a:endParaRPr b="0" i="0" sz="1400" u="none" cap="none" strike="noStrike">
              <a:solidFill>
                <a:schemeClr val="dk1"/>
              </a:solidFill>
              <a:latin typeface="Arial"/>
              <a:ea typeface="Arial"/>
              <a:cs typeface="Arial"/>
              <a:sym typeface="Arial"/>
            </a:endParaRPr>
          </a:p>
        </p:txBody>
      </p:sp>
      <p:sp>
        <p:nvSpPr>
          <p:cNvPr id="412" name="Google Shape;412;p27"/>
          <p:cNvSpPr/>
          <p:nvPr/>
        </p:nvSpPr>
        <p:spPr>
          <a:xfrm>
            <a:off x="2230438" y="2656818"/>
            <a:ext cx="228600" cy="274307"/>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4E52"/>
              </a:buClr>
              <a:buSzPts val="1400"/>
              <a:buFont typeface="Arial"/>
              <a:buNone/>
            </a:pPr>
            <a:r>
              <a:rPr b="0" i="0" lang="en-US" sz="1400" u="none" cap="none" strike="noStrike">
                <a:solidFill>
                  <a:srgbClr val="4A4E52"/>
                </a:solidFill>
                <a:latin typeface="Arial"/>
                <a:ea typeface="Arial"/>
                <a:cs typeface="Arial"/>
                <a:sym typeface="Arial"/>
              </a:rPr>
              <a:t>…</a:t>
            </a:r>
            <a:endParaRPr b="0" i="0" sz="1400" u="none" cap="none" strike="noStrike">
              <a:solidFill>
                <a:schemeClr val="dk1"/>
              </a:solidFill>
              <a:latin typeface="Arial"/>
              <a:ea typeface="Arial"/>
              <a:cs typeface="Arial"/>
              <a:sym typeface="Arial"/>
            </a:endParaRPr>
          </a:p>
        </p:txBody>
      </p:sp>
      <p:sp>
        <p:nvSpPr>
          <p:cNvPr id="413" name="Google Shape;413;p27"/>
          <p:cNvSpPr/>
          <p:nvPr/>
        </p:nvSpPr>
        <p:spPr>
          <a:xfrm>
            <a:off x="2471738" y="2580618"/>
            <a:ext cx="416653" cy="401307"/>
          </a:xfrm>
          <a:prstGeom prst="roundRect">
            <a:avLst>
              <a:gd fmla="val 15823" name="adj"/>
            </a:avLst>
          </a:prstGeom>
          <a:solidFill>
            <a:srgbClr val="B5462A"/>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FFF8F0"/>
              </a:buClr>
              <a:buSzPts val="1400"/>
              <a:buFont typeface="Courier New"/>
              <a:buNone/>
            </a:pPr>
            <a:r>
              <a:rPr b="1" i="0" lang="en-US" sz="1400" u="none" cap="none" strike="noStrike">
                <a:solidFill>
                  <a:srgbClr val="FFF8F0"/>
                </a:solidFill>
                <a:latin typeface="Courier New"/>
                <a:ea typeface="Courier New"/>
                <a:cs typeface="Courier New"/>
                <a:sym typeface="Courier New"/>
              </a:rPr>
              <a:t>15</a:t>
            </a:r>
            <a:endParaRPr b="0" i="0" sz="1400" u="none" cap="none" strike="noStrike">
              <a:solidFill>
                <a:schemeClr val="dk1"/>
              </a:solidFill>
              <a:latin typeface="Arial"/>
              <a:ea typeface="Arial"/>
              <a:cs typeface="Arial"/>
              <a:sym typeface="Arial"/>
            </a:endParaRPr>
          </a:p>
        </p:txBody>
      </p:sp>
      <p:pic>
        <p:nvPicPr>
          <p:cNvPr descr="arrow-right" id="414" name="Google Shape;414;p27"/>
          <p:cNvPicPr preferRelativeResize="0"/>
          <p:nvPr/>
        </p:nvPicPr>
        <p:blipFill rotWithShape="1">
          <a:blip r:embed="rId4">
            <a:alphaModFix/>
          </a:blip>
          <a:srcRect b="0" l="0" r="0" t="0"/>
          <a:stretch/>
        </p:blipFill>
        <p:spPr>
          <a:xfrm>
            <a:off x="2951890" y="2705038"/>
            <a:ext cx="279400" cy="152400"/>
          </a:xfrm>
          <a:prstGeom prst="rect">
            <a:avLst/>
          </a:prstGeom>
          <a:noFill/>
          <a:ln>
            <a:noFill/>
          </a:ln>
        </p:spPr>
      </p:pic>
      <p:sp>
        <p:nvSpPr>
          <p:cNvPr id="415" name="Google Shape;415;p27"/>
          <p:cNvSpPr/>
          <p:nvPr/>
        </p:nvSpPr>
        <p:spPr>
          <a:xfrm>
            <a:off x="3294790" y="2580618"/>
            <a:ext cx="309959" cy="401307"/>
          </a:xfrm>
          <a:prstGeom prst="roundRect">
            <a:avLst>
              <a:gd fmla="val 20487" name="adj"/>
            </a:avLst>
          </a:prstGeom>
          <a:solidFill>
            <a:srgbClr val="B5462A"/>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FFF8F0"/>
              </a:buClr>
              <a:buSzPts val="1400"/>
              <a:buFont typeface="Courier New"/>
              <a:buNone/>
            </a:pPr>
            <a:r>
              <a:rPr b="1" i="0" lang="en-US" sz="1400" u="none" cap="none" strike="noStrike">
                <a:solidFill>
                  <a:srgbClr val="FFF8F0"/>
                </a:solidFill>
                <a:latin typeface="Courier New"/>
                <a:ea typeface="Courier New"/>
                <a:cs typeface="Courier New"/>
                <a:sym typeface="Courier New"/>
              </a:rPr>
              <a:t>0</a:t>
            </a:r>
            <a:endParaRPr b="0" i="0" sz="1400" u="none" cap="none" strike="noStrike">
              <a:solidFill>
                <a:schemeClr val="dk1"/>
              </a:solidFill>
              <a:latin typeface="Arial"/>
              <a:ea typeface="Arial"/>
              <a:cs typeface="Arial"/>
              <a:sym typeface="Arial"/>
            </a:endParaRPr>
          </a:p>
        </p:txBody>
      </p:sp>
      <p:sp>
        <p:nvSpPr>
          <p:cNvPr id="416" name="Google Shape;416;p27"/>
          <p:cNvSpPr/>
          <p:nvPr/>
        </p:nvSpPr>
        <p:spPr>
          <a:xfrm>
            <a:off x="3668250" y="2665685"/>
            <a:ext cx="528558" cy="256514"/>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4E52"/>
              </a:buClr>
              <a:buSzPts val="1300"/>
              <a:buFont typeface="Arial"/>
              <a:buNone/>
            </a:pPr>
            <a:r>
              <a:rPr b="0" i="0" lang="en-US" sz="1300" u="none" cap="none" strike="noStrike">
                <a:solidFill>
                  <a:srgbClr val="4A4E52"/>
                </a:solidFill>
                <a:latin typeface="Arial"/>
                <a:ea typeface="Arial"/>
                <a:cs typeface="Arial"/>
                <a:sym typeface="Arial"/>
              </a:rPr>
              <a:t>wraps</a:t>
            </a:r>
            <a:endParaRPr b="0" i="0" sz="1300" u="none" cap="none" strike="noStrike">
              <a:solidFill>
                <a:schemeClr val="dk1"/>
              </a:solidFill>
              <a:latin typeface="Arial"/>
              <a:ea typeface="Arial"/>
              <a:cs typeface="Arial"/>
              <a:sym typeface="Arial"/>
            </a:endParaRPr>
          </a:p>
        </p:txBody>
      </p:sp>
      <p:sp>
        <p:nvSpPr>
          <p:cNvPr id="417" name="Google Shape;417;p27"/>
          <p:cNvSpPr/>
          <p:nvPr/>
        </p:nvSpPr>
        <p:spPr>
          <a:xfrm>
            <a:off x="813308" y="3159720"/>
            <a:ext cx="4886452" cy="1244600"/>
          </a:xfrm>
          <a:prstGeom prst="rect">
            <a:avLst/>
          </a:prstGeom>
          <a:noFill/>
          <a:ln>
            <a:noFill/>
          </a:ln>
        </p:spPr>
        <p:txBody>
          <a:bodyPr anchorCtr="0" anchor="t" bIns="0" lIns="0" spcFirstLastPara="1" rIns="0" wrap="square" tIns="0">
            <a:noAutofit/>
          </a:bodyPr>
          <a:lstStyle/>
          <a:p>
            <a:pPr indent="-177292" lvl="0" marL="177292" marR="0" rtl="0" algn="l">
              <a:lnSpc>
                <a:spcPct val="150000"/>
              </a:lnSpc>
              <a:spcBef>
                <a:spcPts val="0"/>
              </a:spcBef>
              <a:spcAft>
                <a:spcPts val="0"/>
              </a:spcAft>
              <a:buClr>
                <a:srgbClr val="3C4043"/>
              </a:buClr>
              <a:buSzPts val="1600"/>
              <a:buFont typeface="Arial"/>
              <a:buChar char="•"/>
            </a:pPr>
            <a:r>
              <a:rPr b="0" i="0" lang="en-US" sz="1600" u="none" cap="none" strike="noStrike">
                <a:solidFill>
                  <a:srgbClr val="3C4043"/>
                </a:solidFill>
                <a:latin typeface="Arial"/>
                <a:ea typeface="Arial"/>
                <a:cs typeface="Arial"/>
                <a:sym typeface="Arial"/>
              </a:rPr>
              <a:t>Timers and delays</a:t>
            </a:r>
            <a:endParaRPr b="0" i="0" sz="1600" u="none" cap="none" strike="noStrike">
              <a:solidFill>
                <a:schemeClr val="dk1"/>
              </a:solidFill>
              <a:latin typeface="Arial"/>
              <a:ea typeface="Arial"/>
              <a:cs typeface="Arial"/>
              <a:sym typeface="Arial"/>
            </a:endParaRPr>
          </a:p>
          <a:p>
            <a:pPr indent="-177292" lvl="0" marL="177292" marR="0" rtl="0" algn="l">
              <a:lnSpc>
                <a:spcPct val="150000"/>
              </a:lnSpc>
              <a:spcBef>
                <a:spcPts val="0"/>
              </a:spcBef>
              <a:spcAft>
                <a:spcPts val="0"/>
              </a:spcAft>
              <a:buClr>
                <a:srgbClr val="3C4043"/>
              </a:buClr>
              <a:buSzPts val="1600"/>
              <a:buFont typeface="Arial"/>
              <a:buChar char="•"/>
            </a:pPr>
            <a:r>
              <a:rPr b="0" i="0" lang="en-US" sz="1600" u="none" cap="none" strike="noStrike">
                <a:solidFill>
                  <a:srgbClr val="3C4043"/>
                </a:solidFill>
                <a:latin typeface="Arial"/>
                <a:ea typeface="Arial"/>
                <a:cs typeface="Arial"/>
                <a:sym typeface="Arial"/>
              </a:rPr>
              <a:t>Clock-enable ticks: count to 99,999,999 at 100 MHz = 1 tick per second</a:t>
            </a:r>
            <a:endParaRPr b="0" i="0" sz="1600" u="none" cap="none" strike="noStrike">
              <a:solidFill>
                <a:schemeClr val="dk1"/>
              </a:solidFill>
              <a:latin typeface="Arial"/>
              <a:ea typeface="Arial"/>
              <a:cs typeface="Arial"/>
              <a:sym typeface="Arial"/>
            </a:endParaRPr>
          </a:p>
          <a:p>
            <a:pPr indent="-177292" lvl="0" marL="177292" marR="0" rtl="0" algn="l">
              <a:lnSpc>
                <a:spcPct val="150000"/>
              </a:lnSpc>
              <a:spcBef>
                <a:spcPts val="0"/>
              </a:spcBef>
              <a:spcAft>
                <a:spcPts val="0"/>
              </a:spcAft>
              <a:buClr>
                <a:srgbClr val="3C4043"/>
              </a:buClr>
              <a:buSzPts val="1600"/>
              <a:buFont typeface="Arial"/>
              <a:buChar char="•"/>
            </a:pPr>
            <a:r>
              <a:rPr b="0" i="0" lang="en-US" sz="1600" u="none" cap="none" strike="noStrike">
                <a:solidFill>
                  <a:srgbClr val="3C4043"/>
                </a:solidFill>
                <a:latin typeface="Arial"/>
                <a:ea typeface="Arial"/>
                <a:cs typeface="Arial"/>
                <a:sym typeface="Arial"/>
              </a:rPr>
              <a:t>Addresses, scoreboards, PWM</a:t>
            </a:r>
            <a:endParaRPr b="0" i="0" sz="1600" u="none" cap="none" strike="noStrike">
              <a:solidFill>
                <a:schemeClr val="dk1"/>
              </a:solidFill>
              <a:latin typeface="Arial"/>
              <a:ea typeface="Arial"/>
              <a:cs typeface="Arial"/>
              <a:sym typeface="Arial"/>
            </a:endParaRPr>
          </a:p>
        </p:txBody>
      </p:sp>
      <p:sp>
        <p:nvSpPr>
          <p:cNvPr id="418" name="Google Shape;418;p27"/>
          <p:cNvSpPr/>
          <p:nvPr/>
        </p:nvSpPr>
        <p:spPr>
          <a:xfrm>
            <a:off x="5969000" y="1739900"/>
            <a:ext cx="5410200" cy="3343473"/>
          </a:xfrm>
          <a:prstGeom prst="roundRect">
            <a:avLst>
              <a:gd fmla="val 4558" name="adj"/>
            </a:avLst>
          </a:prstGeom>
          <a:solidFill>
            <a:srgbClr val="2F3237"/>
          </a:solidFill>
          <a:ln>
            <a:noFill/>
          </a:ln>
        </p:spPr>
        <p:txBody>
          <a:bodyPr anchorCtr="0" anchor="t" bIns="183950" lIns="234750" spcFirstLastPara="1" rIns="89200" wrap="square" tIns="209350">
            <a:noAutofit/>
          </a:bodyPr>
          <a:lstStyle/>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logic [3:0] count;</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always_ff @(posedge clk) begin</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  if (rst)</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    count &lt;= 4'd0;</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  else if (en)</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    count &lt;= count + 1;</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end</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A9C4D6"/>
              </a:buClr>
              <a:buSzPts val="1400"/>
              <a:buFont typeface="Courier New"/>
              <a:buNone/>
            </a:pPr>
            <a:r>
              <a:rPr b="0" i="0" lang="en-US" sz="1400" u="none" cap="none" strike="noStrike">
                <a:solidFill>
                  <a:srgbClr val="A9C4D6"/>
                </a:solidFill>
                <a:latin typeface="Courier New"/>
                <a:ea typeface="Courier New"/>
                <a:cs typeface="Courier New"/>
                <a:sym typeface="Courier New"/>
              </a:rPr>
              <a:t>// reset + enable + adder</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A9C4D6"/>
              </a:buClr>
              <a:buSzPts val="1400"/>
              <a:buFont typeface="Courier New"/>
              <a:buNone/>
            </a:pPr>
            <a:r>
              <a:rPr b="0" i="0" lang="en-US" sz="1400" u="none" cap="none" strike="noStrike">
                <a:solidFill>
                  <a:srgbClr val="A9C4D6"/>
                </a:solidFill>
                <a:latin typeface="Courier New"/>
                <a:ea typeface="Courier New"/>
                <a:cs typeface="Courier New"/>
                <a:sym typeface="Courier New"/>
              </a:rPr>
              <a:t>// = everything so far</a:t>
            </a:r>
            <a:endParaRPr b="0" i="0" sz="1400" u="none" cap="none" strike="noStrike">
              <a:solidFill>
                <a:schemeClr val="dk1"/>
              </a:solidFill>
              <a:latin typeface="Arial"/>
              <a:ea typeface="Arial"/>
              <a:cs typeface="Arial"/>
              <a:sym typeface="Arial"/>
            </a:endParaRPr>
          </a:p>
        </p:txBody>
      </p:sp>
      <p:sp>
        <p:nvSpPr>
          <p:cNvPr id="419" name="Google Shape;419;p27"/>
          <p:cNvSpPr/>
          <p:nvPr/>
        </p:nvSpPr>
        <p:spPr>
          <a:xfrm>
            <a:off x="10566400" y="6238280"/>
            <a:ext cx="812800" cy="23872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3C4043"/>
              </a:buClr>
              <a:buSzPts val="1200"/>
              <a:buFont typeface="Arial"/>
              <a:buNone/>
            </a:pPr>
            <a:r>
              <a:rPr b="0" i="0" lang="en-US" sz="1200" u="none" cap="none" strike="noStrike">
                <a:solidFill>
                  <a:srgbClr val="3C4043"/>
                </a:solidFill>
                <a:latin typeface="Arial"/>
                <a:ea typeface="Arial"/>
                <a:cs typeface="Arial"/>
                <a:sym typeface="Arial"/>
              </a:rPr>
              <a:t>24</a:t>
            </a:r>
            <a:endParaRPr b="0" i="0" sz="1200" u="none" cap="none" strike="noStrike">
              <a:solidFill>
                <a:schemeClr val="dk1"/>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DF0DC"/>
        </a:solidFill>
      </p:bgPr>
    </p:bg>
    <p:spTree>
      <p:nvGrpSpPr>
        <p:cNvPr id="424" name="Shape 424"/>
        <p:cNvGrpSpPr/>
        <p:nvPr/>
      </p:nvGrpSpPr>
      <p:grpSpPr>
        <a:xfrm>
          <a:off x="0" y="0"/>
          <a:ext cx="0" cy="0"/>
          <a:chOff x="0" y="0"/>
          <a:chExt cx="0" cy="0"/>
        </a:xfrm>
      </p:grpSpPr>
      <p:sp>
        <p:nvSpPr>
          <p:cNvPr id="425" name="Google Shape;425;p28"/>
          <p:cNvSpPr/>
          <p:nvPr/>
        </p:nvSpPr>
        <p:spPr>
          <a:xfrm>
            <a:off x="114300" y="114300"/>
            <a:ext cx="5886450" cy="381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C4043"/>
              </a:buClr>
              <a:buSzPts val="2000"/>
              <a:buFont typeface="Arial"/>
              <a:buNone/>
            </a:pPr>
            <a:r>
              <a:rPr b="0" i="0" lang="en-US" sz="2000" u="none" cap="none" strike="noStrike">
                <a:solidFill>
                  <a:srgbClr val="3C4043"/>
                </a:solidFill>
                <a:latin typeface="Arial"/>
                <a:ea typeface="Arial"/>
                <a:cs typeface="Arial"/>
                <a:sym typeface="Arial"/>
              </a:rPr>
              <a:t>Sequential Logic</a:t>
            </a:r>
            <a:endParaRPr b="0" i="0" sz="2000" u="none" cap="none" strike="noStrike">
              <a:solidFill>
                <a:schemeClr val="dk1"/>
              </a:solidFill>
              <a:latin typeface="Arial"/>
              <a:ea typeface="Arial"/>
              <a:cs typeface="Arial"/>
              <a:sym typeface="Arial"/>
            </a:endParaRPr>
          </a:p>
        </p:txBody>
      </p:sp>
      <p:sp>
        <p:nvSpPr>
          <p:cNvPr id="426" name="Google Shape;426;p28"/>
          <p:cNvSpPr txBox="1"/>
          <p:nvPr>
            <p:ph type="title"/>
          </p:nvPr>
        </p:nvSpPr>
        <p:spPr>
          <a:xfrm>
            <a:off x="736600" y="762000"/>
            <a:ext cx="10961878" cy="5842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3C4043"/>
              </a:buClr>
              <a:buSzPts val="4000"/>
              <a:buFont typeface="Arial"/>
              <a:buNone/>
            </a:pPr>
            <a:r>
              <a:rPr b="0" i="0" lang="en-US" sz="4000">
                <a:solidFill>
                  <a:srgbClr val="3C4043"/>
                </a:solidFill>
                <a:latin typeface="Arial"/>
                <a:ea typeface="Arial"/>
                <a:cs typeface="Arial"/>
                <a:sym typeface="Arial"/>
              </a:rPr>
              <a:t>Shift Registers</a:t>
            </a:r>
            <a:endParaRPr sz="4000"/>
          </a:p>
        </p:txBody>
      </p:sp>
      <p:pic>
        <p:nvPicPr>
          <p:cNvPr descr="line" id="427" name="Google Shape;427;p28"/>
          <p:cNvPicPr preferRelativeResize="0"/>
          <p:nvPr/>
        </p:nvPicPr>
        <p:blipFill rotWithShape="1">
          <a:blip r:embed="rId3">
            <a:alphaModFix/>
          </a:blip>
          <a:srcRect b="0" l="0" r="0" t="0"/>
          <a:stretch/>
        </p:blipFill>
        <p:spPr>
          <a:xfrm>
            <a:off x="736600" y="1524000"/>
            <a:ext cx="10642600" cy="12700"/>
          </a:xfrm>
          <a:prstGeom prst="rect">
            <a:avLst/>
          </a:prstGeom>
          <a:noFill/>
          <a:ln>
            <a:noFill/>
          </a:ln>
        </p:spPr>
      </p:pic>
      <p:sp>
        <p:nvSpPr>
          <p:cNvPr id="428" name="Google Shape;428;p28"/>
          <p:cNvSpPr/>
          <p:nvPr/>
        </p:nvSpPr>
        <p:spPr>
          <a:xfrm>
            <a:off x="736600" y="1739900"/>
            <a:ext cx="4970780" cy="688314"/>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3C4043"/>
              </a:buClr>
              <a:buSzPts val="1800"/>
              <a:buFont typeface="Arial"/>
              <a:buNone/>
            </a:pPr>
            <a:r>
              <a:rPr b="0" i="0" lang="en-US" sz="1800" u="none" cap="none" strike="noStrike">
                <a:solidFill>
                  <a:srgbClr val="3C4043"/>
                </a:solidFill>
                <a:latin typeface="Arial"/>
                <a:ea typeface="Arial"/>
                <a:cs typeface="Arial"/>
                <a:sym typeface="Arial"/>
              </a:rPr>
              <a:t>Flip-flops in a chain: each edge, every bit moves one place and a new bit enters.</a:t>
            </a:r>
            <a:endParaRPr b="0" i="0" sz="1800" u="none" cap="none" strike="noStrike">
              <a:solidFill>
                <a:schemeClr val="dk1"/>
              </a:solidFill>
              <a:latin typeface="Arial"/>
              <a:ea typeface="Arial"/>
              <a:cs typeface="Arial"/>
              <a:sym typeface="Arial"/>
            </a:endParaRPr>
          </a:p>
        </p:txBody>
      </p:sp>
      <p:sp>
        <p:nvSpPr>
          <p:cNvPr id="429" name="Google Shape;429;p28"/>
          <p:cNvSpPr/>
          <p:nvPr/>
        </p:nvSpPr>
        <p:spPr>
          <a:xfrm>
            <a:off x="736600" y="2580618"/>
            <a:ext cx="4826000" cy="2489200"/>
          </a:xfrm>
          <a:prstGeom prst="rect">
            <a:avLst/>
          </a:prstGeom>
          <a:solidFill>
            <a:srgbClr val="FFF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aphicFrame>
        <p:nvGraphicFramePr>
          <p:cNvPr id="430" name="Google Shape;430;p28"/>
          <p:cNvGraphicFramePr/>
          <p:nvPr/>
        </p:nvGraphicFramePr>
        <p:xfrm>
          <a:off x="749300" y="2593318"/>
          <a:ext cx="3000000" cy="3000000"/>
        </p:xfrm>
        <a:graphic>
          <a:graphicData uri="http://schemas.openxmlformats.org/drawingml/2006/table">
            <a:tbl>
              <a:tblPr>
                <a:noFill/>
                <a:tableStyleId>{BA11AAC2-A7CE-4588-8191-665CEFB64C56}</a:tableStyleId>
              </a:tblPr>
              <a:tblGrid>
                <a:gridCol w="1444000"/>
                <a:gridCol w="1444000"/>
                <a:gridCol w="1925325"/>
              </a:tblGrid>
              <a:tr h="412750">
                <a:tc>
                  <a:txBody>
                    <a:bodyPr/>
                    <a:lstStyle/>
                    <a:p>
                      <a:pPr indent="0" lvl="0" marL="0" marR="0" rtl="0" algn="ctr">
                        <a:lnSpc>
                          <a:spcPct val="140000"/>
                        </a:lnSpc>
                        <a:spcBef>
                          <a:spcPts val="0"/>
                        </a:spcBef>
                        <a:spcAft>
                          <a:spcPts val="0"/>
                        </a:spcAft>
                        <a:buClr>
                          <a:srgbClr val="3C4043"/>
                        </a:buClr>
                        <a:buSzPts val="1500"/>
                        <a:buFont typeface="Arial"/>
                        <a:buNone/>
                      </a:pPr>
                      <a:r>
                        <a:rPr b="1" lang="en-US" sz="1500" u="none" cap="none" strike="noStrike">
                          <a:solidFill>
                            <a:srgbClr val="3C4043"/>
                          </a:solidFill>
                          <a:latin typeface="Arial"/>
                          <a:ea typeface="Arial"/>
                          <a:cs typeface="Arial"/>
                          <a:sym typeface="Arial"/>
                        </a:rPr>
                        <a:t>edge</a:t>
                      </a:r>
                      <a:endParaRPr sz="1500" u="none" cap="none" strike="noStrike">
                        <a:latin typeface="Arial"/>
                        <a:ea typeface="Arial"/>
                        <a:cs typeface="Arial"/>
                        <a:sym typeface="Arial"/>
                      </a:endParaRPr>
                    </a:p>
                  </a:txBody>
                  <a:tcPr marT="66675" marB="66675" marR="66675" marL="66675">
                    <a:lnL cap="flat" cmpd="sng" w="12700">
                      <a:solidFill>
                        <a:srgbClr val="CBC6BF"/>
                      </a:solidFill>
                      <a:prstDash val="solid"/>
                      <a:round/>
                      <a:headEnd len="sm" w="sm" type="none"/>
                      <a:tailEnd len="sm" w="sm" type="none"/>
                    </a:lnL>
                    <a:lnR cap="flat" cmpd="sng" w="12700">
                      <a:solidFill>
                        <a:srgbClr val="BCB8B1"/>
                      </a:solidFill>
                      <a:prstDash val="solid"/>
                      <a:round/>
                      <a:headEnd len="sm" w="sm" type="none"/>
                      <a:tailEnd len="sm" w="sm" type="none"/>
                    </a:lnR>
                    <a:lnT cap="flat" cmpd="sng" w="12700">
                      <a:solidFill>
                        <a:srgbClr val="CBC6BF"/>
                      </a:solidFill>
                      <a:prstDash val="solid"/>
                      <a:round/>
                      <a:headEnd len="sm" w="sm" type="none"/>
                      <a:tailEnd len="sm" w="sm" type="none"/>
                    </a:lnT>
                    <a:lnB cap="flat" cmpd="sng" w="12700">
                      <a:solidFill>
                        <a:srgbClr val="BCB8B1"/>
                      </a:solidFill>
                      <a:prstDash val="solid"/>
                      <a:round/>
                      <a:headEnd len="sm" w="sm" type="none"/>
                      <a:tailEnd len="sm" w="sm" type="none"/>
                    </a:lnB>
                    <a:solidFill>
                      <a:srgbClr val="ECE6DE"/>
                    </a:solidFill>
                  </a:tcPr>
                </a:tc>
                <a:tc>
                  <a:txBody>
                    <a:bodyPr/>
                    <a:lstStyle/>
                    <a:p>
                      <a:pPr indent="0" lvl="0" marL="0" marR="0" rtl="0" algn="ctr">
                        <a:lnSpc>
                          <a:spcPct val="140000"/>
                        </a:lnSpc>
                        <a:spcBef>
                          <a:spcPts val="0"/>
                        </a:spcBef>
                        <a:spcAft>
                          <a:spcPts val="0"/>
                        </a:spcAft>
                        <a:buClr>
                          <a:srgbClr val="3C4043"/>
                        </a:buClr>
                        <a:buSzPts val="1500"/>
                        <a:buFont typeface="Arial"/>
                        <a:buNone/>
                      </a:pPr>
                      <a:r>
                        <a:rPr b="1" lang="en-US" sz="1500" u="none" cap="none" strike="noStrike">
                          <a:solidFill>
                            <a:srgbClr val="3C4043"/>
                          </a:solidFill>
                          <a:latin typeface="Arial"/>
                          <a:ea typeface="Arial"/>
                          <a:cs typeface="Arial"/>
                          <a:sym typeface="Arial"/>
                        </a:rPr>
                        <a:t>din</a:t>
                      </a:r>
                      <a:endParaRPr sz="1500" u="none" cap="none" strike="noStrike">
                        <a:latin typeface="Arial"/>
                        <a:ea typeface="Arial"/>
                        <a:cs typeface="Arial"/>
                        <a:sym typeface="Arial"/>
                      </a:endParaRPr>
                    </a:p>
                  </a:txBody>
                  <a:tcPr marT="66675" marB="66675" marR="66675" marL="66675">
                    <a:lnL cap="flat" cmpd="sng" w="12700">
                      <a:solidFill>
                        <a:srgbClr val="BCB8B1"/>
                      </a:solidFill>
                      <a:prstDash val="solid"/>
                      <a:round/>
                      <a:headEnd len="sm" w="sm" type="none"/>
                      <a:tailEnd len="sm" w="sm" type="none"/>
                    </a:lnL>
                    <a:lnR cap="flat" cmpd="sng" w="12700">
                      <a:solidFill>
                        <a:srgbClr val="BCB8B1"/>
                      </a:solidFill>
                      <a:prstDash val="solid"/>
                      <a:round/>
                      <a:headEnd len="sm" w="sm" type="none"/>
                      <a:tailEnd len="sm" w="sm" type="none"/>
                    </a:lnR>
                    <a:lnT cap="flat" cmpd="sng" w="12700">
                      <a:solidFill>
                        <a:srgbClr val="CBC6BF"/>
                      </a:solidFill>
                      <a:prstDash val="solid"/>
                      <a:round/>
                      <a:headEnd len="sm" w="sm" type="none"/>
                      <a:tailEnd len="sm" w="sm" type="none"/>
                    </a:lnT>
                    <a:lnB cap="flat" cmpd="sng" w="12700">
                      <a:solidFill>
                        <a:srgbClr val="BCB8B1"/>
                      </a:solidFill>
                      <a:prstDash val="solid"/>
                      <a:round/>
                      <a:headEnd len="sm" w="sm" type="none"/>
                      <a:tailEnd len="sm" w="sm" type="none"/>
                    </a:lnB>
                    <a:solidFill>
                      <a:srgbClr val="ECE6DE"/>
                    </a:solidFill>
                  </a:tcPr>
                </a:tc>
                <a:tc>
                  <a:txBody>
                    <a:bodyPr/>
                    <a:lstStyle/>
                    <a:p>
                      <a:pPr indent="0" lvl="0" marL="0" marR="0" rtl="0" algn="ctr">
                        <a:lnSpc>
                          <a:spcPct val="140000"/>
                        </a:lnSpc>
                        <a:spcBef>
                          <a:spcPts val="0"/>
                        </a:spcBef>
                        <a:spcAft>
                          <a:spcPts val="0"/>
                        </a:spcAft>
                        <a:buClr>
                          <a:srgbClr val="3C4043"/>
                        </a:buClr>
                        <a:buSzPts val="1500"/>
                        <a:buFont typeface="Arial"/>
                        <a:buNone/>
                      </a:pPr>
                      <a:r>
                        <a:rPr b="1" lang="en-US" sz="1500" u="none" cap="none" strike="noStrike">
                          <a:solidFill>
                            <a:srgbClr val="3C4043"/>
                          </a:solidFill>
                          <a:latin typeface="Arial"/>
                          <a:ea typeface="Arial"/>
                          <a:cs typeface="Arial"/>
                          <a:sym typeface="Arial"/>
                        </a:rPr>
                        <a:t>sr[3:0]</a:t>
                      </a:r>
                      <a:endParaRPr sz="1500" u="none" cap="none" strike="noStrike">
                        <a:latin typeface="Arial"/>
                        <a:ea typeface="Arial"/>
                        <a:cs typeface="Arial"/>
                        <a:sym typeface="Arial"/>
                      </a:endParaRPr>
                    </a:p>
                  </a:txBody>
                  <a:tcPr marT="66675" marB="66675" marR="66675" marL="66675">
                    <a:lnL cap="flat" cmpd="sng" w="12700">
                      <a:solidFill>
                        <a:srgbClr val="BCB8B1"/>
                      </a:solidFill>
                      <a:prstDash val="solid"/>
                      <a:round/>
                      <a:headEnd len="sm" w="sm" type="none"/>
                      <a:tailEnd len="sm" w="sm" type="none"/>
                    </a:lnL>
                    <a:lnR cap="flat" cmpd="sng" w="12700">
                      <a:solidFill>
                        <a:srgbClr val="BCB8B1"/>
                      </a:solidFill>
                      <a:prstDash val="solid"/>
                      <a:round/>
                      <a:headEnd len="sm" w="sm" type="none"/>
                      <a:tailEnd len="sm" w="sm" type="none"/>
                    </a:lnR>
                    <a:lnT cap="flat" cmpd="sng" w="12700">
                      <a:solidFill>
                        <a:srgbClr val="CBC6BF"/>
                      </a:solidFill>
                      <a:prstDash val="solid"/>
                      <a:round/>
                      <a:headEnd len="sm" w="sm" type="none"/>
                      <a:tailEnd len="sm" w="sm" type="none"/>
                    </a:lnT>
                    <a:lnB cap="flat" cmpd="sng" w="12700">
                      <a:solidFill>
                        <a:srgbClr val="BCB8B1"/>
                      </a:solidFill>
                      <a:prstDash val="solid"/>
                      <a:round/>
                      <a:headEnd len="sm" w="sm" type="none"/>
                      <a:tailEnd len="sm" w="sm" type="none"/>
                    </a:lnB>
                    <a:solidFill>
                      <a:srgbClr val="ECE6DE"/>
                    </a:solidFill>
                  </a:tcPr>
                </a:tc>
              </a:tr>
              <a:tr h="412750">
                <a:tc>
                  <a:txBody>
                    <a:bodyPr/>
                    <a:lstStyle/>
                    <a:p>
                      <a:pPr indent="0" lvl="0" marL="0" marR="0" rtl="0" algn="ctr">
                        <a:lnSpc>
                          <a:spcPct val="140000"/>
                        </a:lnSpc>
                        <a:spcBef>
                          <a:spcPts val="0"/>
                        </a:spcBef>
                        <a:spcAft>
                          <a:spcPts val="0"/>
                        </a:spcAft>
                        <a:buClr>
                          <a:srgbClr val="3C4043"/>
                        </a:buClr>
                        <a:buSzPts val="1500"/>
                        <a:buFont typeface="Arial"/>
                        <a:buNone/>
                      </a:pPr>
                      <a:r>
                        <a:rPr lang="en-US" sz="1500" u="none" cap="none" strike="noStrike">
                          <a:solidFill>
                            <a:srgbClr val="3C4043"/>
                          </a:solidFill>
                          <a:latin typeface="Arial"/>
                          <a:ea typeface="Arial"/>
                          <a:cs typeface="Arial"/>
                          <a:sym typeface="Arial"/>
                        </a:rPr>
                        <a:t>start</a:t>
                      </a:r>
                      <a:endParaRPr sz="1500" u="none" cap="none" strike="noStrike">
                        <a:latin typeface="Arial"/>
                        <a:ea typeface="Arial"/>
                        <a:cs typeface="Arial"/>
                        <a:sym typeface="Arial"/>
                      </a:endParaRPr>
                    </a:p>
                  </a:txBody>
                  <a:tcPr marT="66675" marB="66675" marR="66675" marL="66675">
                    <a:lnL cap="flat" cmpd="sng" w="12700">
                      <a:solidFill>
                        <a:srgbClr val="CBC6BF"/>
                      </a:solidFill>
                      <a:prstDash val="solid"/>
                      <a:round/>
                      <a:headEnd len="sm" w="sm" type="none"/>
                      <a:tailEnd len="sm" w="sm" type="none"/>
                    </a:lnL>
                    <a:lnR cap="flat" cmpd="sng" w="12700">
                      <a:solidFill>
                        <a:srgbClr val="CBC6BF"/>
                      </a:solidFill>
                      <a:prstDash val="solid"/>
                      <a:round/>
                      <a:headEnd len="sm" w="sm" type="none"/>
                      <a:tailEnd len="sm" w="sm" type="none"/>
                    </a:lnR>
                    <a:lnT cap="flat" cmpd="sng" w="12700">
                      <a:solidFill>
                        <a:srgbClr val="BCB8B1"/>
                      </a:solidFill>
                      <a:prstDash val="solid"/>
                      <a:round/>
                      <a:headEnd len="sm" w="sm" type="none"/>
                      <a:tailEnd len="sm" w="sm" type="none"/>
                    </a:lnT>
                    <a:lnB cap="flat" cmpd="sng" w="12700">
                      <a:solidFill>
                        <a:srgbClr val="CBC6BF"/>
                      </a:solidFill>
                      <a:prstDash val="solid"/>
                      <a:round/>
                      <a:headEnd len="sm" w="sm" type="none"/>
                      <a:tailEnd len="sm" w="sm" type="none"/>
                    </a:lnB>
                  </a:tcPr>
                </a:tc>
                <a:tc>
                  <a:txBody>
                    <a:bodyPr/>
                    <a:lstStyle/>
                    <a:p>
                      <a:pPr indent="0" lvl="0" marL="0" marR="0" rtl="0" algn="ctr">
                        <a:lnSpc>
                          <a:spcPct val="140000"/>
                        </a:lnSpc>
                        <a:spcBef>
                          <a:spcPts val="0"/>
                        </a:spcBef>
                        <a:spcAft>
                          <a:spcPts val="0"/>
                        </a:spcAft>
                        <a:buClr>
                          <a:srgbClr val="3C4043"/>
                        </a:buClr>
                        <a:buSzPts val="1500"/>
                        <a:buFont typeface="Arial"/>
                        <a:buNone/>
                      </a:pPr>
                      <a:r>
                        <a:rPr lang="en-US" sz="1500" u="none" cap="none" strike="noStrike">
                          <a:solidFill>
                            <a:srgbClr val="3C4043"/>
                          </a:solidFill>
                          <a:latin typeface="Arial"/>
                          <a:ea typeface="Arial"/>
                          <a:cs typeface="Arial"/>
                          <a:sym typeface="Arial"/>
                        </a:rPr>
                        <a:t>–</a:t>
                      </a:r>
                      <a:endParaRPr sz="1500" u="none" cap="none" strike="noStrike">
                        <a:latin typeface="Arial"/>
                        <a:ea typeface="Arial"/>
                        <a:cs typeface="Arial"/>
                        <a:sym typeface="Arial"/>
                      </a:endParaRPr>
                    </a:p>
                  </a:txBody>
                  <a:tcPr marT="66675" marB="66675" marR="66675" marL="66675">
                    <a:lnL cap="flat" cmpd="sng" w="12700">
                      <a:solidFill>
                        <a:srgbClr val="CBC6BF"/>
                      </a:solidFill>
                      <a:prstDash val="solid"/>
                      <a:round/>
                      <a:headEnd len="sm" w="sm" type="none"/>
                      <a:tailEnd len="sm" w="sm" type="none"/>
                    </a:lnL>
                    <a:lnR cap="flat" cmpd="sng" w="12700">
                      <a:solidFill>
                        <a:srgbClr val="CBC6BF"/>
                      </a:solidFill>
                      <a:prstDash val="solid"/>
                      <a:round/>
                      <a:headEnd len="sm" w="sm" type="none"/>
                      <a:tailEnd len="sm" w="sm" type="none"/>
                    </a:lnR>
                    <a:lnT cap="flat" cmpd="sng" w="12700">
                      <a:solidFill>
                        <a:srgbClr val="BCB8B1"/>
                      </a:solidFill>
                      <a:prstDash val="solid"/>
                      <a:round/>
                      <a:headEnd len="sm" w="sm" type="none"/>
                      <a:tailEnd len="sm" w="sm" type="none"/>
                    </a:lnT>
                    <a:lnB cap="flat" cmpd="sng" w="12700">
                      <a:solidFill>
                        <a:srgbClr val="CBC6BF"/>
                      </a:solidFill>
                      <a:prstDash val="solid"/>
                      <a:round/>
                      <a:headEnd len="sm" w="sm" type="none"/>
                      <a:tailEnd len="sm" w="sm" type="none"/>
                    </a:lnB>
                  </a:tcPr>
                </a:tc>
                <a:tc>
                  <a:txBody>
                    <a:bodyPr/>
                    <a:lstStyle/>
                    <a:p>
                      <a:pPr indent="0" lvl="0" marL="0" marR="0" rtl="0" algn="ctr">
                        <a:lnSpc>
                          <a:spcPct val="140000"/>
                        </a:lnSpc>
                        <a:spcBef>
                          <a:spcPts val="0"/>
                        </a:spcBef>
                        <a:spcAft>
                          <a:spcPts val="0"/>
                        </a:spcAft>
                        <a:buClr>
                          <a:srgbClr val="3C4043"/>
                        </a:buClr>
                        <a:buSzPts val="1500"/>
                        <a:buFont typeface="Arial"/>
                        <a:buNone/>
                      </a:pPr>
                      <a:r>
                        <a:rPr lang="en-US" sz="1500" u="none" cap="none" strike="noStrike">
                          <a:solidFill>
                            <a:srgbClr val="3C4043"/>
                          </a:solidFill>
                          <a:latin typeface="Arial"/>
                          <a:ea typeface="Arial"/>
                          <a:cs typeface="Arial"/>
                          <a:sym typeface="Arial"/>
                        </a:rPr>
                        <a:t>0000</a:t>
                      </a:r>
                      <a:endParaRPr sz="1500" u="none" cap="none" strike="noStrike">
                        <a:latin typeface="Arial"/>
                        <a:ea typeface="Arial"/>
                        <a:cs typeface="Arial"/>
                        <a:sym typeface="Arial"/>
                      </a:endParaRPr>
                    </a:p>
                  </a:txBody>
                  <a:tcPr marT="66675" marB="66675" marR="66675" marL="66675">
                    <a:lnL cap="flat" cmpd="sng" w="12700">
                      <a:solidFill>
                        <a:srgbClr val="CBC6BF"/>
                      </a:solidFill>
                      <a:prstDash val="solid"/>
                      <a:round/>
                      <a:headEnd len="sm" w="sm" type="none"/>
                      <a:tailEnd len="sm" w="sm" type="none"/>
                    </a:lnL>
                    <a:lnR cap="flat" cmpd="sng" w="12700">
                      <a:solidFill>
                        <a:srgbClr val="CBC6BF"/>
                      </a:solidFill>
                      <a:prstDash val="solid"/>
                      <a:round/>
                      <a:headEnd len="sm" w="sm" type="none"/>
                      <a:tailEnd len="sm" w="sm" type="none"/>
                    </a:lnR>
                    <a:lnT cap="flat" cmpd="sng" w="12700">
                      <a:solidFill>
                        <a:srgbClr val="BCB8B1"/>
                      </a:solidFill>
                      <a:prstDash val="solid"/>
                      <a:round/>
                      <a:headEnd len="sm" w="sm" type="none"/>
                      <a:tailEnd len="sm" w="sm" type="none"/>
                    </a:lnT>
                    <a:lnB cap="flat" cmpd="sng" w="12700">
                      <a:solidFill>
                        <a:srgbClr val="CBC6BF"/>
                      </a:solidFill>
                      <a:prstDash val="solid"/>
                      <a:round/>
                      <a:headEnd len="sm" w="sm" type="none"/>
                      <a:tailEnd len="sm" w="sm" type="none"/>
                    </a:lnB>
                  </a:tcPr>
                </a:tc>
              </a:tr>
              <a:tr h="412750">
                <a:tc>
                  <a:txBody>
                    <a:bodyPr/>
                    <a:lstStyle/>
                    <a:p>
                      <a:pPr indent="0" lvl="0" marL="0" marR="0" rtl="0" algn="ctr">
                        <a:lnSpc>
                          <a:spcPct val="140000"/>
                        </a:lnSpc>
                        <a:spcBef>
                          <a:spcPts val="0"/>
                        </a:spcBef>
                        <a:spcAft>
                          <a:spcPts val="0"/>
                        </a:spcAft>
                        <a:buClr>
                          <a:srgbClr val="3C4043"/>
                        </a:buClr>
                        <a:buSzPts val="1500"/>
                        <a:buFont typeface="Arial"/>
                        <a:buNone/>
                      </a:pPr>
                      <a:r>
                        <a:rPr lang="en-US" sz="1500" u="none" cap="none" strike="noStrike">
                          <a:solidFill>
                            <a:srgbClr val="3C4043"/>
                          </a:solidFill>
                          <a:latin typeface="Arial"/>
                          <a:ea typeface="Arial"/>
                          <a:cs typeface="Arial"/>
                          <a:sym typeface="Arial"/>
                        </a:rPr>
                        <a:t>1</a:t>
                      </a:r>
                      <a:endParaRPr sz="1500" u="none" cap="none" strike="noStrike">
                        <a:latin typeface="Arial"/>
                        <a:ea typeface="Arial"/>
                        <a:cs typeface="Arial"/>
                        <a:sym typeface="Arial"/>
                      </a:endParaRPr>
                    </a:p>
                  </a:txBody>
                  <a:tcPr marT="66675" marB="66675" marR="66675" marL="66675">
                    <a:lnL cap="flat" cmpd="sng" w="12700">
                      <a:solidFill>
                        <a:srgbClr val="CBC6BF"/>
                      </a:solidFill>
                      <a:prstDash val="solid"/>
                      <a:round/>
                      <a:headEnd len="sm" w="sm" type="none"/>
                      <a:tailEnd len="sm" w="sm" type="none"/>
                    </a:lnL>
                    <a:lnR cap="flat" cmpd="sng" w="12700">
                      <a:solidFill>
                        <a:srgbClr val="CBC6BF"/>
                      </a:solidFill>
                      <a:prstDash val="solid"/>
                      <a:round/>
                      <a:headEnd len="sm" w="sm" type="none"/>
                      <a:tailEnd len="sm" w="sm" type="none"/>
                    </a:lnR>
                    <a:lnT cap="flat" cmpd="sng" w="12700">
                      <a:solidFill>
                        <a:srgbClr val="CBC6BF"/>
                      </a:solidFill>
                      <a:prstDash val="solid"/>
                      <a:round/>
                      <a:headEnd len="sm" w="sm" type="none"/>
                      <a:tailEnd len="sm" w="sm" type="none"/>
                    </a:lnT>
                    <a:lnB cap="flat" cmpd="sng" w="12700">
                      <a:solidFill>
                        <a:srgbClr val="CBC6BF"/>
                      </a:solidFill>
                      <a:prstDash val="solid"/>
                      <a:round/>
                      <a:headEnd len="sm" w="sm" type="none"/>
                      <a:tailEnd len="sm" w="sm" type="none"/>
                    </a:lnB>
                  </a:tcPr>
                </a:tc>
                <a:tc>
                  <a:txBody>
                    <a:bodyPr/>
                    <a:lstStyle/>
                    <a:p>
                      <a:pPr indent="0" lvl="0" marL="0" marR="0" rtl="0" algn="ctr">
                        <a:lnSpc>
                          <a:spcPct val="140000"/>
                        </a:lnSpc>
                        <a:spcBef>
                          <a:spcPts val="0"/>
                        </a:spcBef>
                        <a:spcAft>
                          <a:spcPts val="0"/>
                        </a:spcAft>
                        <a:buClr>
                          <a:srgbClr val="3C4043"/>
                        </a:buClr>
                        <a:buSzPts val="1500"/>
                        <a:buFont typeface="Arial"/>
                        <a:buNone/>
                      </a:pPr>
                      <a:r>
                        <a:rPr lang="en-US" sz="1500" u="none" cap="none" strike="noStrike">
                          <a:solidFill>
                            <a:srgbClr val="3C4043"/>
                          </a:solidFill>
                          <a:latin typeface="Arial"/>
                          <a:ea typeface="Arial"/>
                          <a:cs typeface="Arial"/>
                          <a:sym typeface="Arial"/>
                        </a:rPr>
                        <a:t>1</a:t>
                      </a:r>
                      <a:endParaRPr sz="1500" u="none" cap="none" strike="noStrike">
                        <a:latin typeface="Arial"/>
                        <a:ea typeface="Arial"/>
                        <a:cs typeface="Arial"/>
                        <a:sym typeface="Arial"/>
                      </a:endParaRPr>
                    </a:p>
                  </a:txBody>
                  <a:tcPr marT="66675" marB="66675" marR="66675" marL="66675">
                    <a:lnL cap="flat" cmpd="sng" w="12700">
                      <a:solidFill>
                        <a:srgbClr val="CBC6BF"/>
                      </a:solidFill>
                      <a:prstDash val="solid"/>
                      <a:round/>
                      <a:headEnd len="sm" w="sm" type="none"/>
                      <a:tailEnd len="sm" w="sm" type="none"/>
                    </a:lnL>
                    <a:lnR cap="flat" cmpd="sng" w="12700">
                      <a:solidFill>
                        <a:srgbClr val="CBC6BF"/>
                      </a:solidFill>
                      <a:prstDash val="solid"/>
                      <a:round/>
                      <a:headEnd len="sm" w="sm" type="none"/>
                      <a:tailEnd len="sm" w="sm" type="none"/>
                    </a:lnR>
                    <a:lnT cap="flat" cmpd="sng" w="12700">
                      <a:solidFill>
                        <a:srgbClr val="CBC6BF"/>
                      </a:solidFill>
                      <a:prstDash val="solid"/>
                      <a:round/>
                      <a:headEnd len="sm" w="sm" type="none"/>
                      <a:tailEnd len="sm" w="sm" type="none"/>
                    </a:lnT>
                    <a:lnB cap="flat" cmpd="sng" w="12700">
                      <a:solidFill>
                        <a:srgbClr val="CBC6BF"/>
                      </a:solidFill>
                      <a:prstDash val="solid"/>
                      <a:round/>
                      <a:headEnd len="sm" w="sm" type="none"/>
                      <a:tailEnd len="sm" w="sm" type="none"/>
                    </a:lnB>
                  </a:tcPr>
                </a:tc>
                <a:tc>
                  <a:txBody>
                    <a:bodyPr/>
                    <a:lstStyle/>
                    <a:p>
                      <a:pPr indent="0" lvl="0" marL="0" marR="0" rtl="0" algn="ctr">
                        <a:lnSpc>
                          <a:spcPct val="140000"/>
                        </a:lnSpc>
                        <a:spcBef>
                          <a:spcPts val="0"/>
                        </a:spcBef>
                        <a:spcAft>
                          <a:spcPts val="0"/>
                        </a:spcAft>
                        <a:buClr>
                          <a:srgbClr val="3C4043"/>
                        </a:buClr>
                        <a:buSzPts val="1500"/>
                        <a:buFont typeface="Arial"/>
                        <a:buNone/>
                      </a:pPr>
                      <a:r>
                        <a:rPr lang="en-US" sz="1500" u="none" cap="none" strike="noStrike">
                          <a:solidFill>
                            <a:srgbClr val="3C4043"/>
                          </a:solidFill>
                          <a:latin typeface="Arial"/>
                          <a:ea typeface="Arial"/>
                          <a:cs typeface="Arial"/>
                          <a:sym typeface="Arial"/>
                        </a:rPr>
                        <a:t>0001</a:t>
                      </a:r>
                      <a:endParaRPr sz="1500" u="none" cap="none" strike="noStrike">
                        <a:latin typeface="Arial"/>
                        <a:ea typeface="Arial"/>
                        <a:cs typeface="Arial"/>
                        <a:sym typeface="Arial"/>
                      </a:endParaRPr>
                    </a:p>
                  </a:txBody>
                  <a:tcPr marT="66675" marB="66675" marR="66675" marL="66675">
                    <a:lnL cap="flat" cmpd="sng" w="12700">
                      <a:solidFill>
                        <a:srgbClr val="CBC6BF"/>
                      </a:solidFill>
                      <a:prstDash val="solid"/>
                      <a:round/>
                      <a:headEnd len="sm" w="sm" type="none"/>
                      <a:tailEnd len="sm" w="sm" type="none"/>
                    </a:lnL>
                    <a:lnR cap="flat" cmpd="sng" w="12700">
                      <a:solidFill>
                        <a:srgbClr val="CBC6BF"/>
                      </a:solidFill>
                      <a:prstDash val="solid"/>
                      <a:round/>
                      <a:headEnd len="sm" w="sm" type="none"/>
                      <a:tailEnd len="sm" w="sm" type="none"/>
                    </a:lnR>
                    <a:lnT cap="flat" cmpd="sng" w="12700">
                      <a:solidFill>
                        <a:srgbClr val="CBC6BF"/>
                      </a:solidFill>
                      <a:prstDash val="solid"/>
                      <a:round/>
                      <a:headEnd len="sm" w="sm" type="none"/>
                      <a:tailEnd len="sm" w="sm" type="none"/>
                    </a:lnT>
                    <a:lnB cap="flat" cmpd="sng" w="12700">
                      <a:solidFill>
                        <a:srgbClr val="CBC6BF"/>
                      </a:solidFill>
                      <a:prstDash val="solid"/>
                      <a:round/>
                      <a:headEnd len="sm" w="sm" type="none"/>
                      <a:tailEnd len="sm" w="sm" type="none"/>
                    </a:lnB>
                  </a:tcPr>
                </a:tc>
              </a:tr>
              <a:tr h="412750">
                <a:tc>
                  <a:txBody>
                    <a:bodyPr/>
                    <a:lstStyle/>
                    <a:p>
                      <a:pPr indent="0" lvl="0" marL="0" marR="0" rtl="0" algn="ctr">
                        <a:lnSpc>
                          <a:spcPct val="140000"/>
                        </a:lnSpc>
                        <a:spcBef>
                          <a:spcPts val="0"/>
                        </a:spcBef>
                        <a:spcAft>
                          <a:spcPts val="0"/>
                        </a:spcAft>
                        <a:buClr>
                          <a:srgbClr val="3C4043"/>
                        </a:buClr>
                        <a:buSzPts val="1500"/>
                        <a:buFont typeface="Arial"/>
                        <a:buNone/>
                      </a:pPr>
                      <a:r>
                        <a:rPr lang="en-US" sz="1500" u="none" cap="none" strike="noStrike">
                          <a:solidFill>
                            <a:srgbClr val="3C4043"/>
                          </a:solidFill>
                          <a:latin typeface="Arial"/>
                          <a:ea typeface="Arial"/>
                          <a:cs typeface="Arial"/>
                          <a:sym typeface="Arial"/>
                        </a:rPr>
                        <a:t>2</a:t>
                      </a:r>
                      <a:endParaRPr sz="1500" u="none" cap="none" strike="noStrike">
                        <a:latin typeface="Arial"/>
                        <a:ea typeface="Arial"/>
                        <a:cs typeface="Arial"/>
                        <a:sym typeface="Arial"/>
                      </a:endParaRPr>
                    </a:p>
                  </a:txBody>
                  <a:tcPr marT="66675" marB="66675" marR="66675" marL="66675">
                    <a:lnL cap="flat" cmpd="sng" w="12700">
                      <a:solidFill>
                        <a:srgbClr val="CBC6BF"/>
                      </a:solidFill>
                      <a:prstDash val="solid"/>
                      <a:round/>
                      <a:headEnd len="sm" w="sm" type="none"/>
                      <a:tailEnd len="sm" w="sm" type="none"/>
                    </a:lnL>
                    <a:lnR cap="flat" cmpd="sng" w="12700">
                      <a:solidFill>
                        <a:srgbClr val="CBC6BF"/>
                      </a:solidFill>
                      <a:prstDash val="solid"/>
                      <a:round/>
                      <a:headEnd len="sm" w="sm" type="none"/>
                      <a:tailEnd len="sm" w="sm" type="none"/>
                    </a:lnR>
                    <a:lnT cap="flat" cmpd="sng" w="12700">
                      <a:solidFill>
                        <a:srgbClr val="CBC6BF"/>
                      </a:solidFill>
                      <a:prstDash val="solid"/>
                      <a:round/>
                      <a:headEnd len="sm" w="sm" type="none"/>
                      <a:tailEnd len="sm" w="sm" type="none"/>
                    </a:lnT>
                    <a:lnB cap="flat" cmpd="sng" w="12700">
                      <a:solidFill>
                        <a:srgbClr val="CBC6BF"/>
                      </a:solidFill>
                      <a:prstDash val="solid"/>
                      <a:round/>
                      <a:headEnd len="sm" w="sm" type="none"/>
                      <a:tailEnd len="sm" w="sm" type="none"/>
                    </a:lnB>
                  </a:tcPr>
                </a:tc>
                <a:tc>
                  <a:txBody>
                    <a:bodyPr/>
                    <a:lstStyle/>
                    <a:p>
                      <a:pPr indent="0" lvl="0" marL="0" marR="0" rtl="0" algn="ctr">
                        <a:lnSpc>
                          <a:spcPct val="140000"/>
                        </a:lnSpc>
                        <a:spcBef>
                          <a:spcPts val="0"/>
                        </a:spcBef>
                        <a:spcAft>
                          <a:spcPts val="0"/>
                        </a:spcAft>
                        <a:buClr>
                          <a:srgbClr val="3C4043"/>
                        </a:buClr>
                        <a:buSzPts val="1500"/>
                        <a:buFont typeface="Arial"/>
                        <a:buNone/>
                      </a:pPr>
                      <a:r>
                        <a:rPr lang="en-US" sz="1500" u="none" cap="none" strike="noStrike">
                          <a:solidFill>
                            <a:srgbClr val="3C4043"/>
                          </a:solidFill>
                          <a:latin typeface="Arial"/>
                          <a:ea typeface="Arial"/>
                          <a:cs typeface="Arial"/>
                          <a:sym typeface="Arial"/>
                        </a:rPr>
                        <a:t>0</a:t>
                      </a:r>
                      <a:endParaRPr sz="1500" u="none" cap="none" strike="noStrike">
                        <a:latin typeface="Arial"/>
                        <a:ea typeface="Arial"/>
                        <a:cs typeface="Arial"/>
                        <a:sym typeface="Arial"/>
                      </a:endParaRPr>
                    </a:p>
                  </a:txBody>
                  <a:tcPr marT="66675" marB="66675" marR="66675" marL="66675">
                    <a:lnL cap="flat" cmpd="sng" w="12700">
                      <a:solidFill>
                        <a:srgbClr val="CBC6BF"/>
                      </a:solidFill>
                      <a:prstDash val="solid"/>
                      <a:round/>
                      <a:headEnd len="sm" w="sm" type="none"/>
                      <a:tailEnd len="sm" w="sm" type="none"/>
                    </a:lnL>
                    <a:lnR cap="flat" cmpd="sng" w="12700">
                      <a:solidFill>
                        <a:srgbClr val="CBC6BF"/>
                      </a:solidFill>
                      <a:prstDash val="solid"/>
                      <a:round/>
                      <a:headEnd len="sm" w="sm" type="none"/>
                      <a:tailEnd len="sm" w="sm" type="none"/>
                    </a:lnR>
                    <a:lnT cap="flat" cmpd="sng" w="12700">
                      <a:solidFill>
                        <a:srgbClr val="CBC6BF"/>
                      </a:solidFill>
                      <a:prstDash val="solid"/>
                      <a:round/>
                      <a:headEnd len="sm" w="sm" type="none"/>
                      <a:tailEnd len="sm" w="sm" type="none"/>
                    </a:lnT>
                    <a:lnB cap="flat" cmpd="sng" w="12700">
                      <a:solidFill>
                        <a:srgbClr val="CBC6BF"/>
                      </a:solidFill>
                      <a:prstDash val="solid"/>
                      <a:round/>
                      <a:headEnd len="sm" w="sm" type="none"/>
                      <a:tailEnd len="sm" w="sm" type="none"/>
                    </a:lnB>
                  </a:tcPr>
                </a:tc>
                <a:tc>
                  <a:txBody>
                    <a:bodyPr/>
                    <a:lstStyle/>
                    <a:p>
                      <a:pPr indent="0" lvl="0" marL="0" marR="0" rtl="0" algn="ctr">
                        <a:lnSpc>
                          <a:spcPct val="140000"/>
                        </a:lnSpc>
                        <a:spcBef>
                          <a:spcPts val="0"/>
                        </a:spcBef>
                        <a:spcAft>
                          <a:spcPts val="0"/>
                        </a:spcAft>
                        <a:buClr>
                          <a:srgbClr val="3C4043"/>
                        </a:buClr>
                        <a:buSzPts val="1500"/>
                        <a:buFont typeface="Arial"/>
                        <a:buNone/>
                      </a:pPr>
                      <a:r>
                        <a:rPr lang="en-US" sz="1500" u="none" cap="none" strike="noStrike">
                          <a:solidFill>
                            <a:srgbClr val="3C4043"/>
                          </a:solidFill>
                          <a:latin typeface="Arial"/>
                          <a:ea typeface="Arial"/>
                          <a:cs typeface="Arial"/>
                          <a:sym typeface="Arial"/>
                        </a:rPr>
                        <a:t>0010</a:t>
                      </a:r>
                      <a:endParaRPr sz="1500" u="none" cap="none" strike="noStrike">
                        <a:latin typeface="Arial"/>
                        <a:ea typeface="Arial"/>
                        <a:cs typeface="Arial"/>
                        <a:sym typeface="Arial"/>
                      </a:endParaRPr>
                    </a:p>
                  </a:txBody>
                  <a:tcPr marT="66675" marB="66675" marR="66675" marL="66675">
                    <a:lnL cap="flat" cmpd="sng" w="12700">
                      <a:solidFill>
                        <a:srgbClr val="CBC6BF"/>
                      </a:solidFill>
                      <a:prstDash val="solid"/>
                      <a:round/>
                      <a:headEnd len="sm" w="sm" type="none"/>
                      <a:tailEnd len="sm" w="sm" type="none"/>
                    </a:lnL>
                    <a:lnR cap="flat" cmpd="sng" w="12700">
                      <a:solidFill>
                        <a:srgbClr val="CBC6BF"/>
                      </a:solidFill>
                      <a:prstDash val="solid"/>
                      <a:round/>
                      <a:headEnd len="sm" w="sm" type="none"/>
                      <a:tailEnd len="sm" w="sm" type="none"/>
                    </a:lnR>
                    <a:lnT cap="flat" cmpd="sng" w="12700">
                      <a:solidFill>
                        <a:srgbClr val="CBC6BF"/>
                      </a:solidFill>
                      <a:prstDash val="solid"/>
                      <a:round/>
                      <a:headEnd len="sm" w="sm" type="none"/>
                      <a:tailEnd len="sm" w="sm" type="none"/>
                    </a:lnT>
                    <a:lnB cap="flat" cmpd="sng" w="12700">
                      <a:solidFill>
                        <a:srgbClr val="CBC6BF"/>
                      </a:solidFill>
                      <a:prstDash val="solid"/>
                      <a:round/>
                      <a:headEnd len="sm" w="sm" type="none"/>
                      <a:tailEnd len="sm" w="sm" type="none"/>
                    </a:lnB>
                  </a:tcPr>
                </a:tc>
              </a:tr>
              <a:tr h="412750">
                <a:tc>
                  <a:txBody>
                    <a:bodyPr/>
                    <a:lstStyle/>
                    <a:p>
                      <a:pPr indent="0" lvl="0" marL="0" marR="0" rtl="0" algn="ctr">
                        <a:lnSpc>
                          <a:spcPct val="140000"/>
                        </a:lnSpc>
                        <a:spcBef>
                          <a:spcPts val="0"/>
                        </a:spcBef>
                        <a:spcAft>
                          <a:spcPts val="0"/>
                        </a:spcAft>
                        <a:buClr>
                          <a:srgbClr val="3C4043"/>
                        </a:buClr>
                        <a:buSzPts val="1500"/>
                        <a:buFont typeface="Arial"/>
                        <a:buNone/>
                      </a:pPr>
                      <a:r>
                        <a:rPr lang="en-US" sz="1500" u="none" cap="none" strike="noStrike">
                          <a:solidFill>
                            <a:srgbClr val="3C4043"/>
                          </a:solidFill>
                          <a:latin typeface="Arial"/>
                          <a:ea typeface="Arial"/>
                          <a:cs typeface="Arial"/>
                          <a:sym typeface="Arial"/>
                        </a:rPr>
                        <a:t>3</a:t>
                      </a:r>
                      <a:endParaRPr sz="1500" u="none" cap="none" strike="noStrike">
                        <a:latin typeface="Arial"/>
                        <a:ea typeface="Arial"/>
                        <a:cs typeface="Arial"/>
                        <a:sym typeface="Arial"/>
                      </a:endParaRPr>
                    </a:p>
                  </a:txBody>
                  <a:tcPr marT="66675" marB="66675" marR="66675" marL="66675">
                    <a:lnL cap="flat" cmpd="sng" w="12700">
                      <a:solidFill>
                        <a:srgbClr val="CBC6BF"/>
                      </a:solidFill>
                      <a:prstDash val="solid"/>
                      <a:round/>
                      <a:headEnd len="sm" w="sm" type="none"/>
                      <a:tailEnd len="sm" w="sm" type="none"/>
                    </a:lnL>
                    <a:lnR cap="flat" cmpd="sng" w="12700">
                      <a:solidFill>
                        <a:srgbClr val="CBC6BF"/>
                      </a:solidFill>
                      <a:prstDash val="solid"/>
                      <a:round/>
                      <a:headEnd len="sm" w="sm" type="none"/>
                      <a:tailEnd len="sm" w="sm" type="none"/>
                    </a:lnR>
                    <a:lnT cap="flat" cmpd="sng" w="12700">
                      <a:solidFill>
                        <a:srgbClr val="CBC6BF"/>
                      </a:solidFill>
                      <a:prstDash val="solid"/>
                      <a:round/>
                      <a:headEnd len="sm" w="sm" type="none"/>
                      <a:tailEnd len="sm" w="sm" type="none"/>
                    </a:lnT>
                    <a:lnB cap="flat" cmpd="sng" w="12700">
                      <a:solidFill>
                        <a:srgbClr val="CBC6BF"/>
                      </a:solidFill>
                      <a:prstDash val="solid"/>
                      <a:round/>
                      <a:headEnd len="sm" w="sm" type="none"/>
                      <a:tailEnd len="sm" w="sm" type="none"/>
                    </a:lnB>
                  </a:tcPr>
                </a:tc>
                <a:tc>
                  <a:txBody>
                    <a:bodyPr/>
                    <a:lstStyle/>
                    <a:p>
                      <a:pPr indent="0" lvl="0" marL="0" marR="0" rtl="0" algn="ctr">
                        <a:lnSpc>
                          <a:spcPct val="140000"/>
                        </a:lnSpc>
                        <a:spcBef>
                          <a:spcPts val="0"/>
                        </a:spcBef>
                        <a:spcAft>
                          <a:spcPts val="0"/>
                        </a:spcAft>
                        <a:buClr>
                          <a:srgbClr val="3C4043"/>
                        </a:buClr>
                        <a:buSzPts val="1500"/>
                        <a:buFont typeface="Arial"/>
                        <a:buNone/>
                      </a:pPr>
                      <a:r>
                        <a:rPr lang="en-US" sz="1500" u="none" cap="none" strike="noStrike">
                          <a:solidFill>
                            <a:srgbClr val="3C4043"/>
                          </a:solidFill>
                          <a:latin typeface="Arial"/>
                          <a:ea typeface="Arial"/>
                          <a:cs typeface="Arial"/>
                          <a:sym typeface="Arial"/>
                        </a:rPr>
                        <a:t>1</a:t>
                      </a:r>
                      <a:endParaRPr sz="1500" u="none" cap="none" strike="noStrike">
                        <a:latin typeface="Arial"/>
                        <a:ea typeface="Arial"/>
                        <a:cs typeface="Arial"/>
                        <a:sym typeface="Arial"/>
                      </a:endParaRPr>
                    </a:p>
                  </a:txBody>
                  <a:tcPr marT="66675" marB="66675" marR="66675" marL="66675">
                    <a:lnL cap="flat" cmpd="sng" w="12700">
                      <a:solidFill>
                        <a:srgbClr val="CBC6BF"/>
                      </a:solidFill>
                      <a:prstDash val="solid"/>
                      <a:round/>
                      <a:headEnd len="sm" w="sm" type="none"/>
                      <a:tailEnd len="sm" w="sm" type="none"/>
                    </a:lnL>
                    <a:lnR cap="flat" cmpd="sng" w="12700">
                      <a:solidFill>
                        <a:srgbClr val="CBC6BF"/>
                      </a:solidFill>
                      <a:prstDash val="solid"/>
                      <a:round/>
                      <a:headEnd len="sm" w="sm" type="none"/>
                      <a:tailEnd len="sm" w="sm" type="none"/>
                    </a:lnR>
                    <a:lnT cap="flat" cmpd="sng" w="12700">
                      <a:solidFill>
                        <a:srgbClr val="CBC6BF"/>
                      </a:solidFill>
                      <a:prstDash val="solid"/>
                      <a:round/>
                      <a:headEnd len="sm" w="sm" type="none"/>
                      <a:tailEnd len="sm" w="sm" type="none"/>
                    </a:lnT>
                    <a:lnB cap="flat" cmpd="sng" w="12700">
                      <a:solidFill>
                        <a:srgbClr val="CBC6BF"/>
                      </a:solidFill>
                      <a:prstDash val="solid"/>
                      <a:round/>
                      <a:headEnd len="sm" w="sm" type="none"/>
                      <a:tailEnd len="sm" w="sm" type="none"/>
                    </a:lnB>
                  </a:tcPr>
                </a:tc>
                <a:tc>
                  <a:txBody>
                    <a:bodyPr/>
                    <a:lstStyle/>
                    <a:p>
                      <a:pPr indent="0" lvl="0" marL="0" marR="0" rtl="0" algn="ctr">
                        <a:lnSpc>
                          <a:spcPct val="140000"/>
                        </a:lnSpc>
                        <a:spcBef>
                          <a:spcPts val="0"/>
                        </a:spcBef>
                        <a:spcAft>
                          <a:spcPts val="0"/>
                        </a:spcAft>
                        <a:buClr>
                          <a:srgbClr val="3C4043"/>
                        </a:buClr>
                        <a:buSzPts val="1500"/>
                        <a:buFont typeface="Arial"/>
                        <a:buNone/>
                      </a:pPr>
                      <a:r>
                        <a:rPr lang="en-US" sz="1500" u="none" cap="none" strike="noStrike">
                          <a:solidFill>
                            <a:srgbClr val="3C4043"/>
                          </a:solidFill>
                          <a:latin typeface="Arial"/>
                          <a:ea typeface="Arial"/>
                          <a:cs typeface="Arial"/>
                          <a:sym typeface="Arial"/>
                        </a:rPr>
                        <a:t>0101</a:t>
                      </a:r>
                      <a:endParaRPr sz="1500" u="none" cap="none" strike="noStrike">
                        <a:latin typeface="Arial"/>
                        <a:ea typeface="Arial"/>
                        <a:cs typeface="Arial"/>
                        <a:sym typeface="Arial"/>
                      </a:endParaRPr>
                    </a:p>
                  </a:txBody>
                  <a:tcPr marT="66675" marB="66675" marR="66675" marL="66675">
                    <a:lnL cap="flat" cmpd="sng" w="12700">
                      <a:solidFill>
                        <a:srgbClr val="CBC6BF"/>
                      </a:solidFill>
                      <a:prstDash val="solid"/>
                      <a:round/>
                      <a:headEnd len="sm" w="sm" type="none"/>
                      <a:tailEnd len="sm" w="sm" type="none"/>
                    </a:lnL>
                    <a:lnR cap="flat" cmpd="sng" w="12700">
                      <a:solidFill>
                        <a:srgbClr val="CBC6BF"/>
                      </a:solidFill>
                      <a:prstDash val="solid"/>
                      <a:round/>
                      <a:headEnd len="sm" w="sm" type="none"/>
                      <a:tailEnd len="sm" w="sm" type="none"/>
                    </a:lnR>
                    <a:lnT cap="flat" cmpd="sng" w="12700">
                      <a:solidFill>
                        <a:srgbClr val="CBC6BF"/>
                      </a:solidFill>
                      <a:prstDash val="solid"/>
                      <a:round/>
                      <a:headEnd len="sm" w="sm" type="none"/>
                      <a:tailEnd len="sm" w="sm" type="none"/>
                    </a:lnT>
                    <a:lnB cap="flat" cmpd="sng" w="12700">
                      <a:solidFill>
                        <a:srgbClr val="CBC6BF"/>
                      </a:solidFill>
                      <a:prstDash val="solid"/>
                      <a:round/>
                      <a:headEnd len="sm" w="sm" type="none"/>
                      <a:tailEnd len="sm" w="sm" type="none"/>
                    </a:lnB>
                  </a:tcPr>
                </a:tc>
              </a:tr>
              <a:tr h="412750">
                <a:tc>
                  <a:txBody>
                    <a:bodyPr/>
                    <a:lstStyle/>
                    <a:p>
                      <a:pPr indent="0" lvl="0" marL="0" marR="0" rtl="0" algn="ctr">
                        <a:lnSpc>
                          <a:spcPct val="140000"/>
                        </a:lnSpc>
                        <a:spcBef>
                          <a:spcPts val="0"/>
                        </a:spcBef>
                        <a:spcAft>
                          <a:spcPts val="0"/>
                        </a:spcAft>
                        <a:buClr>
                          <a:srgbClr val="3C4043"/>
                        </a:buClr>
                        <a:buSzPts val="1500"/>
                        <a:buFont typeface="Arial"/>
                        <a:buNone/>
                      </a:pPr>
                      <a:r>
                        <a:rPr lang="en-US" sz="1500" u="none" cap="none" strike="noStrike">
                          <a:solidFill>
                            <a:srgbClr val="3C4043"/>
                          </a:solidFill>
                          <a:latin typeface="Arial"/>
                          <a:ea typeface="Arial"/>
                          <a:cs typeface="Arial"/>
                          <a:sym typeface="Arial"/>
                        </a:rPr>
                        <a:t>4</a:t>
                      </a:r>
                      <a:endParaRPr sz="1500" u="none" cap="none" strike="noStrike">
                        <a:latin typeface="Arial"/>
                        <a:ea typeface="Arial"/>
                        <a:cs typeface="Arial"/>
                        <a:sym typeface="Arial"/>
                      </a:endParaRPr>
                    </a:p>
                  </a:txBody>
                  <a:tcPr marT="66675" marB="66675" marR="66675" marL="66675">
                    <a:lnL cap="flat" cmpd="sng" w="12700">
                      <a:solidFill>
                        <a:srgbClr val="CBC6BF"/>
                      </a:solidFill>
                      <a:prstDash val="solid"/>
                      <a:round/>
                      <a:headEnd len="sm" w="sm" type="none"/>
                      <a:tailEnd len="sm" w="sm" type="none"/>
                    </a:lnL>
                    <a:lnR cap="flat" cmpd="sng" w="12700">
                      <a:solidFill>
                        <a:srgbClr val="CBC6BF"/>
                      </a:solidFill>
                      <a:prstDash val="solid"/>
                      <a:round/>
                      <a:headEnd len="sm" w="sm" type="none"/>
                      <a:tailEnd len="sm" w="sm" type="none"/>
                    </a:lnR>
                    <a:lnT cap="flat" cmpd="sng" w="12700">
                      <a:solidFill>
                        <a:srgbClr val="CBC6BF"/>
                      </a:solidFill>
                      <a:prstDash val="solid"/>
                      <a:round/>
                      <a:headEnd len="sm" w="sm" type="none"/>
                      <a:tailEnd len="sm" w="sm" type="none"/>
                    </a:lnT>
                    <a:lnB cap="flat" cmpd="sng" w="12700">
                      <a:solidFill>
                        <a:srgbClr val="CBC6BF"/>
                      </a:solidFill>
                      <a:prstDash val="solid"/>
                      <a:round/>
                      <a:headEnd len="sm" w="sm" type="none"/>
                      <a:tailEnd len="sm" w="sm" type="none"/>
                    </a:lnB>
                  </a:tcPr>
                </a:tc>
                <a:tc>
                  <a:txBody>
                    <a:bodyPr/>
                    <a:lstStyle/>
                    <a:p>
                      <a:pPr indent="0" lvl="0" marL="0" marR="0" rtl="0" algn="ctr">
                        <a:lnSpc>
                          <a:spcPct val="140000"/>
                        </a:lnSpc>
                        <a:spcBef>
                          <a:spcPts val="0"/>
                        </a:spcBef>
                        <a:spcAft>
                          <a:spcPts val="0"/>
                        </a:spcAft>
                        <a:buClr>
                          <a:srgbClr val="3C4043"/>
                        </a:buClr>
                        <a:buSzPts val="1500"/>
                        <a:buFont typeface="Arial"/>
                        <a:buNone/>
                      </a:pPr>
                      <a:r>
                        <a:rPr lang="en-US" sz="1500" u="none" cap="none" strike="noStrike">
                          <a:solidFill>
                            <a:srgbClr val="3C4043"/>
                          </a:solidFill>
                          <a:latin typeface="Arial"/>
                          <a:ea typeface="Arial"/>
                          <a:cs typeface="Arial"/>
                          <a:sym typeface="Arial"/>
                        </a:rPr>
                        <a:t>1</a:t>
                      </a:r>
                      <a:endParaRPr sz="1500" u="none" cap="none" strike="noStrike">
                        <a:latin typeface="Arial"/>
                        <a:ea typeface="Arial"/>
                        <a:cs typeface="Arial"/>
                        <a:sym typeface="Arial"/>
                      </a:endParaRPr>
                    </a:p>
                  </a:txBody>
                  <a:tcPr marT="66675" marB="66675" marR="66675" marL="66675">
                    <a:lnL cap="flat" cmpd="sng" w="12700">
                      <a:solidFill>
                        <a:srgbClr val="CBC6BF"/>
                      </a:solidFill>
                      <a:prstDash val="solid"/>
                      <a:round/>
                      <a:headEnd len="sm" w="sm" type="none"/>
                      <a:tailEnd len="sm" w="sm" type="none"/>
                    </a:lnL>
                    <a:lnR cap="flat" cmpd="sng" w="12700">
                      <a:solidFill>
                        <a:srgbClr val="CBC6BF"/>
                      </a:solidFill>
                      <a:prstDash val="solid"/>
                      <a:round/>
                      <a:headEnd len="sm" w="sm" type="none"/>
                      <a:tailEnd len="sm" w="sm" type="none"/>
                    </a:lnR>
                    <a:lnT cap="flat" cmpd="sng" w="12700">
                      <a:solidFill>
                        <a:srgbClr val="CBC6BF"/>
                      </a:solidFill>
                      <a:prstDash val="solid"/>
                      <a:round/>
                      <a:headEnd len="sm" w="sm" type="none"/>
                      <a:tailEnd len="sm" w="sm" type="none"/>
                    </a:lnT>
                    <a:lnB cap="flat" cmpd="sng" w="12700">
                      <a:solidFill>
                        <a:srgbClr val="CBC6BF"/>
                      </a:solidFill>
                      <a:prstDash val="solid"/>
                      <a:round/>
                      <a:headEnd len="sm" w="sm" type="none"/>
                      <a:tailEnd len="sm" w="sm" type="none"/>
                    </a:lnB>
                  </a:tcPr>
                </a:tc>
                <a:tc>
                  <a:txBody>
                    <a:bodyPr/>
                    <a:lstStyle/>
                    <a:p>
                      <a:pPr indent="0" lvl="0" marL="0" marR="0" rtl="0" algn="ctr">
                        <a:lnSpc>
                          <a:spcPct val="140000"/>
                        </a:lnSpc>
                        <a:spcBef>
                          <a:spcPts val="0"/>
                        </a:spcBef>
                        <a:spcAft>
                          <a:spcPts val="0"/>
                        </a:spcAft>
                        <a:buClr>
                          <a:srgbClr val="3C4043"/>
                        </a:buClr>
                        <a:buSzPts val="1500"/>
                        <a:buFont typeface="Arial"/>
                        <a:buNone/>
                      </a:pPr>
                      <a:r>
                        <a:rPr lang="en-US" sz="1500" u="none" cap="none" strike="noStrike">
                          <a:solidFill>
                            <a:srgbClr val="3C4043"/>
                          </a:solidFill>
                          <a:latin typeface="Arial"/>
                          <a:ea typeface="Arial"/>
                          <a:cs typeface="Arial"/>
                          <a:sym typeface="Arial"/>
                        </a:rPr>
                        <a:t>1011</a:t>
                      </a:r>
                      <a:endParaRPr sz="1500" u="none" cap="none" strike="noStrike">
                        <a:latin typeface="Arial"/>
                        <a:ea typeface="Arial"/>
                        <a:cs typeface="Arial"/>
                        <a:sym typeface="Arial"/>
                      </a:endParaRPr>
                    </a:p>
                  </a:txBody>
                  <a:tcPr marT="66675" marB="66675" marR="66675" marL="66675">
                    <a:lnL cap="flat" cmpd="sng" w="12700">
                      <a:solidFill>
                        <a:srgbClr val="CBC6BF"/>
                      </a:solidFill>
                      <a:prstDash val="solid"/>
                      <a:round/>
                      <a:headEnd len="sm" w="sm" type="none"/>
                      <a:tailEnd len="sm" w="sm" type="none"/>
                    </a:lnL>
                    <a:lnR cap="flat" cmpd="sng" w="12700">
                      <a:solidFill>
                        <a:srgbClr val="CBC6BF"/>
                      </a:solidFill>
                      <a:prstDash val="solid"/>
                      <a:round/>
                      <a:headEnd len="sm" w="sm" type="none"/>
                      <a:tailEnd len="sm" w="sm" type="none"/>
                    </a:lnR>
                    <a:lnT cap="flat" cmpd="sng" w="12700">
                      <a:solidFill>
                        <a:srgbClr val="CBC6BF"/>
                      </a:solidFill>
                      <a:prstDash val="solid"/>
                      <a:round/>
                      <a:headEnd len="sm" w="sm" type="none"/>
                      <a:tailEnd len="sm" w="sm" type="none"/>
                    </a:lnT>
                    <a:lnB cap="flat" cmpd="sng" w="12700">
                      <a:solidFill>
                        <a:srgbClr val="CBC6BF"/>
                      </a:solidFill>
                      <a:prstDash val="solid"/>
                      <a:round/>
                      <a:headEnd len="sm" w="sm" type="none"/>
                      <a:tailEnd len="sm" w="sm" type="none"/>
                    </a:lnB>
                  </a:tcPr>
                </a:tc>
              </a:tr>
            </a:tbl>
          </a:graphicData>
        </a:graphic>
      </p:graphicFrame>
      <p:sp>
        <p:nvSpPr>
          <p:cNvPr id="431" name="Google Shape;431;p28"/>
          <p:cNvSpPr/>
          <p:nvPr/>
        </p:nvSpPr>
        <p:spPr>
          <a:xfrm>
            <a:off x="736600" y="5247618"/>
            <a:ext cx="4970780" cy="523214"/>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4E52"/>
              </a:buClr>
              <a:buSzPts val="1400"/>
              <a:buFont typeface="Arial"/>
              <a:buNone/>
            </a:pPr>
            <a:r>
              <a:rPr b="0" i="0" lang="en-US" sz="1400" u="none" cap="none" strike="noStrike">
                <a:solidFill>
                  <a:srgbClr val="4A4E52"/>
                </a:solidFill>
                <a:latin typeface="Arial"/>
                <a:ea typeface="Arial"/>
                <a:cs typeface="Arial"/>
                <a:sym typeface="Arial"/>
              </a:rPr>
              <a:t>Uses: serial ↔ parallel (UART, SPI), delay lines, LED chasers</a:t>
            </a:r>
            <a:endParaRPr b="0" i="0" sz="1400" u="none" cap="none" strike="noStrike">
              <a:solidFill>
                <a:schemeClr val="dk1"/>
              </a:solidFill>
              <a:latin typeface="Arial"/>
              <a:ea typeface="Arial"/>
              <a:cs typeface="Arial"/>
              <a:sym typeface="Arial"/>
            </a:endParaRPr>
          </a:p>
        </p:txBody>
      </p:sp>
      <p:sp>
        <p:nvSpPr>
          <p:cNvPr id="432" name="Google Shape;432;p28"/>
          <p:cNvSpPr/>
          <p:nvPr/>
        </p:nvSpPr>
        <p:spPr>
          <a:xfrm>
            <a:off x="5969000" y="1739900"/>
            <a:ext cx="5410200" cy="2570163"/>
          </a:xfrm>
          <a:prstGeom prst="roundRect">
            <a:avLst>
              <a:gd fmla="val 5930" name="adj"/>
            </a:avLst>
          </a:prstGeom>
          <a:solidFill>
            <a:srgbClr val="2F3237"/>
          </a:solidFill>
          <a:ln>
            <a:noFill/>
          </a:ln>
        </p:spPr>
        <p:txBody>
          <a:bodyPr anchorCtr="0" anchor="t" bIns="183950" lIns="234750" spcFirstLastPara="1" rIns="89200" wrap="square" tIns="209350">
            <a:noAutofit/>
          </a:bodyPr>
          <a:lstStyle/>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logic [3:0] sr;</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always_ff @(posedge clk)</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F5E9D6"/>
              </a:buClr>
              <a:buSzPts val="1400"/>
              <a:buFont typeface="Courier New"/>
              <a:buNone/>
            </a:pPr>
            <a:r>
              <a:rPr b="0" i="0" lang="en-US" sz="1400" u="none" cap="none" strike="noStrike">
                <a:solidFill>
                  <a:srgbClr val="F5E9D6"/>
                </a:solidFill>
                <a:latin typeface="Courier New"/>
                <a:ea typeface="Courier New"/>
                <a:cs typeface="Courier New"/>
                <a:sym typeface="Courier New"/>
              </a:rPr>
              <a:t>  sr &lt;= {sr[2:0], din};</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A9C4D6"/>
              </a:buClr>
              <a:buSzPts val="1400"/>
              <a:buFont typeface="Courier New"/>
              <a:buNone/>
            </a:pPr>
            <a:r>
              <a:rPr b="0" i="0" lang="en-US" sz="1400" u="none" cap="none" strike="noStrike">
                <a:solidFill>
                  <a:srgbClr val="A9C4D6"/>
                </a:solidFill>
                <a:latin typeface="Courier New"/>
                <a:ea typeface="Courier New"/>
                <a:cs typeface="Courier New"/>
                <a:sym typeface="Courier New"/>
              </a:rPr>
              <a:t>// drop the top bit,</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A9C4D6"/>
              </a:buClr>
              <a:buSzPts val="1400"/>
              <a:buFont typeface="Courier New"/>
              <a:buNone/>
            </a:pPr>
            <a:r>
              <a:rPr b="0" i="0" lang="en-US" sz="1400" u="none" cap="none" strike="noStrike">
                <a:solidFill>
                  <a:srgbClr val="A9C4D6"/>
                </a:solidFill>
                <a:latin typeface="Courier New"/>
                <a:ea typeface="Courier New"/>
                <a:cs typeface="Courier New"/>
                <a:sym typeface="Courier New"/>
              </a:rPr>
              <a:t>// shift left, din enters</a:t>
            </a:r>
            <a:endParaRPr b="0" i="0" sz="14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A9C4D6"/>
              </a:buClr>
              <a:buSzPts val="1400"/>
              <a:buFont typeface="Courier New"/>
              <a:buNone/>
            </a:pPr>
            <a:r>
              <a:rPr b="0" i="0" lang="en-US" sz="1400" u="none" cap="none" strike="noStrike">
                <a:solidFill>
                  <a:srgbClr val="A9C4D6"/>
                </a:solidFill>
                <a:latin typeface="Courier New"/>
                <a:ea typeface="Courier New"/>
                <a:cs typeface="Courier New"/>
                <a:sym typeface="Courier New"/>
              </a:rPr>
              <a:t>// at bit 0</a:t>
            </a:r>
            <a:endParaRPr b="0" i="0" sz="1400" u="none" cap="none" strike="noStrike">
              <a:solidFill>
                <a:schemeClr val="dk1"/>
              </a:solidFill>
              <a:latin typeface="Arial"/>
              <a:ea typeface="Arial"/>
              <a:cs typeface="Arial"/>
              <a:sym typeface="Arial"/>
            </a:endParaRPr>
          </a:p>
        </p:txBody>
      </p:sp>
      <p:sp>
        <p:nvSpPr>
          <p:cNvPr id="433" name="Google Shape;433;p28"/>
          <p:cNvSpPr/>
          <p:nvPr/>
        </p:nvSpPr>
        <p:spPr>
          <a:xfrm>
            <a:off x="10566400" y="6238280"/>
            <a:ext cx="812800" cy="23872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3C4043"/>
              </a:buClr>
              <a:buSzPts val="1200"/>
              <a:buFont typeface="Arial"/>
              <a:buNone/>
            </a:pPr>
            <a:r>
              <a:rPr b="0" i="0" lang="en-US" sz="1200" u="none" cap="none" strike="noStrike">
                <a:solidFill>
                  <a:srgbClr val="3C4043"/>
                </a:solidFill>
                <a:latin typeface="Arial"/>
                <a:ea typeface="Arial"/>
                <a:cs typeface="Arial"/>
                <a:sym typeface="Arial"/>
              </a:rPr>
              <a:t>25</a:t>
            </a:r>
            <a:endParaRPr b="0" i="0" sz="1200" u="none" cap="none" strike="noStrike">
              <a:solidFill>
                <a:schemeClr val="dk1"/>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0DC"/>
        </a:solidFill>
      </p:bgPr>
    </p:bg>
    <p:spTree>
      <p:nvGrpSpPr>
        <p:cNvPr id="438" name="Shape 438"/>
        <p:cNvGrpSpPr/>
        <p:nvPr/>
      </p:nvGrpSpPr>
      <p:grpSpPr>
        <a:xfrm>
          <a:off x="0" y="0"/>
          <a:ext cx="0" cy="0"/>
          <a:chOff x="0" y="0"/>
          <a:chExt cx="0" cy="0"/>
        </a:xfrm>
      </p:grpSpPr>
      <p:sp>
        <p:nvSpPr>
          <p:cNvPr id="439" name="Google Shape;439;p29"/>
          <p:cNvSpPr/>
          <p:nvPr/>
        </p:nvSpPr>
        <p:spPr>
          <a:xfrm>
            <a:off x="114300" y="114300"/>
            <a:ext cx="5886450" cy="381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C4043"/>
              </a:buClr>
              <a:buSzPts val="2000"/>
              <a:buFont typeface="Arial"/>
              <a:buNone/>
            </a:pPr>
            <a:r>
              <a:rPr b="0" i="0" lang="en-US" sz="2000" u="none" cap="none" strike="noStrike">
                <a:solidFill>
                  <a:srgbClr val="3C4043"/>
                </a:solidFill>
                <a:latin typeface="Arial"/>
                <a:ea typeface="Arial"/>
                <a:cs typeface="Arial"/>
                <a:sym typeface="Arial"/>
              </a:rPr>
              <a:t>Summary</a:t>
            </a:r>
            <a:endParaRPr b="0" i="0" sz="2000" u="none" cap="none" strike="noStrike">
              <a:solidFill>
                <a:schemeClr val="dk1"/>
              </a:solidFill>
              <a:latin typeface="Arial"/>
              <a:ea typeface="Arial"/>
              <a:cs typeface="Arial"/>
              <a:sym typeface="Arial"/>
            </a:endParaRPr>
          </a:p>
        </p:txBody>
      </p:sp>
      <p:sp>
        <p:nvSpPr>
          <p:cNvPr id="440" name="Google Shape;440;p29"/>
          <p:cNvSpPr txBox="1"/>
          <p:nvPr>
            <p:ph type="title"/>
          </p:nvPr>
        </p:nvSpPr>
        <p:spPr>
          <a:xfrm>
            <a:off x="736600" y="762000"/>
            <a:ext cx="10961878" cy="5842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3C4043"/>
              </a:buClr>
              <a:buSzPts val="4000"/>
              <a:buFont typeface="Arial"/>
              <a:buNone/>
            </a:pPr>
            <a:r>
              <a:rPr b="0" i="0" lang="en-US" sz="4000">
                <a:solidFill>
                  <a:srgbClr val="3C4043"/>
                </a:solidFill>
                <a:latin typeface="Arial"/>
                <a:ea typeface="Arial"/>
                <a:cs typeface="Arial"/>
                <a:sym typeface="Arial"/>
              </a:rPr>
              <a:t>Side by Side</a:t>
            </a:r>
            <a:endParaRPr sz="4000"/>
          </a:p>
        </p:txBody>
      </p:sp>
      <p:pic>
        <p:nvPicPr>
          <p:cNvPr descr="line" id="441" name="Google Shape;441;p29"/>
          <p:cNvPicPr preferRelativeResize="0"/>
          <p:nvPr/>
        </p:nvPicPr>
        <p:blipFill rotWithShape="1">
          <a:blip r:embed="rId3">
            <a:alphaModFix/>
          </a:blip>
          <a:srcRect b="0" l="0" r="0" t="0"/>
          <a:stretch/>
        </p:blipFill>
        <p:spPr>
          <a:xfrm>
            <a:off x="736600" y="1524000"/>
            <a:ext cx="10642600" cy="12700"/>
          </a:xfrm>
          <a:prstGeom prst="rect">
            <a:avLst/>
          </a:prstGeom>
          <a:noFill/>
          <a:ln>
            <a:noFill/>
          </a:ln>
        </p:spPr>
      </p:pic>
      <p:sp>
        <p:nvSpPr>
          <p:cNvPr id="442" name="Google Shape;442;p29"/>
          <p:cNvSpPr/>
          <p:nvPr/>
        </p:nvSpPr>
        <p:spPr>
          <a:xfrm>
            <a:off x="736600" y="1739900"/>
            <a:ext cx="10642600" cy="3168650"/>
          </a:xfrm>
          <a:prstGeom prst="rect">
            <a:avLst/>
          </a:prstGeom>
          <a:solidFill>
            <a:srgbClr val="FFF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aphicFrame>
        <p:nvGraphicFramePr>
          <p:cNvPr id="443" name="Google Shape;443;p29"/>
          <p:cNvGraphicFramePr/>
          <p:nvPr/>
        </p:nvGraphicFramePr>
        <p:xfrm>
          <a:off x="749300" y="1752600"/>
          <a:ext cx="3000000" cy="3000000"/>
        </p:xfrm>
        <a:graphic>
          <a:graphicData uri="http://schemas.openxmlformats.org/drawingml/2006/table">
            <a:tbl>
              <a:tblPr>
                <a:noFill/>
                <a:tableStyleId>{BA11AAC2-A7CE-4588-8191-665CEFB64C56}</a:tableStyleId>
              </a:tblPr>
              <a:tblGrid>
                <a:gridCol w="2551175"/>
                <a:gridCol w="4039350"/>
                <a:gridCol w="4039350"/>
              </a:tblGrid>
              <a:tr h="412750">
                <a:tc>
                  <a:txBody>
                    <a:bodyPr/>
                    <a:lstStyle/>
                    <a:p>
                      <a:pPr indent="0" lvl="0" marL="0" marR="0" rtl="0" algn="l">
                        <a:lnSpc>
                          <a:spcPct val="140000"/>
                        </a:lnSpc>
                        <a:spcBef>
                          <a:spcPts val="0"/>
                        </a:spcBef>
                        <a:spcAft>
                          <a:spcPts val="0"/>
                        </a:spcAft>
                        <a:buClr>
                          <a:schemeClr val="dk1"/>
                        </a:buClr>
                        <a:buSzPts val="1500"/>
                        <a:buFont typeface="Arial"/>
                        <a:buNone/>
                      </a:pPr>
                      <a:r>
                        <a:t/>
                      </a:r>
                      <a:endParaRPr sz="1500" u="none" cap="none" strike="noStrike">
                        <a:latin typeface="Arial"/>
                        <a:ea typeface="Arial"/>
                        <a:cs typeface="Arial"/>
                        <a:sym typeface="Arial"/>
                      </a:endParaRPr>
                    </a:p>
                  </a:txBody>
                  <a:tcPr marT="66675" marB="66675" marR="66675" marL="66675">
                    <a:lnL cap="flat" cmpd="sng" w="12700">
                      <a:solidFill>
                        <a:srgbClr val="CBC6BF"/>
                      </a:solidFill>
                      <a:prstDash val="solid"/>
                      <a:round/>
                      <a:headEnd len="sm" w="sm" type="none"/>
                      <a:tailEnd len="sm" w="sm" type="none"/>
                    </a:lnL>
                    <a:lnR cap="flat" cmpd="sng" w="12700">
                      <a:solidFill>
                        <a:srgbClr val="BCB8B1"/>
                      </a:solidFill>
                      <a:prstDash val="solid"/>
                      <a:round/>
                      <a:headEnd len="sm" w="sm" type="none"/>
                      <a:tailEnd len="sm" w="sm" type="none"/>
                    </a:lnR>
                    <a:lnT cap="flat" cmpd="sng" w="12700">
                      <a:solidFill>
                        <a:srgbClr val="CBC6BF"/>
                      </a:solidFill>
                      <a:prstDash val="solid"/>
                      <a:round/>
                      <a:headEnd len="sm" w="sm" type="none"/>
                      <a:tailEnd len="sm" w="sm" type="none"/>
                    </a:lnT>
                    <a:lnB cap="flat" cmpd="sng" w="12700">
                      <a:solidFill>
                        <a:srgbClr val="BCB8B1"/>
                      </a:solidFill>
                      <a:prstDash val="solid"/>
                      <a:round/>
                      <a:headEnd len="sm" w="sm" type="none"/>
                      <a:tailEnd len="sm" w="sm" type="none"/>
                    </a:lnB>
                    <a:solidFill>
                      <a:srgbClr val="ECE6DE"/>
                    </a:solidFill>
                  </a:tcPr>
                </a:tc>
                <a:tc>
                  <a:txBody>
                    <a:bodyPr/>
                    <a:lstStyle/>
                    <a:p>
                      <a:pPr indent="0" lvl="0" marL="0" marR="0" rtl="0" algn="l">
                        <a:lnSpc>
                          <a:spcPct val="140000"/>
                        </a:lnSpc>
                        <a:spcBef>
                          <a:spcPts val="0"/>
                        </a:spcBef>
                        <a:spcAft>
                          <a:spcPts val="0"/>
                        </a:spcAft>
                        <a:buClr>
                          <a:srgbClr val="1B6F9E"/>
                        </a:buClr>
                        <a:buSzPts val="1500"/>
                        <a:buFont typeface="Arial"/>
                        <a:buNone/>
                      </a:pPr>
                      <a:r>
                        <a:rPr b="1" lang="en-US" sz="1500" u="none" cap="none" strike="noStrike">
                          <a:solidFill>
                            <a:srgbClr val="1B6F9E"/>
                          </a:solidFill>
                          <a:latin typeface="Arial"/>
                          <a:ea typeface="Arial"/>
                          <a:cs typeface="Arial"/>
                          <a:sym typeface="Arial"/>
                        </a:rPr>
                        <a:t>Combinational</a:t>
                      </a:r>
                      <a:endParaRPr sz="1500" u="none" cap="none" strike="noStrike">
                        <a:latin typeface="Arial"/>
                        <a:ea typeface="Arial"/>
                        <a:cs typeface="Arial"/>
                        <a:sym typeface="Arial"/>
                      </a:endParaRPr>
                    </a:p>
                  </a:txBody>
                  <a:tcPr marT="66675" marB="66675" marR="66675" marL="66675">
                    <a:lnL cap="flat" cmpd="sng" w="12700">
                      <a:solidFill>
                        <a:srgbClr val="BCB8B1"/>
                      </a:solidFill>
                      <a:prstDash val="solid"/>
                      <a:round/>
                      <a:headEnd len="sm" w="sm" type="none"/>
                      <a:tailEnd len="sm" w="sm" type="none"/>
                    </a:lnL>
                    <a:lnR cap="flat" cmpd="sng" w="12700">
                      <a:solidFill>
                        <a:srgbClr val="BCB8B1"/>
                      </a:solidFill>
                      <a:prstDash val="solid"/>
                      <a:round/>
                      <a:headEnd len="sm" w="sm" type="none"/>
                      <a:tailEnd len="sm" w="sm" type="none"/>
                    </a:lnR>
                    <a:lnT cap="flat" cmpd="sng" w="12700">
                      <a:solidFill>
                        <a:srgbClr val="CBC6BF"/>
                      </a:solidFill>
                      <a:prstDash val="solid"/>
                      <a:round/>
                      <a:headEnd len="sm" w="sm" type="none"/>
                      <a:tailEnd len="sm" w="sm" type="none"/>
                    </a:lnT>
                    <a:lnB cap="flat" cmpd="sng" w="12700">
                      <a:solidFill>
                        <a:srgbClr val="BCB8B1"/>
                      </a:solidFill>
                      <a:prstDash val="solid"/>
                      <a:round/>
                      <a:headEnd len="sm" w="sm" type="none"/>
                      <a:tailEnd len="sm" w="sm" type="none"/>
                    </a:lnB>
                    <a:solidFill>
                      <a:srgbClr val="ECE6DE"/>
                    </a:solidFill>
                  </a:tcPr>
                </a:tc>
                <a:tc>
                  <a:txBody>
                    <a:bodyPr/>
                    <a:lstStyle/>
                    <a:p>
                      <a:pPr indent="0" lvl="0" marL="0" marR="0" rtl="0" algn="l">
                        <a:lnSpc>
                          <a:spcPct val="140000"/>
                        </a:lnSpc>
                        <a:spcBef>
                          <a:spcPts val="0"/>
                        </a:spcBef>
                        <a:spcAft>
                          <a:spcPts val="0"/>
                        </a:spcAft>
                        <a:buClr>
                          <a:srgbClr val="B5462A"/>
                        </a:buClr>
                        <a:buSzPts val="1500"/>
                        <a:buFont typeface="Arial"/>
                        <a:buNone/>
                      </a:pPr>
                      <a:r>
                        <a:rPr b="1" lang="en-US" sz="1500" u="none" cap="none" strike="noStrike">
                          <a:solidFill>
                            <a:srgbClr val="B5462A"/>
                          </a:solidFill>
                          <a:latin typeface="Arial"/>
                          <a:ea typeface="Arial"/>
                          <a:cs typeface="Arial"/>
                          <a:sym typeface="Arial"/>
                        </a:rPr>
                        <a:t>Sequential</a:t>
                      </a:r>
                      <a:endParaRPr sz="1500" u="none" cap="none" strike="noStrike">
                        <a:latin typeface="Arial"/>
                        <a:ea typeface="Arial"/>
                        <a:cs typeface="Arial"/>
                        <a:sym typeface="Arial"/>
                      </a:endParaRPr>
                    </a:p>
                  </a:txBody>
                  <a:tcPr marT="66675" marB="66675" marR="66675" marL="66675">
                    <a:lnL cap="flat" cmpd="sng" w="12700">
                      <a:solidFill>
                        <a:srgbClr val="BCB8B1"/>
                      </a:solidFill>
                      <a:prstDash val="solid"/>
                      <a:round/>
                      <a:headEnd len="sm" w="sm" type="none"/>
                      <a:tailEnd len="sm" w="sm" type="none"/>
                    </a:lnL>
                    <a:lnR cap="flat" cmpd="sng" w="12700">
                      <a:solidFill>
                        <a:srgbClr val="BCB8B1"/>
                      </a:solidFill>
                      <a:prstDash val="solid"/>
                      <a:round/>
                      <a:headEnd len="sm" w="sm" type="none"/>
                      <a:tailEnd len="sm" w="sm" type="none"/>
                    </a:lnR>
                    <a:lnT cap="flat" cmpd="sng" w="12700">
                      <a:solidFill>
                        <a:srgbClr val="CBC6BF"/>
                      </a:solidFill>
                      <a:prstDash val="solid"/>
                      <a:round/>
                      <a:headEnd len="sm" w="sm" type="none"/>
                      <a:tailEnd len="sm" w="sm" type="none"/>
                    </a:lnT>
                    <a:lnB cap="flat" cmpd="sng" w="12700">
                      <a:solidFill>
                        <a:srgbClr val="BCB8B1"/>
                      </a:solidFill>
                      <a:prstDash val="solid"/>
                      <a:round/>
                      <a:headEnd len="sm" w="sm" type="none"/>
                      <a:tailEnd len="sm" w="sm" type="none"/>
                    </a:lnB>
                    <a:solidFill>
                      <a:srgbClr val="ECE6DE"/>
                    </a:solidFill>
                  </a:tcPr>
                </a:tc>
              </a:tr>
              <a:tr h="412750">
                <a:tc>
                  <a:txBody>
                    <a:bodyPr/>
                    <a:lstStyle/>
                    <a:p>
                      <a:pPr indent="0" lvl="0" marL="0" marR="0" rtl="0" algn="l">
                        <a:lnSpc>
                          <a:spcPct val="140000"/>
                        </a:lnSpc>
                        <a:spcBef>
                          <a:spcPts val="0"/>
                        </a:spcBef>
                        <a:spcAft>
                          <a:spcPts val="0"/>
                        </a:spcAft>
                        <a:buClr>
                          <a:srgbClr val="3C4043"/>
                        </a:buClr>
                        <a:buSzPts val="1500"/>
                        <a:buFont typeface="Arial"/>
                        <a:buNone/>
                      </a:pPr>
                      <a:r>
                        <a:rPr lang="en-US" sz="1500" u="none" cap="none" strike="noStrike">
                          <a:solidFill>
                            <a:srgbClr val="3C4043"/>
                          </a:solidFill>
                          <a:latin typeface="Arial"/>
                          <a:ea typeface="Arial"/>
                          <a:cs typeface="Arial"/>
                          <a:sym typeface="Arial"/>
                        </a:rPr>
                        <a:t>Output depends on</a:t>
                      </a:r>
                      <a:endParaRPr sz="1500" u="none" cap="none" strike="noStrike">
                        <a:latin typeface="Arial"/>
                        <a:ea typeface="Arial"/>
                        <a:cs typeface="Arial"/>
                        <a:sym typeface="Arial"/>
                      </a:endParaRPr>
                    </a:p>
                  </a:txBody>
                  <a:tcPr marT="66675" marB="66675" marR="66675" marL="66675">
                    <a:lnL cap="flat" cmpd="sng" w="12700">
                      <a:solidFill>
                        <a:srgbClr val="CBC6BF"/>
                      </a:solidFill>
                      <a:prstDash val="solid"/>
                      <a:round/>
                      <a:headEnd len="sm" w="sm" type="none"/>
                      <a:tailEnd len="sm" w="sm" type="none"/>
                    </a:lnL>
                    <a:lnR cap="flat" cmpd="sng" w="12700">
                      <a:solidFill>
                        <a:srgbClr val="CBC6BF"/>
                      </a:solidFill>
                      <a:prstDash val="solid"/>
                      <a:round/>
                      <a:headEnd len="sm" w="sm" type="none"/>
                      <a:tailEnd len="sm" w="sm" type="none"/>
                    </a:lnR>
                    <a:lnT cap="flat" cmpd="sng" w="12700">
                      <a:solidFill>
                        <a:srgbClr val="BCB8B1"/>
                      </a:solidFill>
                      <a:prstDash val="solid"/>
                      <a:round/>
                      <a:headEnd len="sm" w="sm" type="none"/>
                      <a:tailEnd len="sm" w="sm" type="none"/>
                    </a:lnT>
                    <a:lnB cap="flat" cmpd="sng" w="12700">
                      <a:solidFill>
                        <a:srgbClr val="CBC6BF"/>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3C4043"/>
                        </a:buClr>
                        <a:buSzPts val="1500"/>
                        <a:buFont typeface="Arial"/>
                        <a:buNone/>
                      </a:pPr>
                      <a:r>
                        <a:rPr lang="en-US" sz="1500" u="none" cap="none" strike="noStrike">
                          <a:solidFill>
                            <a:srgbClr val="3C4043"/>
                          </a:solidFill>
                          <a:latin typeface="Arial"/>
                          <a:ea typeface="Arial"/>
                          <a:cs typeface="Arial"/>
                          <a:sym typeface="Arial"/>
                        </a:rPr>
                        <a:t>current inputs</a:t>
                      </a:r>
                      <a:endParaRPr sz="1500" u="none" cap="none" strike="noStrike">
                        <a:latin typeface="Arial"/>
                        <a:ea typeface="Arial"/>
                        <a:cs typeface="Arial"/>
                        <a:sym typeface="Arial"/>
                      </a:endParaRPr>
                    </a:p>
                  </a:txBody>
                  <a:tcPr marT="66675" marB="66675" marR="66675" marL="66675">
                    <a:lnL cap="flat" cmpd="sng" w="12700">
                      <a:solidFill>
                        <a:srgbClr val="CBC6BF"/>
                      </a:solidFill>
                      <a:prstDash val="solid"/>
                      <a:round/>
                      <a:headEnd len="sm" w="sm" type="none"/>
                      <a:tailEnd len="sm" w="sm" type="none"/>
                    </a:lnL>
                    <a:lnR cap="flat" cmpd="sng" w="12700">
                      <a:solidFill>
                        <a:srgbClr val="CBC6BF"/>
                      </a:solidFill>
                      <a:prstDash val="solid"/>
                      <a:round/>
                      <a:headEnd len="sm" w="sm" type="none"/>
                      <a:tailEnd len="sm" w="sm" type="none"/>
                    </a:lnR>
                    <a:lnT cap="flat" cmpd="sng" w="12700">
                      <a:solidFill>
                        <a:srgbClr val="BCB8B1"/>
                      </a:solidFill>
                      <a:prstDash val="solid"/>
                      <a:round/>
                      <a:headEnd len="sm" w="sm" type="none"/>
                      <a:tailEnd len="sm" w="sm" type="none"/>
                    </a:lnT>
                    <a:lnB cap="flat" cmpd="sng" w="12700">
                      <a:solidFill>
                        <a:srgbClr val="CBC6BF"/>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3C4043"/>
                        </a:buClr>
                        <a:buSzPts val="1500"/>
                        <a:buFont typeface="Arial"/>
                        <a:buNone/>
                      </a:pPr>
                      <a:r>
                        <a:rPr lang="en-US" sz="1500" u="none" cap="none" strike="noStrike">
                          <a:solidFill>
                            <a:srgbClr val="3C4043"/>
                          </a:solidFill>
                          <a:latin typeface="Arial"/>
                          <a:ea typeface="Arial"/>
                          <a:cs typeface="Arial"/>
                          <a:sym typeface="Arial"/>
                        </a:rPr>
                        <a:t>inputs + stored state</a:t>
                      </a:r>
                      <a:endParaRPr sz="1500" u="none" cap="none" strike="noStrike">
                        <a:latin typeface="Arial"/>
                        <a:ea typeface="Arial"/>
                        <a:cs typeface="Arial"/>
                        <a:sym typeface="Arial"/>
                      </a:endParaRPr>
                    </a:p>
                  </a:txBody>
                  <a:tcPr marT="66675" marB="66675" marR="66675" marL="66675">
                    <a:lnL cap="flat" cmpd="sng" w="12700">
                      <a:solidFill>
                        <a:srgbClr val="CBC6BF"/>
                      </a:solidFill>
                      <a:prstDash val="solid"/>
                      <a:round/>
                      <a:headEnd len="sm" w="sm" type="none"/>
                      <a:tailEnd len="sm" w="sm" type="none"/>
                    </a:lnL>
                    <a:lnR cap="flat" cmpd="sng" w="12700">
                      <a:solidFill>
                        <a:srgbClr val="CBC6BF"/>
                      </a:solidFill>
                      <a:prstDash val="solid"/>
                      <a:round/>
                      <a:headEnd len="sm" w="sm" type="none"/>
                      <a:tailEnd len="sm" w="sm" type="none"/>
                    </a:lnR>
                    <a:lnT cap="flat" cmpd="sng" w="12700">
                      <a:solidFill>
                        <a:srgbClr val="BCB8B1"/>
                      </a:solidFill>
                      <a:prstDash val="solid"/>
                      <a:round/>
                      <a:headEnd len="sm" w="sm" type="none"/>
                      <a:tailEnd len="sm" w="sm" type="none"/>
                    </a:lnT>
                    <a:lnB cap="flat" cmpd="sng" w="12700">
                      <a:solidFill>
                        <a:srgbClr val="CBC6BF"/>
                      </a:solidFill>
                      <a:prstDash val="solid"/>
                      <a:round/>
                      <a:headEnd len="sm" w="sm" type="none"/>
                      <a:tailEnd len="sm" w="sm" type="none"/>
                    </a:lnB>
                  </a:tcPr>
                </a:tc>
              </a:tr>
              <a:tr h="412750">
                <a:tc>
                  <a:txBody>
                    <a:bodyPr/>
                    <a:lstStyle/>
                    <a:p>
                      <a:pPr indent="0" lvl="0" marL="0" marR="0" rtl="0" algn="l">
                        <a:lnSpc>
                          <a:spcPct val="140000"/>
                        </a:lnSpc>
                        <a:spcBef>
                          <a:spcPts val="0"/>
                        </a:spcBef>
                        <a:spcAft>
                          <a:spcPts val="0"/>
                        </a:spcAft>
                        <a:buClr>
                          <a:srgbClr val="3C4043"/>
                        </a:buClr>
                        <a:buSzPts val="1500"/>
                        <a:buFont typeface="Arial"/>
                        <a:buNone/>
                      </a:pPr>
                      <a:r>
                        <a:rPr lang="en-US" sz="1500" u="none" cap="none" strike="noStrike">
                          <a:solidFill>
                            <a:srgbClr val="3C4043"/>
                          </a:solidFill>
                          <a:latin typeface="Arial"/>
                          <a:ea typeface="Arial"/>
                          <a:cs typeface="Arial"/>
                          <a:sym typeface="Arial"/>
                        </a:rPr>
                        <a:t>Memory</a:t>
                      </a:r>
                      <a:endParaRPr sz="1500" u="none" cap="none" strike="noStrike">
                        <a:latin typeface="Arial"/>
                        <a:ea typeface="Arial"/>
                        <a:cs typeface="Arial"/>
                        <a:sym typeface="Arial"/>
                      </a:endParaRPr>
                    </a:p>
                  </a:txBody>
                  <a:tcPr marT="66675" marB="66675" marR="66675" marL="66675">
                    <a:lnL cap="flat" cmpd="sng" w="12700">
                      <a:solidFill>
                        <a:srgbClr val="CBC6BF"/>
                      </a:solidFill>
                      <a:prstDash val="solid"/>
                      <a:round/>
                      <a:headEnd len="sm" w="sm" type="none"/>
                      <a:tailEnd len="sm" w="sm" type="none"/>
                    </a:lnL>
                    <a:lnR cap="flat" cmpd="sng" w="12700">
                      <a:solidFill>
                        <a:srgbClr val="CBC6BF"/>
                      </a:solidFill>
                      <a:prstDash val="solid"/>
                      <a:round/>
                      <a:headEnd len="sm" w="sm" type="none"/>
                      <a:tailEnd len="sm" w="sm" type="none"/>
                    </a:lnR>
                    <a:lnT cap="flat" cmpd="sng" w="12700">
                      <a:solidFill>
                        <a:srgbClr val="CBC6BF"/>
                      </a:solidFill>
                      <a:prstDash val="solid"/>
                      <a:round/>
                      <a:headEnd len="sm" w="sm" type="none"/>
                      <a:tailEnd len="sm" w="sm" type="none"/>
                    </a:lnT>
                    <a:lnB cap="flat" cmpd="sng" w="12700">
                      <a:solidFill>
                        <a:srgbClr val="CBC6BF"/>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3C4043"/>
                        </a:buClr>
                        <a:buSzPts val="1500"/>
                        <a:buFont typeface="Arial"/>
                        <a:buNone/>
                      </a:pPr>
                      <a:r>
                        <a:rPr lang="en-US" sz="1500" u="none" cap="none" strike="noStrike">
                          <a:solidFill>
                            <a:srgbClr val="3C4043"/>
                          </a:solidFill>
                          <a:latin typeface="Arial"/>
                          <a:ea typeface="Arial"/>
                          <a:cs typeface="Arial"/>
                          <a:sym typeface="Arial"/>
                        </a:rPr>
                        <a:t>none</a:t>
                      </a:r>
                      <a:endParaRPr sz="1500" u="none" cap="none" strike="noStrike">
                        <a:latin typeface="Arial"/>
                        <a:ea typeface="Arial"/>
                        <a:cs typeface="Arial"/>
                        <a:sym typeface="Arial"/>
                      </a:endParaRPr>
                    </a:p>
                  </a:txBody>
                  <a:tcPr marT="66675" marB="66675" marR="66675" marL="66675">
                    <a:lnL cap="flat" cmpd="sng" w="12700">
                      <a:solidFill>
                        <a:srgbClr val="CBC6BF"/>
                      </a:solidFill>
                      <a:prstDash val="solid"/>
                      <a:round/>
                      <a:headEnd len="sm" w="sm" type="none"/>
                      <a:tailEnd len="sm" w="sm" type="none"/>
                    </a:lnL>
                    <a:lnR cap="flat" cmpd="sng" w="12700">
                      <a:solidFill>
                        <a:srgbClr val="CBC6BF"/>
                      </a:solidFill>
                      <a:prstDash val="solid"/>
                      <a:round/>
                      <a:headEnd len="sm" w="sm" type="none"/>
                      <a:tailEnd len="sm" w="sm" type="none"/>
                    </a:lnR>
                    <a:lnT cap="flat" cmpd="sng" w="12700">
                      <a:solidFill>
                        <a:srgbClr val="CBC6BF"/>
                      </a:solidFill>
                      <a:prstDash val="solid"/>
                      <a:round/>
                      <a:headEnd len="sm" w="sm" type="none"/>
                      <a:tailEnd len="sm" w="sm" type="none"/>
                    </a:lnT>
                    <a:lnB cap="flat" cmpd="sng" w="12700">
                      <a:solidFill>
                        <a:srgbClr val="CBC6BF"/>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3C4043"/>
                        </a:buClr>
                        <a:buSzPts val="1500"/>
                        <a:buFont typeface="Arial"/>
                        <a:buNone/>
                      </a:pPr>
                      <a:r>
                        <a:rPr lang="en-US" sz="1500" u="none" cap="none" strike="noStrike">
                          <a:solidFill>
                            <a:srgbClr val="3C4043"/>
                          </a:solidFill>
                          <a:latin typeface="Arial"/>
                          <a:ea typeface="Arial"/>
                          <a:cs typeface="Arial"/>
                          <a:sym typeface="Arial"/>
                        </a:rPr>
                        <a:t>flip-flops</a:t>
                      </a:r>
                      <a:endParaRPr sz="1500" u="none" cap="none" strike="noStrike">
                        <a:latin typeface="Arial"/>
                        <a:ea typeface="Arial"/>
                        <a:cs typeface="Arial"/>
                        <a:sym typeface="Arial"/>
                      </a:endParaRPr>
                    </a:p>
                  </a:txBody>
                  <a:tcPr marT="66675" marB="66675" marR="66675" marL="66675">
                    <a:lnL cap="flat" cmpd="sng" w="12700">
                      <a:solidFill>
                        <a:srgbClr val="CBC6BF"/>
                      </a:solidFill>
                      <a:prstDash val="solid"/>
                      <a:round/>
                      <a:headEnd len="sm" w="sm" type="none"/>
                      <a:tailEnd len="sm" w="sm" type="none"/>
                    </a:lnL>
                    <a:lnR cap="flat" cmpd="sng" w="12700">
                      <a:solidFill>
                        <a:srgbClr val="CBC6BF"/>
                      </a:solidFill>
                      <a:prstDash val="solid"/>
                      <a:round/>
                      <a:headEnd len="sm" w="sm" type="none"/>
                      <a:tailEnd len="sm" w="sm" type="none"/>
                    </a:lnR>
                    <a:lnT cap="flat" cmpd="sng" w="12700">
                      <a:solidFill>
                        <a:srgbClr val="CBC6BF"/>
                      </a:solidFill>
                      <a:prstDash val="solid"/>
                      <a:round/>
                      <a:headEnd len="sm" w="sm" type="none"/>
                      <a:tailEnd len="sm" w="sm" type="none"/>
                    </a:lnT>
                    <a:lnB cap="flat" cmpd="sng" w="12700">
                      <a:solidFill>
                        <a:srgbClr val="CBC6BF"/>
                      </a:solidFill>
                      <a:prstDash val="solid"/>
                      <a:round/>
                      <a:headEnd len="sm" w="sm" type="none"/>
                      <a:tailEnd len="sm" w="sm" type="none"/>
                    </a:lnB>
                  </a:tcPr>
                </a:tc>
              </a:tr>
              <a:tr h="412750">
                <a:tc>
                  <a:txBody>
                    <a:bodyPr/>
                    <a:lstStyle/>
                    <a:p>
                      <a:pPr indent="0" lvl="0" marL="0" marR="0" rtl="0" algn="l">
                        <a:lnSpc>
                          <a:spcPct val="140000"/>
                        </a:lnSpc>
                        <a:spcBef>
                          <a:spcPts val="0"/>
                        </a:spcBef>
                        <a:spcAft>
                          <a:spcPts val="0"/>
                        </a:spcAft>
                        <a:buClr>
                          <a:srgbClr val="3C4043"/>
                        </a:buClr>
                        <a:buSzPts val="1500"/>
                        <a:buFont typeface="Arial"/>
                        <a:buNone/>
                      </a:pPr>
                      <a:r>
                        <a:rPr lang="en-US" sz="1500" u="none" cap="none" strike="noStrike">
                          <a:solidFill>
                            <a:srgbClr val="3C4043"/>
                          </a:solidFill>
                          <a:latin typeface="Arial"/>
                          <a:ea typeface="Arial"/>
                          <a:cs typeface="Arial"/>
                          <a:sym typeface="Arial"/>
                        </a:rPr>
                        <a:t>SV block</a:t>
                      </a:r>
                      <a:endParaRPr sz="1500" u="none" cap="none" strike="noStrike">
                        <a:latin typeface="Arial"/>
                        <a:ea typeface="Arial"/>
                        <a:cs typeface="Arial"/>
                        <a:sym typeface="Arial"/>
                      </a:endParaRPr>
                    </a:p>
                  </a:txBody>
                  <a:tcPr marT="66675" marB="66675" marR="66675" marL="66675">
                    <a:lnL cap="flat" cmpd="sng" w="12700">
                      <a:solidFill>
                        <a:srgbClr val="CBC6BF"/>
                      </a:solidFill>
                      <a:prstDash val="solid"/>
                      <a:round/>
                      <a:headEnd len="sm" w="sm" type="none"/>
                      <a:tailEnd len="sm" w="sm" type="none"/>
                    </a:lnL>
                    <a:lnR cap="flat" cmpd="sng" w="12700">
                      <a:solidFill>
                        <a:srgbClr val="CBC6BF"/>
                      </a:solidFill>
                      <a:prstDash val="solid"/>
                      <a:round/>
                      <a:headEnd len="sm" w="sm" type="none"/>
                      <a:tailEnd len="sm" w="sm" type="none"/>
                    </a:lnR>
                    <a:lnT cap="flat" cmpd="sng" w="12700">
                      <a:solidFill>
                        <a:srgbClr val="CBC6BF"/>
                      </a:solidFill>
                      <a:prstDash val="solid"/>
                      <a:round/>
                      <a:headEnd len="sm" w="sm" type="none"/>
                      <a:tailEnd len="sm" w="sm" type="none"/>
                    </a:lnT>
                    <a:lnB cap="flat" cmpd="sng" w="12700">
                      <a:solidFill>
                        <a:srgbClr val="CBC6BF"/>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3C4043"/>
                        </a:buClr>
                        <a:buSzPts val="1500"/>
                        <a:buFont typeface="Arial"/>
                        <a:buNone/>
                      </a:pPr>
                      <a:r>
                        <a:rPr lang="en-US" sz="1500" u="none" cap="none" strike="noStrike">
                          <a:solidFill>
                            <a:srgbClr val="3C4043"/>
                          </a:solidFill>
                          <a:latin typeface="Arial"/>
                          <a:ea typeface="Arial"/>
                          <a:cs typeface="Arial"/>
                          <a:sym typeface="Arial"/>
                        </a:rPr>
                        <a:t>assign / always_comb</a:t>
                      </a:r>
                      <a:endParaRPr sz="1500" u="none" cap="none" strike="noStrike">
                        <a:latin typeface="Arial"/>
                        <a:ea typeface="Arial"/>
                        <a:cs typeface="Arial"/>
                        <a:sym typeface="Arial"/>
                      </a:endParaRPr>
                    </a:p>
                  </a:txBody>
                  <a:tcPr marT="66675" marB="66675" marR="66675" marL="66675">
                    <a:lnL cap="flat" cmpd="sng" w="12700">
                      <a:solidFill>
                        <a:srgbClr val="CBC6BF"/>
                      </a:solidFill>
                      <a:prstDash val="solid"/>
                      <a:round/>
                      <a:headEnd len="sm" w="sm" type="none"/>
                      <a:tailEnd len="sm" w="sm" type="none"/>
                    </a:lnL>
                    <a:lnR cap="flat" cmpd="sng" w="12700">
                      <a:solidFill>
                        <a:srgbClr val="CBC6BF"/>
                      </a:solidFill>
                      <a:prstDash val="solid"/>
                      <a:round/>
                      <a:headEnd len="sm" w="sm" type="none"/>
                      <a:tailEnd len="sm" w="sm" type="none"/>
                    </a:lnR>
                    <a:lnT cap="flat" cmpd="sng" w="12700">
                      <a:solidFill>
                        <a:srgbClr val="CBC6BF"/>
                      </a:solidFill>
                      <a:prstDash val="solid"/>
                      <a:round/>
                      <a:headEnd len="sm" w="sm" type="none"/>
                      <a:tailEnd len="sm" w="sm" type="none"/>
                    </a:lnT>
                    <a:lnB cap="flat" cmpd="sng" w="12700">
                      <a:solidFill>
                        <a:srgbClr val="CBC6BF"/>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3C4043"/>
                        </a:buClr>
                        <a:buSzPts val="1500"/>
                        <a:buFont typeface="Arial"/>
                        <a:buNone/>
                      </a:pPr>
                      <a:r>
                        <a:rPr lang="en-US" sz="1500" u="none" cap="none" strike="noStrike">
                          <a:solidFill>
                            <a:srgbClr val="3C4043"/>
                          </a:solidFill>
                          <a:latin typeface="Arial"/>
                          <a:ea typeface="Arial"/>
                          <a:cs typeface="Arial"/>
                          <a:sym typeface="Arial"/>
                        </a:rPr>
                        <a:t>always_ff @(posedge clk)</a:t>
                      </a:r>
                      <a:endParaRPr sz="1500" u="none" cap="none" strike="noStrike">
                        <a:latin typeface="Arial"/>
                        <a:ea typeface="Arial"/>
                        <a:cs typeface="Arial"/>
                        <a:sym typeface="Arial"/>
                      </a:endParaRPr>
                    </a:p>
                  </a:txBody>
                  <a:tcPr marT="66675" marB="66675" marR="66675" marL="66675">
                    <a:lnL cap="flat" cmpd="sng" w="12700">
                      <a:solidFill>
                        <a:srgbClr val="CBC6BF"/>
                      </a:solidFill>
                      <a:prstDash val="solid"/>
                      <a:round/>
                      <a:headEnd len="sm" w="sm" type="none"/>
                      <a:tailEnd len="sm" w="sm" type="none"/>
                    </a:lnL>
                    <a:lnR cap="flat" cmpd="sng" w="12700">
                      <a:solidFill>
                        <a:srgbClr val="CBC6BF"/>
                      </a:solidFill>
                      <a:prstDash val="solid"/>
                      <a:round/>
                      <a:headEnd len="sm" w="sm" type="none"/>
                      <a:tailEnd len="sm" w="sm" type="none"/>
                    </a:lnR>
                    <a:lnT cap="flat" cmpd="sng" w="12700">
                      <a:solidFill>
                        <a:srgbClr val="CBC6BF"/>
                      </a:solidFill>
                      <a:prstDash val="solid"/>
                      <a:round/>
                      <a:headEnd len="sm" w="sm" type="none"/>
                      <a:tailEnd len="sm" w="sm" type="none"/>
                    </a:lnT>
                    <a:lnB cap="flat" cmpd="sng" w="12700">
                      <a:solidFill>
                        <a:srgbClr val="CBC6BF"/>
                      </a:solidFill>
                      <a:prstDash val="solid"/>
                      <a:round/>
                      <a:headEnd len="sm" w="sm" type="none"/>
                      <a:tailEnd len="sm" w="sm" type="none"/>
                    </a:lnB>
                  </a:tcPr>
                </a:tc>
              </a:tr>
              <a:tr h="412750">
                <a:tc>
                  <a:txBody>
                    <a:bodyPr/>
                    <a:lstStyle/>
                    <a:p>
                      <a:pPr indent="0" lvl="0" marL="0" marR="0" rtl="0" algn="l">
                        <a:lnSpc>
                          <a:spcPct val="140000"/>
                        </a:lnSpc>
                        <a:spcBef>
                          <a:spcPts val="0"/>
                        </a:spcBef>
                        <a:spcAft>
                          <a:spcPts val="0"/>
                        </a:spcAft>
                        <a:buClr>
                          <a:srgbClr val="3C4043"/>
                        </a:buClr>
                        <a:buSzPts val="1500"/>
                        <a:buFont typeface="Arial"/>
                        <a:buNone/>
                      </a:pPr>
                      <a:r>
                        <a:rPr lang="en-US" sz="1500" u="none" cap="none" strike="noStrike">
                          <a:solidFill>
                            <a:srgbClr val="3C4043"/>
                          </a:solidFill>
                          <a:latin typeface="Arial"/>
                          <a:ea typeface="Arial"/>
                          <a:cs typeface="Arial"/>
                          <a:sym typeface="Arial"/>
                        </a:rPr>
                        <a:t>Assignment</a:t>
                      </a:r>
                      <a:endParaRPr sz="1500" u="none" cap="none" strike="noStrike">
                        <a:latin typeface="Arial"/>
                        <a:ea typeface="Arial"/>
                        <a:cs typeface="Arial"/>
                        <a:sym typeface="Arial"/>
                      </a:endParaRPr>
                    </a:p>
                  </a:txBody>
                  <a:tcPr marT="66675" marB="66675" marR="66675" marL="66675">
                    <a:lnL cap="flat" cmpd="sng" w="12700">
                      <a:solidFill>
                        <a:srgbClr val="CBC6BF"/>
                      </a:solidFill>
                      <a:prstDash val="solid"/>
                      <a:round/>
                      <a:headEnd len="sm" w="sm" type="none"/>
                      <a:tailEnd len="sm" w="sm" type="none"/>
                    </a:lnL>
                    <a:lnR cap="flat" cmpd="sng" w="12700">
                      <a:solidFill>
                        <a:srgbClr val="CBC6BF"/>
                      </a:solidFill>
                      <a:prstDash val="solid"/>
                      <a:round/>
                      <a:headEnd len="sm" w="sm" type="none"/>
                      <a:tailEnd len="sm" w="sm" type="none"/>
                    </a:lnR>
                    <a:lnT cap="flat" cmpd="sng" w="12700">
                      <a:solidFill>
                        <a:srgbClr val="CBC6BF"/>
                      </a:solidFill>
                      <a:prstDash val="solid"/>
                      <a:round/>
                      <a:headEnd len="sm" w="sm" type="none"/>
                      <a:tailEnd len="sm" w="sm" type="none"/>
                    </a:lnT>
                    <a:lnB cap="flat" cmpd="sng" w="12700">
                      <a:solidFill>
                        <a:srgbClr val="CBC6BF"/>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3C4043"/>
                        </a:buClr>
                        <a:buSzPts val="1500"/>
                        <a:buFont typeface="Arial"/>
                        <a:buNone/>
                      </a:pPr>
                      <a:r>
                        <a:rPr lang="en-US" sz="1500" u="none" cap="none" strike="noStrike">
                          <a:solidFill>
                            <a:srgbClr val="3C4043"/>
                          </a:solidFill>
                          <a:latin typeface="Arial"/>
                          <a:ea typeface="Arial"/>
                          <a:cs typeface="Arial"/>
                          <a:sym typeface="Arial"/>
                        </a:rPr>
                        <a:t>blocking =</a:t>
                      </a:r>
                      <a:endParaRPr sz="1500" u="none" cap="none" strike="noStrike">
                        <a:latin typeface="Arial"/>
                        <a:ea typeface="Arial"/>
                        <a:cs typeface="Arial"/>
                        <a:sym typeface="Arial"/>
                      </a:endParaRPr>
                    </a:p>
                  </a:txBody>
                  <a:tcPr marT="66675" marB="66675" marR="66675" marL="66675">
                    <a:lnL cap="flat" cmpd="sng" w="12700">
                      <a:solidFill>
                        <a:srgbClr val="CBC6BF"/>
                      </a:solidFill>
                      <a:prstDash val="solid"/>
                      <a:round/>
                      <a:headEnd len="sm" w="sm" type="none"/>
                      <a:tailEnd len="sm" w="sm" type="none"/>
                    </a:lnL>
                    <a:lnR cap="flat" cmpd="sng" w="12700">
                      <a:solidFill>
                        <a:srgbClr val="CBC6BF"/>
                      </a:solidFill>
                      <a:prstDash val="solid"/>
                      <a:round/>
                      <a:headEnd len="sm" w="sm" type="none"/>
                      <a:tailEnd len="sm" w="sm" type="none"/>
                    </a:lnR>
                    <a:lnT cap="flat" cmpd="sng" w="12700">
                      <a:solidFill>
                        <a:srgbClr val="CBC6BF"/>
                      </a:solidFill>
                      <a:prstDash val="solid"/>
                      <a:round/>
                      <a:headEnd len="sm" w="sm" type="none"/>
                      <a:tailEnd len="sm" w="sm" type="none"/>
                    </a:lnT>
                    <a:lnB cap="flat" cmpd="sng" w="12700">
                      <a:solidFill>
                        <a:srgbClr val="CBC6BF"/>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3C4043"/>
                        </a:buClr>
                        <a:buSzPts val="1500"/>
                        <a:buFont typeface="Arial"/>
                        <a:buNone/>
                      </a:pPr>
                      <a:r>
                        <a:rPr lang="en-US" sz="1500" u="none" cap="none" strike="noStrike">
                          <a:solidFill>
                            <a:srgbClr val="3C4043"/>
                          </a:solidFill>
                          <a:latin typeface="Arial"/>
                          <a:ea typeface="Arial"/>
                          <a:cs typeface="Arial"/>
                          <a:sym typeface="Arial"/>
                        </a:rPr>
                        <a:t>nonblocking &lt;=</a:t>
                      </a:r>
                      <a:endParaRPr sz="1500" u="none" cap="none" strike="noStrike">
                        <a:latin typeface="Arial"/>
                        <a:ea typeface="Arial"/>
                        <a:cs typeface="Arial"/>
                        <a:sym typeface="Arial"/>
                      </a:endParaRPr>
                    </a:p>
                  </a:txBody>
                  <a:tcPr marT="66675" marB="66675" marR="66675" marL="66675">
                    <a:lnL cap="flat" cmpd="sng" w="12700">
                      <a:solidFill>
                        <a:srgbClr val="CBC6BF"/>
                      </a:solidFill>
                      <a:prstDash val="solid"/>
                      <a:round/>
                      <a:headEnd len="sm" w="sm" type="none"/>
                      <a:tailEnd len="sm" w="sm" type="none"/>
                    </a:lnL>
                    <a:lnR cap="flat" cmpd="sng" w="12700">
                      <a:solidFill>
                        <a:srgbClr val="CBC6BF"/>
                      </a:solidFill>
                      <a:prstDash val="solid"/>
                      <a:round/>
                      <a:headEnd len="sm" w="sm" type="none"/>
                      <a:tailEnd len="sm" w="sm" type="none"/>
                    </a:lnR>
                    <a:lnT cap="flat" cmpd="sng" w="12700">
                      <a:solidFill>
                        <a:srgbClr val="CBC6BF"/>
                      </a:solidFill>
                      <a:prstDash val="solid"/>
                      <a:round/>
                      <a:headEnd len="sm" w="sm" type="none"/>
                      <a:tailEnd len="sm" w="sm" type="none"/>
                    </a:lnT>
                    <a:lnB cap="flat" cmpd="sng" w="12700">
                      <a:solidFill>
                        <a:srgbClr val="CBC6BF"/>
                      </a:solidFill>
                      <a:prstDash val="solid"/>
                      <a:round/>
                      <a:headEnd len="sm" w="sm" type="none"/>
                      <a:tailEnd len="sm" w="sm" type="none"/>
                    </a:lnB>
                  </a:tcPr>
                </a:tc>
              </a:tr>
              <a:tr h="679450">
                <a:tc>
                  <a:txBody>
                    <a:bodyPr/>
                    <a:lstStyle/>
                    <a:p>
                      <a:pPr indent="0" lvl="0" marL="0" marR="0" rtl="0" algn="l">
                        <a:lnSpc>
                          <a:spcPct val="140000"/>
                        </a:lnSpc>
                        <a:spcBef>
                          <a:spcPts val="0"/>
                        </a:spcBef>
                        <a:spcAft>
                          <a:spcPts val="0"/>
                        </a:spcAft>
                        <a:buClr>
                          <a:srgbClr val="3C4043"/>
                        </a:buClr>
                        <a:buSzPts val="1500"/>
                        <a:buFont typeface="Arial"/>
                        <a:buNone/>
                      </a:pPr>
                      <a:r>
                        <a:rPr lang="en-US" sz="1500" u="none" cap="none" strike="noStrike">
                          <a:solidFill>
                            <a:srgbClr val="3C4043"/>
                          </a:solidFill>
                          <a:latin typeface="Arial"/>
                          <a:ea typeface="Arial"/>
                          <a:cs typeface="Arial"/>
                          <a:sym typeface="Arial"/>
                        </a:rPr>
                        <a:t>Building blocks</a:t>
                      </a:r>
                      <a:endParaRPr sz="1500" u="none" cap="none" strike="noStrike">
                        <a:latin typeface="Arial"/>
                        <a:ea typeface="Arial"/>
                        <a:cs typeface="Arial"/>
                        <a:sym typeface="Arial"/>
                      </a:endParaRPr>
                    </a:p>
                  </a:txBody>
                  <a:tcPr marT="66675" marB="66675" marR="66675" marL="66675">
                    <a:lnL cap="flat" cmpd="sng" w="12700">
                      <a:solidFill>
                        <a:srgbClr val="CBC6BF"/>
                      </a:solidFill>
                      <a:prstDash val="solid"/>
                      <a:round/>
                      <a:headEnd len="sm" w="sm" type="none"/>
                      <a:tailEnd len="sm" w="sm" type="none"/>
                    </a:lnL>
                    <a:lnR cap="flat" cmpd="sng" w="12700">
                      <a:solidFill>
                        <a:srgbClr val="CBC6BF"/>
                      </a:solidFill>
                      <a:prstDash val="solid"/>
                      <a:round/>
                      <a:headEnd len="sm" w="sm" type="none"/>
                      <a:tailEnd len="sm" w="sm" type="none"/>
                    </a:lnR>
                    <a:lnT cap="flat" cmpd="sng" w="12700">
                      <a:solidFill>
                        <a:srgbClr val="CBC6BF"/>
                      </a:solidFill>
                      <a:prstDash val="solid"/>
                      <a:round/>
                      <a:headEnd len="sm" w="sm" type="none"/>
                      <a:tailEnd len="sm" w="sm" type="none"/>
                    </a:lnT>
                    <a:lnB cap="flat" cmpd="sng" w="12700">
                      <a:solidFill>
                        <a:srgbClr val="CBC6BF"/>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3C4043"/>
                        </a:buClr>
                        <a:buSzPts val="1500"/>
                        <a:buFont typeface="Arial"/>
                        <a:buNone/>
                      </a:pPr>
                      <a:r>
                        <a:rPr lang="en-US" sz="1500" u="none" cap="none" strike="noStrike">
                          <a:solidFill>
                            <a:srgbClr val="3C4043"/>
                          </a:solidFill>
                          <a:latin typeface="Arial"/>
                          <a:ea typeface="Arial"/>
                          <a:cs typeface="Arial"/>
                          <a:sym typeface="Arial"/>
                        </a:rPr>
                        <a:t>mux, decoder, adder, ALU, comparator, priority encoder</a:t>
                      </a:r>
                      <a:endParaRPr sz="1500" u="none" cap="none" strike="noStrike">
                        <a:latin typeface="Arial"/>
                        <a:ea typeface="Arial"/>
                        <a:cs typeface="Arial"/>
                        <a:sym typeface="Arial"/>
                      </a:endParaRPr>
                    </a:p>
                  </a:txBody>
                  <a:tcPr marT="66675" marB="66675" marR="66675" marL="66675">
                    <a:lnL cap="flat" cmpd="sng" w="12700">
                      <a:solidFill>
                        <a:srgbClr val="CBC6BF"/>
                      </a:solidFill>
                      <a:prstDash val="solid"/>
                      <a:round/>
                      <a:headEnd len="sm" w="sm" type="none"/>
                      <a:tailEnd len="sm" w="sm" type="none"/>
                    </a:lnL>
                    <a:lnR cap="flat" cmpd="sng" w="12700">
                      <a:solidFill>
                        <a:srgbClr val="CBC6BF"/>
                      </a:solidFill>
                      <a:prstDash val="solid"/>
                      <a:round/>
                      <a:headEnd len="sm" w="sm" type="none"/>
                      <a:tailEnd len="sm" w="sm" type="none"/>
                    </a:lnR>
                    <a:lnT cap="flat" cmpd="sng" w="12700">
                      <a:solidFill>
                        <a:srgbClr val="CBC6BF"/>
                      </a:solidFill>
                      <a:prstDash val="solid"/>
                      <a:round/>
                      <a:headEnd len="sm" w="sm" type="none"/>
                      <a:tailEnd len="sm" w="sm" type="none"/>
                    </a:lnT>
                    <a:lnB cap="flat" cmpd="sng" w="12700">
                      <a:solidFill>
                        <a:srgbClr val="CBC6BF"/>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3C4043"/>
                        </a:buClr>
                        <a:buSzPts val="1500"/>
                        <a:buFont typeface="Arial"/>
                        <a:buNone/>
                      </a:pPr>
                      <a:r>
                        <a:rPr lang="en-US" sz="1500" u="none" cap="none" strike="noStrike">
                          <a:solidFill>
                            <a:srgbClr val="3C4043"/>
                          </a:solidFill>
                          <a:latin typeface="Arial"/>
                          <a:ea typeface="Arial"/>
                          <a:cs typeface="Arial"/>
                          <a:sym typeface="Arial"/>
                        </a:rPr>
                        <a:t>register, counter, shift register</a:t>
                      </a:r>
                      <a:endParaRPr sz="1500" u="none" cap="none" strike="noStrike">
                        <a:latin typeface="Arial"/>
                        <a:ea typeface="Arial"/>
                        <a:cs typeface="Arial"/>
                        <a:sym typeface="Arial"/>
                      </a:endParaRPr>
                    </a:p>
                  </a:txBody>
                  <a:tcPr marT="66675" marB="66675" marR="66675" marL="66675">
                    <a:lnL cap="flat" cmpd="sng" w="12700">
                      <a:solidFill>
                        <a:srgbClr val="CBC6BF"/>
                      </a:solidFill>
                      <a:prstDash val="solid"/>
                      <a:round/>
                      <a:headEnd len="sm" w="sm" type="none"/>
                      <a:tailEnd len="sm" w="sm" type="none"/>
                    </a:lnL>
                    <a:lnR cap="flat" cmpd="sng" w="12700">
                      <a:solidFill>
                        <a:srgbClr val="CBC6BF"/>
                      </a:solidFill>
                      <a:prstDash val="solid"/>
                      <a:round/>
                      <a:headEnd len="sm" w="sm" type="none"/>
                      <a:tailEnd len="sm" w="sm" type="none"/>
                    </a:lnR>
                    <a:lnT cap="flat" cmpd="sng" w="12700">
                      <a:solidFill>
                        <a:srgbClr val="CBC6BF"/>
                      </a:solidFill>
                      <a:prstDash val="solid"/>
                      <a:round/>
                      <a:headEnd len="sm" w="sm" type="none"/>
                      <a:tailEnd len="sm" w="sm" type="none"/>
                    </a:lnT>
                    <a:lnB cap="flat" cmpd="sng" w="12700">
                      <a:solidFill>
                        <a:srgbClr val="CBC6BF"/>
                      </a:solidFill>
                      <a:prstDash val="solid"/>
                      <a:round/>
                      <a:headEnd len="sm" w="sm" type="none"/>
                      <a:tailEnd len="sm" w="sm" type="none"/>
                    </a:lnB>
                  </a:tcPr>
                </a:tc>
              </a:tr>
              <a:tr h="412750">
                <a:tc>
                  <a:txBody>
                    <a:bodyPr/>
                    <a:lstStyle/>
                    <a:p>
                      <a:pPr indent="0" lvl="0" marL="0" marR="0" rtl="0" algn="l">
                        <a:lnSpc>
                          <a:spcPct val="140000"/>
                        </a:lnSpc>
                        <a:spcBef>
                          <a:spcPts val="0"/>
                        </a:spcBef>
                        <a:spcAft>
                          <a:spcPts val="0"/>
                        </a:spcAft>
                        <a:buClr>
                          <a:srgbClr val="3C4043"/>
                        </a:buClr>
                        <a:buSzPts val="1500"/>
                        <a:buFont typeface="Arial"/>
                        <a:buNone/>
                      </a:pPr>
                      <a:r>
                        <a:rPr lang="en-US" sz="1500" u="none" cap="none" strike="noStrike">
                          <a:solidFill>
                            <a:srgbClr val="3C4043"/>
                          </a:solidFill>
                          <a:latin typeface="Arial"/>
                          <a:ea typeface="Arial"/>
                          <a:cs typeface="Arial"/>
                          <a:sym typeface="Arial"/>
                        </a:rPr>
                        <a:t>Classic bug</a:t>
                      </a:r>
                      <a:endParaRPr sz="1500" u="none" cap="none" strike="noStrike">
                        <a:latin typeface="Arial"/>
                        <a:ea typeface="Arial"/>
                        <a:cs typeface="Arial"/>
                        <a:sym typeface="Arial"/>
                      </a:endParaRPr>
                    </a:p>
                  </a:txBody>
                  <a:tcPr marT="66675" marB="66675" marR="66675" marL="66675">
                    <a:lnL cap="flat" cmpd="sng" w="12700">
                      <a:solidFill>
                        <a:srgbClr val="CBC6BF"/>
                      </a:solidFill>
                      <a:prstDash val="solid"/>
                      <a:round/>
                      <a:headEnd len="sm" w="sm" type="none"/>
                      <a:tailEnd len="sm" w="sm" type="none"/>
                    </a:lnL>
                    <a:lnR cap="flat" cmpd="sng" w="12700">
                      <a:solidFill>
                        <a:srgbClr val="CBC6BF"/>
                      </a:solidFill>
                      <a:prstDash val="solid"/>
                      <a:round/>
                      <a:headEnd len="sm" w="sm" type="none"/>
                      <a:tailEnd len="sm" w="sm" type="none"/>
                    </a:lnR>
                    <a:lnT cap="flat" cmpd="sng" w="12700">
                      <a:solidFill>
                        <a:srgbClr val="CBC6BF"/>
                      </a:solidFill>
                      <a:prstDash val="solid"/>
                      <a:round/>
                      <a:headEnd len="sm" w="sm" type="none"/>
                      <a:tailEnd len="sm" w="sm" type="none"/>
                    </a:lnT>
                    <a:lnB cap="flat" cmpd="sng" w="12700">
                      <a:solidFill>
                        <a:srgbClr val="CBC6BF"/>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3C4043"/>
                        </a:buClr>
                        <a:buSzPts val="1500"/>
                        <a:buFont typeface="Arial"/>
                        <a:buNone/>
                      </a:pPr>
                      <a:r>
                        <a:rPr lang="en-US" sz="1500" u="none" cap="none" strike="noStrike">
                          <a:solidFill>
                            <a:srgbClr val="3C4043"/>
                          </a:solidFill>
                          <a:latin typeface="Arial"/>
                          <a:ea typeface="Arial"/>
                          <a:cs typeface="Arial"/>
                          <a:sym typeface="Arial"/>
                        </a:rPr>
                        <a:t>unintended latch, loops</a:t>
                      </a:r>
                      <a:endParaRPr sz="1500" u="none" cap="none" strike="noStrike">
                        <a:latin typeface="Arial"/>
                        <a:ea typeface="Arial"/>
                        <a:cs typeface="Arial"/>
                        <a:sym typeface="Arial"/>
                      </a:endParaRPr>
                    </a:p>
                  </a:txBody>
                  <a:tcPr marT="66675" marB="66675" marR="66675" marL="66675">
                    <a:lnL cap="flat" cmpd="sng" w="12700">
                      <a:solidFill>
                        <a:srgbClr val="CBC6BF"/>
                      </a:solidFill>
                      <a:prstDash val="solid"/>
                      <a:round/>
                      <a:headEnd len="sm" w="sm" type="none"/>
                      <a:tailEnd len="sm" w="sm" type="none"/>
                    </a:lnL>
                    <a:lnR cap="flat" cmpd="sng" w="12700">
                      <a:solidFill>
                        <a:srgbClr val="CBC6BF"/>
                      </a:solidFill>
                      <a:prstDash val="solid"/>
                      <a:round/>
                      <a:headEnd len="sm" w="sm" type="none"/>
                      <a:tailEnd len="sm" w="sm" type="none"/>
                    </a:lnR>
                    <a:lnT cap="flat" cmpd="sng" w="12700">
                      <a:solidFill>
                        <a:srgbClr val="CBC6BF"/>
                      </a:solidFill>
                      <a:prstDash val="solid"/>
                      <a:round/>
                      <a:headEnd len="sm" w="sm" type="none"/>
                      <a:tailEnd len="sm" w="sm" type="none"/>
                    </a:lnT>
                    <a:lnB cap="flat" cmpd="sng" w="12700">
                      <a:solidFill>
                        <a:srgbClr val="CBC6BF"/>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3C4043"/>
                        </a:buClr>
                        <a:buSzPts val="1500"/>
                        <a:buFont typeface="Arial"/>
                        <a:buNone/>
                      </a:pPr>
                      <a:r>
                        <a:rPr lang="en-US" sz="1500" u="none" cap="none" strike="noStrike">
                          <a:solidFill>
                            <a:srgbClr val="3C4043"/>
                          </a:solidFill>
                          <a:latin typeface="Arial"/>
                          <a:ea typeface="Arial"/>
                          <a:cs typeface="Arial"/>
                          <a:sym typeface="Arial"/>
                        </a:rPr>
                        <a:t>gated clocks, wrong clock</a:t>
                      </a:r>
                      <a:endParaRPr sz="1500" u="none" cap="none" strike="noStrike">
                        <a:latin typeface="Arial"/>
                        <a:ea typeface="Arial"/>
                        <a:cs typeface="Arial"/>
                        <a:sym typeface="Arial"/>
                      </a:endParaRPr>
                    </a:p>
                  </a:txBody>
                  <a:tcPr marT="66675" marB="66675" marR="66675" marL="66675">
                    <a:lnL cap="flat" cmpd="sng" w="12700">
                      <a:solidFill>
                        <a:srgbClr val="CBC6BF"/>
                      </a:solidFill>
                      <a:prstDash val="solid"/>
                      <a:round/>
                      <a:headEnd len="sm" w="sm" type="none"/>
                      <a:tailEnd len="sm" w="sm" type="none"/>
                    </a:lnL>
                    <a:lnR cap="flat" cmpd="sng" w="12700">
                      <a:solidFill>
                        <a:srgbClr val="CBC6BF"/>
                      </a:solidFill>
                      <a:prstDash val="solid"/>
                      <a:round/>
                      <a:headEnd len="sm" w="sm" type="none"/>
                      <a:tailEnd len="sm" w="sm" type="none"/>
                    </a:lnR>
                    <a:lnT cap="flat" cmpd="sng" w="12700">
                      <a:solidFill>
                        <a:srgbClr val="CBC6BF"/>
                      </a:solidFill>
                      <a:prstDash val="solid"/>
                      <a:round/>
                      <a:headEnd len="sm" w="sm" type="none"/>
                      <a:tailEnd len="sm" w="sm" type="none"/>
                    </a:lnT>
                    <a:lnB cap="flat" cmpd="sng" w="12700">
                      <a:solidFill>
                        <a:srgbClr val="CBC6BF"/>
                      </a:solidFill>
                      <a:prstDash val="solid"/>
                      <a:round/>
                      <a:headEnd len="sm" w="sm" type="none"/>
                      <a:tailEnd len="sm" w="sm" type="none"/>
                    </a:lnB>
                  </a:tcPr>
                </a:tc>
              </a:tr>
            </a:tbl>
          </a:graphicData>
        </a:graphic>
      </p:graphicFrame>
      <p:sp>
        <p:nvSpPr>
          <p:cNvPr id="444" name="Google Shape;444;p29"/>
          <p:cNvSpPr/>
          <p:nvPr/>
        </p:nvSpPr>
        <p:spPr>
          <a:xfrm>
            <a:off x="736600" y="5111750"/>
            <a:ext cx="10961878" cy="292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4E52"/>
              </a:buClr>
              <a:buSzPts val="1500"/>
              <a:buFont typeface="Arial"/>
              <a:buNone/>
            </a:pPr>
            <a:r>
              <a:rPr b="0" i="0" lang="en-US" sz="1500" u="none" cap="none" strike="noStrike">
                <a:solidFill>
                  <a:srgbClr val="4A4E52"/>
                </a:solidFill>
                <a:latin typeface="Arial"/>
                <a:ea typeface="Arial"/>
                <a:cs typeface="Arial"/>
                <a:sym typeface="Arial"/>
              </a:rPr>
              <a:t>Real designs use both: combinational logic computes, flip-flops remember.</a:t>
            </a:r>
            <a:endParaRPr b="0" i="0" sz="1500" u="none" cap="none" strike="noStrike">
              <a:solidFill>
                <a:schemeClr val="dk1"/>
              </a:solidFill>
              <a:latin typeface="Arial"/>
              <a:ea typeface="Arial"/>
              <a:cs typeface="Arial"/>
              <a:sym typeface="Arial"/>
            </a:endParaRPr>
          </a:p>
        </p:txBody>
      </p:sp>
      <p:sp>
        <p:nvSpPr>
          <p:cNvPr id="445" name="Google Shape;445;p29"/>
          <p:cNvSpPr/>
          <p:nvPr/>
        </p:nvSpPr>
        <p:spPr>
          <a:xfrm>
            <a:off x="10566400" y="6238280"/>
            <a:ext cx="812800" cy="23872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3C4043"/>
              </a:buClr>
              <a:buSzPts val="1200"/>
              <a:buFont typeface="Arial"/>
              <a:buNone/>
            </a:pPr>
            <a:r>
              <a:rPr b="0" i="0" lang="en-US" sz="1200" u="none" cap="none" strike="noStrike">
                <a:solidFill>
                  <a:srgbClr val="3C4043"/>
                </a:solidFill>
                <a:latin typeface="Arial"/>
                <a:ea typeface="Arial"/>
                <a:cs typeface="Arial"/>
                <a:sym typeface="Arial"/>
              </a:rPr>
              <a:t>26</a:t>
            </a:r>
            <a:endParaRPr b="0" i="0" sz="1200" u="none" cap="none" strike="noStrike">
              <a:solidFill>
                <a:schemeClr val="dk1"/>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0DC"/>
        </a:solidFill>
      </p:bgPr>
    </p:bg>
    <p:spTree>
      <p:nvGrpSpPr>
        <p:cNvPr id="450" name="Shape 450"/>
        <p:cNvGrpSpPr/>
        <p:nvPr/>
      </p:nvGrpSpPr>
      <p:grpSpPr>
        <a:xfrm>
          <a:off x="0" y="0"/>
          <a:ext cx="0" cy="0"/>
          <a:chOff x="0" y="0"/>
          <a:chExt cx="0" cy="0"/>
        </a:xfrm>
      </p:grpSpPr>
      <p:sp>
        <p:nvSpPr>
          <p:cNvPr id="451" name="Google Shape;451;p30"/>
          <p:cNvSpPr/>
          <p:nvPr/>
        </p:nvSpPr>
        <p:spPr>
          <a:xfrm>
            <a:off x="368300" y="368300"/>
            <a:ext cx="11455400" cy="6134100"/>
          </a:xfrm>
          <a:prstGeom prst="roundRect">
            <a:avLst>
              <a:gd fmla="val 9110" name="adj"/>
            </a:avLst>
          </a:prstGeom>
          <a:solidFill>
            <a:srgbClr val="FFF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RIEEE logo" id="452" name="Google Shape;452;p30"/>
          <p:cNvPicPr preferRelativeResize="0"/>
          <p:nvPr/>
        </p:nvPicPr>
        <p:blipFill rotWithShape="1">
          <a:blip r:embed="rId3">
            <a:alphaModFix/>
          </a:blip>
          <a:srcRect b="0" l="-531" r="-531" t="0"/>
          <a:stretch/>
        </p:blipFill>
        <p:spPr>
          <a:xfrm>
            <a:off x="76200" y="50800"/>
            <a:ext cx="1244600" cy="317500"/>
          </a:xfrm>
          <a:prstGeom prst="rect">
            <a:avLst/>
          </a:prstGeom>
          <a:noFill/>
          <a:ln>
            <a:noFill/>
          </a:ln>
        </p:spPr>
      </p:pic>
      <p:pic>
        <p:nvPicPr>
          <p:cNvPr descr="line" id="453" name="Google Shape;453;p30"/>
          <p:cNvPicPr preferRelativeResize="0"/>
          <p:nvPr/>
        </p:nvPicPr>
        <p:blipFill rotWithShape="1">
          <a:blip r:embed="rId4">
            <a:alphaModFix/>
          </a:blip>
          <a:srcRect b="0" l="0" r="0" t="0"/>
          <a:stretch/>
        </p:blipFill>
        <p:spPr>
          <a:xfrm>
            <a:off x="1066800" y="1054100"/>
            <a:ext cx="10071100" cy="25400"/>
          </a:xfrm>
          <a:prstGeom prst="rect">
            <a:avLst/>
          </a:prstGeom>
          <a:noFill/>
          <a:ln>
            <a:noFill/>
          </a:ln>
        </p:spPr>
      </p:pic>
      <p:sp>
        <p:nvSpPr>
          <p:cNvPr id="454" name="Google Shape;454;p30"/>
          <p:cNvSpPr txBox="1"/>
          <p:nvPr>
            <p:ph type="title"/>
          </p:nvPr>
        </p:nvSpPr>
        <p:spPr>
          <a:xfrm>
            <a:off x="1028700" y="4064000"/>
            <a:ext cx="10464800" cy="878814"/>
          </a:xfrm>
          <a:prstGeom prst="rect">
            <a:avLst/>
          </a:prstGeom>
          <a:noFill/>
          <a:ln>
            <a:noFill/>
          </a:ln>
        </p:spPr>
        <p:txBody>
          <a:bodyPr anchorCtr="0" anchor="t" bIns="0" lIns="0" spcFirstLastPara="1" rIns="0" wrap="square" tIns="0">
            <a:normAutofit/>
          </a:bodyPr>
          <a:lstStyle/>
          <a:p>
            <a:pPr indent="0" lvl="0" marL="0" rtl="0" algn="l">
              <a:lnSpc>
                <a:spcPct val="104999"/>
              </a:lnSpc>
              <a:spcBef>
                <a:spcPts val="0"/>
              </a:spcBef>
              <a:spcAft>
                <a:spcPts val="0"/>
              </a:spcAft>
              <a:buClr>
                <a:srgbClr val="3C4043"/>
              </a:buClr>
              <a:buSzPts val="6400"/>
              <a:buFont typeface="Arial"/>
              <a:buNone/>
            </a:pPr>
            <a:r>
              <a:rPr b="0" i="0" lang="en-US" sz="6400">
                <a:solidFill>
                  <a:srgbClr val="3C4043"/>
                </a:solidFill>
                <a:latin typeface="Arial"/>
                <a:ea typeface="Arial"/>
                <a:cs typeface="Arial"/>
                <a:sym typeface="Arial"/>
              </a:rPr>
              <a:t>Questions?</a:t>
            </a:r>
            <a:endParaRPr sz="6400"/>
          </a:p>
        </p:txBody>
      </p:sp>
      <p:sp>
        <p:nvSpPr>
          <p:cNvPr id="455" name="Google Shape;455;p30"/>
          <p:cNvSpPr/>
          <p:nvPr/>
        </p:nvSpPr>
        <p:spPr>
          <a:xfrm>
            <a:off x="1066800" y="5080000"/>
            <a:ext cx="9810750" cy="381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4E52"/>
              </a:buClr>
              <a:buSzPts val="2000"/>
              <a:buFont typeface="Arial"/>
              <a:buNone/>
            </a:pPr>
            <a:r>
              <a:rPr b="0" i="0" lang="en-US" sz="2000" u="none" cap="none" strike="noStrike">
                <a:solidFill>
                  <a:srgbClr val="4A4E52"/>
                </a:solidFill>
                <a:latin typeface="Arial"/>
                <a:ea typeface="Arial"/>
                <a:cs typeface="Arial"/>
                <a:sym typeface="Arial"/>
              </a:rPr>
              <a:t>Next time: finite state machines</a:t>
            </a:r>
            <a:endParaRPr b="0" i="0" sz="2000" u="none" cap="none" strike="noStrike">
              <a:solidFill>
                <a:schemeClr val="dk1"/>
              </a:solidFill>
              <a:latin typeface="Arial"/>
              <a:ea typeface="Arial"/>
              <a:cs typeface="Arial"/>
              <a:sym typeface="Arial"/>
            </a:endParaRPr>
          </a:p>
        </p:txBody>
      </p:sp>
      <p:pic>
        <p:nvPicPr>
          <p:cNvPr descr="line" id="456" name="Google Shape;456;p30"/>
          <p:cNvPicPr preferRelativeResize="0"/>
          <p:nvPr/>
        </p:nvPicPr>
        <p:blipFill rotWithShape="1">
          <a:blip r:embed="rId4">
            <a:alphaModFix/>
          </a:blip>
          <a:srcRect b="0" l="0" r="0" t="0"/>
          <a:stretch/>
        </p:blipFill>
        <p:spPr>
          <a:xfrm>
            <a:off x="1066800" y="6019800"/>
            <a:ext cx="10071100" cy="254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Combinational vs Sequential Logic">
  <a:themeElements>
    <a:clrScheme name="Combinational vs Sequential Logic">
      <a:dk1>
        <a:srgbClr val="3C4043"/>
      </a:dk1>
      <a:lt1>
        <a:srgbClr val="FDF0DC"/>
      </a:lt1>
      <a:dk2>
        <a:srgbClr val="6C6C69"/>
      </a:dk2>
      <a:lt2>
        <a:srgbClr val="EADECD"/>
      </a:lt2>
      <a:accent1>
        <a:srgbClr val="B5462A"/>
      </a:accent1>
      <a:accent2>
        <a:srgbClr val="1B6F9E"/>
      </a:accent2>
      <a:accent3>
        <a:srgbClr val="A9C4D6"/>
      </a:accent3>
      <a:accent4>
        <a:srgbClr val="F0A58C"/>
      </a:accent4>
      <a:accent5>
        <a:srgbClr val="9AA0A6"/>
      </a:accent5>
      <a:accent6>
        <a:srgbClr val="898680"/>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ombinational vs Sequential Logic">
  <a:themeElements>
    <a:clrScheme name="Combinational vs Sequential Logic">
      <a:dk1>
        <a:srgbClr val="3C4043"/>
      </a:dk1>
      <a:lt1>
        <a:srgbClr val="FDF0DC"/>
      </a:lt1>
      <a:dk2>
        <a:srgbClr val="6C6C69"/>
      </a:dk2>
      <a:lt2>
        <a:srgbClr val="EADECD"/>
      </a:lt2>
      <a:accent1>
        <a:srgbClr val="B5462A"/>
      </a:accent1>
      <a:accent2>
        <a:srgbClr val="1B6F9E"/>
      </a:accent2>
      <a:accent3>
        <a:srgbClr val="A9C4D6"/>
      </a:accent3>
      <a:accent4>
        <a:srgbClr val="F0A58C"/>
      </a:accent4>
      <a:accent5>
        <a:srgbClr val="9AA0A6"/>
      </a:accent5>
      <a:accent6>
        <a:srgbClr val="898680"/>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